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sit in the third column: an integrity monitor, not a lockdown browser and not an automated proctor. The website is the shared exam; the agent only names the foreground program, and a person still decides.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record page and process events that a reviewer can read. We do not record face, voice, keystrokes, titles, URLs, screenshots, or file contents, and a second phone is outside this threat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gap is a paper result. Students reject the webcam, the browser cannot see the other app, commercial flags hide the rule, lockdown can be renamed around, and proctoring has not been shown to stop cheating.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pass conditions for the build. Detection rate, a reproducible score, a higher score only when the agent adds a name, and one exam shared by two students and one faculty device.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17320"/>
            <a:ext cx="2834640" cy="1270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60120"/>
            <a:ext cx="10058400" cy="320040"/>
          </a:xfrm>
          <a:prstGeom prst="rect">
            <a:avLst/>
          </a:prstGeom>
          <a:noFill/>
        </p:spPr>
        <p:txBody>
          <a:bodyPr wrap="square"/>
          <a:lstStyle/>
          <a:p>
            <a:pPr algn="l"/>
            <a:r>
              <a:rPr sz="1400" b="1" a:latin="Calibri">
                <a:solidFill>
                  <a:srgbClr val="B08968"/>
                </a:solidFill>
                <a:latin typeface="Calibri"/>
              </a:rPr>
              <a:t>BACSE291    ·    INNOVATIVE DESIGN PROJECT    ·    REVIEW I</a:t>
            </a:r>
          </a:p>
        </p:txBody>
      </p:sp>
      <p:sp>
        <p:nvSpPr>
          <p:cNvPr id="6" name="TextBox 5"/>
          <p:cNvSpPr txBox="1"/>
          <p:nvPr/>
        </p:nvSpPr>
        <p:spPr>
          <a:xfrm>
            <a:off x="640080" y="1645920"/>
            <a:ext cx="10789920" cy="1371600"/>
          </a:xfrm>
          <a:prstGeom prst="rect">
            <a:avLst/>
          </a:prstGeom>
          <a:noFill/>
        </p:spPr>
        <p:txBody>
          <a:bodyPr wrap="square"/>
          <a:lstStyle/>
          <a:p>
            <a:pPr algn="l"/>
            <a:r>
              <a:rPr sz="4000" b="1" a:latin="Georgia">
                <a:solidFill>
                  <a:srgbClr val="12263A"/>
                </a:solidFill>
                <a:latin typeface="Georgia"/>
              </a:rPr>
              <a:t>Privacy-bounded integrity
for online examinations</a:t>
            </a:r>
          </a:p>
        </p:txBody>
      </p:sp>
      <p:sp>
        <p:nvSpPr>
          <p:cNvPr id="7" name="TextBox 6"/>
          <p:cNvSpPr txBox="1"/>
          <p:nvPr/>
        </p:nvSpPr>
        <p:spPr>
          <a:xfrm>
            <a:off x="640080" y="3246120"/>
            <a:ext cx="10058400" cy="365760"/>
          </a:xfrm>
          <a:prstGeom prst="rect">
            <a:avLst/>
          </a:prstGeom>
          <a:noFill/>
        </p:spPr>
        <p:txBody>
          <a:bodyPr wrap="square"/>
          <a:lstStyle/>
          <a:p>
            <a:pPr algn="l"/>
            <a:r>
              <a:rPr sz="2200" b="0" a:latin="Calibri">
                <a:solidFill>
                  <a:srgbClr val="0F6E6B"/>
                </a:solidFill>
                <a:latin typeface="Calibri"/>
              </a:rPr>
              <a:t>Review I  —  literature and gap analysis</a:t>
            </a:r>
          </a:p>
        </p:txBody>
      </p:sp>
      <p:sp>
        <p:nvSpPr>
          <p:cNvPr id="8" name="TextBox 7"/>
          <p:cNvSpPr txBox="1"/>
          <p:nvPr/>
        </p:nvSpPr>
        <p:spPr>
          <a:xfrm>
            <a:off x="640080" y="3794760"/>
            <a:ext cx="10058400" cy="365760"/>
          </a:xfrm>
          <a:prstGeom prst="rect">
            <a:avLst/>
          </a:prstGeom>
          <a:noFill/>
        </p:spPr>
        <p:txBody>
          <a:bodyPr wrap="square"/>
          <a:lstStyle/>
          <a:p>
            <a:pPr algn="l"/>
            <a:r>
              <a:rPr sz="2000" b="0" a:latin="Calibri">
                <a:solidFill>
                  <a:srgbClr val="1C1917"/>
                </a:solidFill>
                <a:latin typeface="Calibri"/>
              </a:rPr>
              <a:t>A full examination website and a visible endpoint monitor.</a:t>
            </a:r>
          </a:p>
        </p:txBody>
      </p:sp>
      <p:sp>
        <p:nvSpPr>
          <p:cNvPr id="9" name="TextBox 8"/>
          <p:cNvSpPr txBox="1"/>
          <p:nvPr/>
        </p:nvSpPr>
        <p:spPr>
          <a:xfrm>
            <a:off x="640080" y="4709160"/>
            <a:ext cx="7315200" cy="1188720"/>
          </a:xfrm>
          <a:prstGeom prst="rect">
            <a:avLst/>
          </a:prstGeom>
          <a:noFill/>
        </p:spPr>
        <p:txBody>
          <a:bodyPr wrap="square"/>
          <a:lstStyle/>
          <a:p>
            <a:pPr algn="l"/>
            <a:r>
              <a:rPr sz="1800" b="0" a:latin="Calibri">
                <a:solidFill>
                  <a:srgbClr val="5C564E"/>
                </a:solidFill>
                <a:latin typeface="Calibri"/>
              </a:rPr>
              <a:t>Team
Guide
College</a:t>
            </a:r>
          </a:p>
        </p:txBody>
      </p:sp>
      <p:sp>
        <p:nvSpPr>
          <p:cNvPr id="10" name="TextBox 9"/>
          <p:cNvSpPr txBox="1"/>
          <p:nvPr/>
        </p:nvSpPr>
        <p:spPr>
          <a:xfrm>
            <a:off x="640080" y="6309360"/>
            <a:ext cx="7315200" cy="274320"/>
          </a:xfrm>
          <a:prstGeom prst="rect">
            <a:avLst/>
          </a:prstGeom>
          <a:noFill/>
        </p:spPr>
        <p:txBody>
          <a:bodyPr wrap="square"/>
          <a:lstStyle/>
          <a:p>
            <a:pPr algn="l"/>
            <a:r>
              <a:rPr sz="1200" b="0" a:latin="Calibri">
                <a:solidFill>
                  <a:srgbClr val="5C564E"/>
                </a:solidFill>
                <a:latin typeface="Calibri"/>
              </a:rPr>
              <a:t>Review I   ·   BACSE291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2</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The decision</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The decision this review supports</a:t>
            </a:r>
          </a:p>
        </p:txBody>
      </p:sp>
      <p:sp>
        <p:nvSpPr>
          <p:cNvPr id="9" name="TextBox 8"/>
          <p:cNvSpPr txBox="1"/>
          <p:nvPr/>
        </p:nvSpPr>
        <p:spPr>
          <a:xfrm>
            <a:off x="502920" y="1371600"/>
            <a:ext cx="10972800" cy="731520"/>
          </a:xfrm>
          <a:prstGeom prst="rect">
            <a:avLst/>
          </a:prstGeom>
          <a:noFill/>
        </p:spPr>
        <p:txBody>
          <a:bodyPr wrap="square"/>
          <a:lstStyle/>
          <a:p>
            <a:pPr algn="l"/>
            <a:r>
              <a:rPr sz="2200" b="0" a:latin="Georgia">
                <a:solidFill>
                  <a:srgbClr val="12263A"/>
                </a:solidFill>
                <a:latin typeface="Georgia"/>
              </a:rPr>
              <a:t>Colleges need integrity without turning the webcam into the default.</a:t>
            </a:r>
          </a:p>
        </p:txBody>
      </p:sp>
      <p:sp>
        <p:nvSpPr>
          <p:cNvPr id="10" name="TextBox 9"/>
          <p:cNvSpPr txBox="1"/>
          <p:nvPr/>
        </p:nvSpPr>
        <p:spPr>
          <a:xfrm>
            <a:off x="502920" y="2377440"/>
            <a:ext cx="10972800" cy="3474720"/>
          </a:xfrm>
          <a:prstGeom prst="rect">
            <a:avLst/>
          </a:prstGeom>
          <a:noFill/>
        </p:spPr>
        <p:txBody>
          <a:bodyPr wrap="square">
            <a:spAutoFit/>
          </a:bodyPr>
          <a:lstStyle/>
          <a:p>
            <a:pPr algn="l">
              <a:spcAft>
                <a:spcPts val="1600"/>
              </a:spcAft>
            </a:pPr>
            <a:r>
              <a:rPr sz="2200" b="0" a:latin="Calibri">
                <a:solidFill>
                  <a:srgbClr val="1C1917"/>
                </a:solidFill>
                <a:latin typeface="Calibri"/>
              </a:rPr>
              <a:t>One shared website. Faculty publish an exam. Students on other devices sit it.</a:t>
            </a:r>
          </a:p>
          <a:p>
            <a:pPr algn="l">
              <a:spcAft>
                <a:spcPts val="1600"/>
              </a:spcAft>
            </a:pPr>
            <a:r>
              <a:rPr sz="2200" b="0" a:latin="Calibri">
                <a:solidFill>
                  <a:srgbClr val="1C1917"/>
                </a:solidFill>
                <a:latin typeface="Calibri"/>
              </a:rPr>
              <a:t>Events are scored by a written policy. The same log always yields the same score.</a:t>
            </a:r>
          </a:p>
          <a:p>
            <a:pPr algn="l">
              <a:spcAft>
                <a:spcPts val="1600"/>
              </a:spcAft>
            </a:pPr>
            <a:r>
              <a:rPr sz="2200" b="0" a:latin="Calibri">
                <a:solidFill>
                  <a:srgbClr val="1C1917"/>
                </a:solidFill>
                <a:latin typeface="Calibri"/>
              </a:rPr>
              <a:t>A person chooses Flagged or Cleared. The system does not accuse.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3</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Domain</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Domain map</a:t>
            </a:r>
          </a:p>
        </p:txBody>
      </p:sp>
      <p:sp>
        <p:nvSpPr>
          <p:cNvPr id="9" name="TextBox 8"/>
          <p:cNvSpPr txBox="1"/>
          <p:nvPr/>
        </p:nvSpPr>
        <p:spPr>
          <a:xfrm>
            <a:off x="502920" y="1325880"/>
            <a:ext cx="10972800" cy="365760"/>
          </a:xfrm>
          <a:prstGeom prst="rect">
            <a:avLst/>
          </a:prstGeom>
          <a:noFill/>
        </p:spPr>
        <p:txBody>
          <a:bodyPr wrap="square"/>
          <a:lstStyle/>
          <a:p>
            <a:pPr algn="l"/>
            <a:r>
              <a:rPr sz="2000" b="1" a:latin="Calibri">
                <a:solidFill>
                  <a:srgbClr val="0F6E6B"/>
                </a:solidFill>
                <a:latin typeface="Calibri"/>
              </a:rPr>
              <a:t>Three approaches. This project is the third.</a:t>
            </a:r>
          </a:p>
        </p:txBody>
      </p:sp>
      <p:sp>
        <p:nvSpPr>
          <p:cNvPr id="10" name="Rectangle 9"/>
          <p:cNvSpPr/>
          <p:nvPr/>
        </p:nvSpPr>
        <p:spPr>
          <a:xfrm>
            <a:off x="502920" y="1965960"/>
            <a:ext cx="3611880" cy="3840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65960"/>
            <a:ext cx="3611880" cy="73152"/>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94560"/>
            <a:ext cx="3246120" cy="822960"/>
          </a:xfrm>
          <a:prstGeom prst="rect">
            <a:avLst/>
          </a:prstGeom>
          <a:noFill/>
        </p:spPr>
        <p:txBody>
          <a:bodyPr wrap="square"/>
          <a:lstStyle/>
          <a:p>
            <a:pPr algn="l"/>
            <a:r>
              <a:rPr sz="2000" b="1" a:latin="Georgia">
                <a:solidFill>
                  <a:srgbClr val="12263A"/>
                </a:solidFill>
                <a:latin typeface="Georgia"/>
              </a:rPr>
              <a:t>01   Lockdown browser</a:t>
            </a:r>
          </a:p>
        </p:txBody>
      </p:sp>
      <p:sp>
        <p:nvSpPr>
          <p:cNvPr id="13" name="TextBox 12"/>
          <p:cNvSpPr txBox="1"/>
          <p:nvPr/>
        </p:nvSpPr>
        <p:spPr>
          <a:xfrm>
            <a:off x="685800" y="3108960"/>
            <a:ext cx="3246120" cy="2377440"/>
          </a:xfrm>
          <a:prstGeom prst="rect">
            <a:avLst/>
          </a:prstGeom>
          <a:noFill/>
        </p:spPr>
        <p:txBody>
          <a:bodyPr wrap="square"/>
          <a:lstStyle/>
          <a:p>
            <a:pPr algn="l"/>
            <a:r>
              <a:rPr sz="1600" b="0" a:latin="Calibri">
                <a:solidFill>
                  <a:srgbClr val="1C1917"/>
                </a:solidFill>
                <a:latin typeface="Calibri"/>
              </a:rPr>
              <a:t>Safe Exam Browser, Respondus. The software locks the machine. It is privileged, and a renamed process can walk around the list.</a:t>
            </a:r>
          </a:p>
        </p:txBody>
      </p:sp>
      <p:sp>
        <p:nvSpPr>
          <p:cNvPr id="14" name="Rectangle 13"/>
          <p:cNvSpPr/>
          <p:nvPr/>
        </p:nvSpPr>
        <p:spPr>
          <a:xfrm>
            <a:off x="4297680" y="1965960"/>
            <a:ext cx="3611880" cy="3840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965960"/>
            <a:ext cx="3611880" cy="73152"/>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194560"/>
            <a:ext cx="3246120" cy="822960"/>
          </a:xfrm>
          <a:prstGeom prst="rect">
            <a:avLst/>
          </a:prstGeom>
          <a:noFill/>
        </p:spPr>
        <p:txBody>
          <a:bodyPr wrap="square"/>
          <a:lstStyle/>
          <a:p>
            <a:pPr algn="l"/>
            <a:r>
              <a:rPr sz="2000" b="1" a:latin="Georgia">
                <a:solidFill>
                  <a:srgbClr val="12263A"/>
                </a:solidFill>
                <a:latin typeface="Georgia"/>
              </a:rPr>
              <a:t>02   Automated proctor</a:t>
            </a:r>
          </a:p>
        </p:txBody>
      </p:sp>
      <p:sp>
        <p:nvSpPr>
          <p:cNvPr id="17" name="TextBox 16"/>
          <p:cNvSpPr txBox="1"/>
          <p:nvPr/>
        </p:nvSpPr>
        <p:spPr>
          <a:xfrm>
            <a:off x="4480560" y="3108960"/>
            <a:ext cx="3246120" cy="2377440"/>
          </a:xfrm>
          <a:prstGeom prst="rect">
            <a:avLst/>
          </a:prstGeom>
          <a:noFill/>
        </p:spPr>
        <p:txBody>
          <a:bodyPr wrap="square"/>
          <a:lstStyle/>
          <a:p>
            <a:pPr algn="l"/>
            <a:r>
              <a:rPr sz="1600" b="0" a:latin="Calibri">
                <a:solidFill>
                  <a:srgbClr val="1C1917"/>
                </a:solidFill>
                <a:latin typeface="Calibri"/>
              </a:rPr>
              <a:t>Webcam, gaze, voice, and screen. The body is the evidence. The flag is often a score without a published rule.</a:t>
            </a:r>
          </a:p>
        </p:txBody>
      </p:sp>
      <p:sp>
        <p:nvSpPr>
          <p:cNvPr id="18" name="Rectangle 17"/>
          <p:cNvSpPr/>
          <p:nvPr/>
        </p:nvSpPr>
        <p:spPr>
          <a:xfrm>
            <a:off x="8092440" y="1965960"/>
            <a:ext cx="3611880" cy="38404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965960"/>
            <a:ext cx="3611880"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194560"/>
            <a:ext cx="3246120" cy="822960"/>
          </a:xfrm>
          <a:prstGeom prst="rect">
            <a:avLst/>
          </a:prstGeom>
          <a:noFill/>
        </p:spPr>
        <p:txBody>
          <a:bodyPr wrap="square"/>
          <a:lstStyle/>
          <a:p>
            <a:pPr algn="l"/>
            <a:r>
              <a:rPr sz="2000" b="1" a:latin="Georgia">
                <a:solidFill>
                  <a:srgbClr val="12263A"/>
                </a:solidFill>
                <a:latin typeface="Georgia"/>
              </a:rPr>
              <a:t>03   Integrity monitor</a:t>
            </a:r>
          </a:p>
        </p:txBody>
      </p:sp>
      <p:sp>
        <p:nvSpPr>
          <p:cNvPr id="21" name="TextBox 20"/>
          <p:cNvSpPr txBox="1"/>
          <p:nvPr/>
        </p:nvSpPr>
        <p:spPr>
          <a:xfrm>
            <a:off x="8275320" y="3108960"/>
            <a:ext cx="3246120" cy="2377440"/>
          </a:xfrm>
          <a:prstGeom prst="rect">
            <a:avLst/>
          </a:prstGeom>
          <a:noFill/>
        </p:spPr>
        <p:txBody>
          <a:bodyPr wrap="square"/>
          <a:lstStyle/>
          <a:p>
            <a:pPr algn="l"/>
            <a:r>
              <a:rPr sz="1600" b="0" a:latin="Calibri">
                <a:solidFill>
                  <a:srgbClr val="1C1917"/>
                </a:solidFill>
                <a:latin typeface="Calibri"/>
              </a:rPr>
              <a:t>This project. A shared exam website, browser events, and a visible agent that reports an executable name. A reviewer decides.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4</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Terms</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Terms you will use out loud</a:t>
            </a:r>
          </a:p>
        </p:txBody>
      </p:sp>
      <p:sp>
        <p:nvSpPr>
          <p:cNvPr id="9" name="Rectangle 8"/>
          <p:cNvSpPr/>
          <p:nvPr/>
        </p:nvSpPr>
        <p:spPr>
          <a:xfrm>
            <a:off x="502920" y="137160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44752"/>
            <a:ext cx="10789920" cy="347472"/>
          </a:xfrm>
          <a:prstGeom prst="rect">
            <a:avLst/>
          </a:prstGeom>
          <a:noFill/>
        </p:spPr>
        <p:txBody>
          <a:bodyPr wrap="square"/>
          <a:lstStyle/>
          <a:p>
            <a:pPr algn="l"/>
            <a:r>
              <a:rPr sz="1800" b="1" a:latin="Georgia">
                <a:solidFill>
                  <a:srgbClr val="12263A"/>
                </a:solidFill>
                <a:latin typeface="Georgia"/>
              </a:rPr>
              <a:t>Credential is not identity.</a:t>
            </a:r>
          </a:p>
        </p:txBody>
      </p:sp>
      <p:sp>
        <p:nvSpPr>
          <p:cNvPr id="11" name="TextBox 10"/>
          <p:cNvSpPr txBox="1"/>
          <p:nvPr/>
        </p:nvSpPr>
        <p:spPr>
          <a:xfrm>
            <a:off x="685800" y="1792224"/>
            <a:ext cx="10789920" cy="365760"/>
          </a:xfrm>
          <a:prstGeom prst="rect">
            <a:avLst/>
          </a:prstGeom>
          <a:noFill/>
        </p:spPr>
        <p:txBody>
          <a:bodyPr wrap="square"/>
          <a:lstStyle/>
          <a:p>
            <a:pPr algn="l"/>
            <a:r>
              <a:rPr sz="1600" b="0" a:latin="Calibri">
                <a:solidFill>
                  <a:srgbClr val="1C1917"/>
                </a:solidFill>
                <a:latin typeface="Calibri"/>
              </a:rPr>
              <a:t>A login proves an account. It does not prove a face.</a:t>
            </a:r>
          </a:p>
        </p:txBody>
      </p:sp>
      <p:sp>
        <p:nvSpPr>
          <p:cNvPr id="12" name="Rectangle 11"/>
          <p:cNvSpPr/>
          <p:nvPr/>
        </p:nvSpPr>
        <p:spPr>
          <a:xfrm>
            <a:off x="502920" y="233172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04872"/>
            <a:ext cx="10789920" cy="347472"/>
          </a:xfrm>
          <a:prstGeom prst="rect">
            <a:avLst/>
          </a:prstGeom>
          <a:noFill/>
        </p:spPr>
        <p:txBody>
          <a:bodyPr wrap="square"/>
          <a:lstStyle/>
          <a:p>
            <a:pPr algn="l"/>
            <a:r>
              <a:rPr sz="1800" b="1" a:latin="Georgia">
                <a:solidFill>
                  <a:srgbClr val="12263A"/>
                </a:solidFill>
                <a:latin typeface="Georgia"/>
              </a:rPr>
              <a:t>Enforce versus allow-but-log.</a:t>
            </a:r>
          </a:p>
        </p:txBody>
      </p:sp>
      <p:sp>
        <p:nvSpPr>
          <p:cNvPr id="14" name="TextBox 13"/>
          <p:cNvSpPr txBox="1"/>
          <p:nvPr/>
        </p:nvSpPr>
        <p:spPr>
          <a:xfrm>
            <a:off x="685800" y="2752344"/>
            <a:ext cx="10789920" cy="365760"/>
          </a:xfrm>
          <a:prstGeom prst="rect">
            <a:avLst/>
          </a:prstGeom>
          <a:noFill/>
        </p:spPr>
        <p:txBody>
          <a:bodyPr wrap="square"/>
          <a:lstStyle/>
          <a:p>
            <a:pPr algn="l"/>
            <a:r>
              <a:rPr sz="1600" b="0" a:latin="Calibri">
                <a:solidFill>
                  <a:srgbClr val="1C1917"/>
                </a:solidFill>
                <a:latin typeface="Calibri"/>
              </a:rPr>
              <a:t>We record the event. We do not kill the other program.</a:t>
            </a:r>
          </a:p>
        </p:txBody>
      </p:sp>
      <p:sp>
        <p:nvSpPr>
          <p:cNvPr id="15" name="Rectangle 14"/>
          <p:cNvSpPr/>
          <p:nvPr/>
        </p:nvSpPr>
        <p:spPr>
          <a:xfrm>
            <a:off x="502920" y="329184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64992"/>
            <a:ext cx="10789920" cy="347472"/>
          </a:xfrm>
          <a:prstGeom prst="rect">
            <a:avLst/>
          </a:prstGeom>
          <a:noFill/>
        </p:spPr>
        <p:txBody>
          <a:bodyPr wrap="square"/>
          <a:lstStyle/>
          <a:p>
            <a:pPr algn="l"/>
            <a:r>
              <a:rPr sz="1800" b="1" a:latin="Georgia">
                <a:solidFill>
                  <a:srgbClr val="12263A"/>
                </a:solidFill>
                <a:latin typeface="Georgia"/>
              </a:rPr>
              <a:t>Browser signal versus endpoint signal.</a:t>
            </a:r>
          </a:p>
        </p:txBody>
      </p:sp>
      <p:sp>
        <p:nvSpPr>
          <p:cNvPr id="17" name="TextBox 16"/>
          <p:cNvSpPr txBox="1"/>
          <p:nvPr/>
        </p:nvSpPr>
        <p:spPr>
          <a:xfrm>
            <a:off x="685800" y="3712464"/>
            <a:ext cx="10789920" cy="365760"/>
          </a:xfrm>
          <a:prstGeom prst="rect">
            <a:avLst/>
          </a:prstGeom>
          <a:noFill/>
        </p:spPr>
        <p:txBody>
          <a:bodyPr wrap="square"/>
          <a:lstStyle/>
          <a:p>
            <a:pPr algn="l"/>
            <a:r>
              <a:rPr sz="1600" b="0" a:latin="Calibri">
                <a:solidFill>
                  <a:srgbClr val="1C1917"/>
                </a:solidFill>
                <a:latin typeface="Calibri"/>
              </a:rPr>
              <a:t>The page can see focus. Only the agent can name the executable.</a:t>
            </a:r>
          </a:p>
        </p:txBody>
      </p:sp>
      <p:sp>
        <p:nvSpPr>
          <p:cNvPr id="18" name="Rectangle 17"/>
          <p:cNvSpPr/>
          <p:nvPr/>
        </p:nvSpPr>
        <p:spPr>
          <a:xfrm>
            <a:off x="502920" y="425196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25112"/>
            <a:ext cx="10789920" cy="347472"/>
          </a:xfrm>
          <a:prstGeom prst="rect">
            <a:avLst/>
          </a:prstGeom>
          <a:noFill/>
        </p:spPr>
        <p:txBody>
          <a:bodyPr wrap="square"/>
          <a:lstStyle/>
          <a:p>
            <a:pPr algn="l"/>
            <a:r>
              <a:rPr sz="1800" b="1" a:latin="Georgia">
                <a:solidFill>
                  <a:srgbClr val="12263A"/>
                </a:solidFill>
                <a:latin typeface="Georgia"/>
              </a:rPr>
              <a:t>Risk score versus reviewer decision.</a:t>
            </a:r>
          </a:p>
        </p:txBody>
      </p:sp>
      <p:sp>
        <p:nvSpPr>
          <p:cNvPr id="20" name="TextBox 19"/>
          <p:cNvSpPr txBox="1"/>
          <p:nvPr/>
        </p:nvSpPr>
        <p:spPr>
          <a:xfrm>
            <a:off x="685800" y="4672584"/>
            <a:ext cx="10789920" cy="365760"/>
          </a:xfrm>
          <a:prstGeom prst="rect">
            <a:avLst/>
          </a:prstGeom>
          <a:noFill/>
        </p:spPr>
        <p:txBody>
          <a:bodyPr wrap="square"/>
          <a:lstStyle/>
          <a:p>
            <a:pPr algn="l"/>
            <a:r>
              <a:rPr sz="1600" b="0" a:latin="Calibri">
                <a:solidFill>
                  <a:srgbClr val="1C1917"/>
                </a:solidFill>
                <a:latin typeface="Calibri"/>
              </a:rPr>
              <a:t>Low, Medium, or High is a rule. Flagged or Cleared is a person.</a:t>
            </a:r>
          </a:p>
        </p:txBody>
      </p:sp>
      <p:sp>
        <p:nvSpPr>
          <p:cNvPr id="21" name="Rectangle 20"/>
          <p:cNvSpPr/>
          <p:nvPr/>
        </p:nvSpPr>
        <p:spPr>
          <a:xfrm>
            <a:off x="502920" y="5212080"/>
            <a:ext cx="11155680" cy="868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85232"/>
            <a:ext cx="10789920" cy="347472"/>
          </a:xfrm>
          <a:prstGeom prst="rect">
            <a:avLst/>
          </a:prstGeom>
          <a:noFill/>
        </p:spPr>
        <p:txBody>
          <a:bodyPr wrap="square"/>
          <a:lstStyle/>
          <a:p>
            <a:pPr algn="l"/>
            <a:r>
              <a:rPr sz="1800" b="1" a:latin="Georgia">
                <a:solidFill>
                  <a:srgbClr val="12263A"/>
                </a:solidFill>
                <a:latin typeface="Georgia"/>
              </a:rPr>
              <a:t>Data minimization.</a:t>
            </a:r>
          </a:p>
        </p:txBody>
      </p:sp>
      <p:sp>
        <p:nvSpPr>
          <p:cNvPr id="23" name="TextBox 22"/>
          <p:cNvSpPr txBox="1"/>
          <p:nvPr/>
        </p:nvSpPr>
        <p:spPr>
          <a:xfrm>
            <a:off x="685800" y="5632704"/>
            <a:ext cx="10789920" cy="365760"/>
          </a:xfrm>
          <a:prstGeom prst="rect">
            <a:avLst/>
          </a:prstGeom>
          <a:noFill/>
        </p:spPr>
        <p:txBody>
          <a:bodyPr wrap="square"/>
          <a:lstStyle/>
          <a:p>
            <a:pPr algn="l"/>
            <a:r>
              <a:rPr sz="1600" b="0" a:latin="Calibri">
                <a:solidFill>
                  <a:srgbClr val="1C1917"/>
                </a:solidFill>
                <a:latin typeface="Calibri"/>
              </a:rPr>
              <a:t>If the review does not need it, the system does not collect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5</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Threat model</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Threat model</a:t>
            </a:r>
          </a:p>
        </p:txBody>
      </p:sp>
      <p:sp>
        <p:nvSpPr>
          <p:cNvPr id="9" name="Rectangle 8"/>
          <p:cNvSpPr/>
          <p:nvPr/>
        </p:nvSpPr>
        <p:spPr>
          <a:xfrm>
            <a:off x="502920" y="1417320"/>
            <a:ext cx="5486400" cy="4297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417320"/>
            <a:ext cx="5486400" cy="429768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417320"/>
            <a:ext cx="5486400"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17320"/>
            <a:ext cx="5486400" cy="73152"/>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600200"/>
            <a:ext cx="5120640" cy="365760"/>
          </a:xfrm>
          <a:prstGeom prst="rect">
            <a:avLst/>
          </a:prstGeom>
          <a:noFill/>
        </p:spPr>
        <p:txBody>
          <a:bodyPr wrap="square"/>
          <a:lstStyle/>
          <a:p>
            <a:pPr algn="l"/>
            <a:r>
              <a:rPr sz="2200" b="1" a:latin="Georgia">
                <a:solidFill>
                  <a:srgbClr val="0F6E6B"/>
                </a:solidFill>
                <a:latin typeface="Georgia"/>
              </a:rPr>
              <a:t>Will record</a:t>
            </a:r>
          </a:p>
        </p:txBody>
      </p:sp>
      <p:sp>
        <p:nvSpPr>
          <p:cNvPr id="14" name="TextBox 13"/>
          <p:cNvSpPr txBox="1"/>
          <p:nvPr/>
        </p:nvSpPr>
        <p:spPr>
          <a:xfrm>
            <a:off x="6355080" y="1600200"/>
            <a:ext cx="5120640" cy="365760"/>
          </a:xfrm>
          <a:prstGeom prst="rect">
            <a:avLst/>
          </a:prstGeom>
          <a:noFill/>
        </p:spPr>
        <p:txBody>
          <a:bodyPr wrap="square"/>
          <a:lstStyle/>
          <a:p>
            <a:pPr algn="l"/>
            <a:r>
              <a:rPr sz="2200" b="1" a:latin="Georgia">
                <a:solidFill>
                  <a:srgbClr val="C45C26"/>
                </a:solidFill>
                <a:latin typeface="Georgia"/>
              </a:rPr>
              <a:t>Will not record</a:t>
            </a:r>
          </a:p>
        </p:txBody>
      </p:sp>
      <p:sp>
        <p:nvSpPr>
          <p:cNvPr id="15" name="TextBox 14"/>
          <p:cNvSpPr txBox="1"/>
          <p:nvPr/>
        </p:nvSpPr>
        <p:spPr>
          <a:xfrm>
            <a:off x="685800" y="2103120"/>
            <a:ext cx="5120640" cy="3291840"/>
          </a:xfrm>
          <a:prstGeom prst="rect">
            <a:avLst/>
          </a:prstGeom>
          <a:noFill/>
        </p:spPr>
        <p:txBody>
          <a:bodyPr wrap="square">
            <a:spAutoFit/>
          </a:bodyPr>
          <a:lstStyle/>
          <a:p>
            <a:pPr algn="l">
              <a:spcAft>
                <a:spcPts val="600"/>
              </a:spcAft>
            </a:pPr>
            <a:r>
              <a:rPr sz="1800" b="0" a:latin="Calibri">
                <a:solidFill>
                  <a:srgbClr val="1C1917"/>
                </a:solidFill>
                <a:latin typeface="Calibri"/>
              </a:rPr>
              <a:t>Tab hide, focus, fullscreen</a:t>
            </a:r>
          </a:p>
          <a:p>
            <a:pPr algn="l">
              <a:spcAft>
                <a:spcPts val="600"/>
              </a:spcAft>
            </a:pPr>
            <a:r>
              <a:rPr sz="1800" b="0" a:latin="Calibri">
                <a:solidFill>
                  <a:srgbClr val="1C1917"/>
                </a:solidFill>
                <a:latin typeface="Calibri"/>
              </a:rPr>
              <a:t>Clipboard</a:t>
            </a:r>
          </a:p>
          <a:p>
            <a:pPr algn="l">
              <a:spcAft>
                <a:spcPts val="600"/>
              </a:spcAft>
            </a:pPr>
            <a:r>
              <a:rPr sz="1800" b="0" a:latin="Calibri">
                <a:solidFill>
                  <a:srgbClr val="1C1917"/>
                </a:solidFill>
                <a:latin typeface="Calibri"/>
              </a:rPr>
              <a:t>DevTools heuristic</a:t>
            </a:r>
          </a:p>
          <a:p>
            <a:pPr algn="l">
              <a:spcAft>
                <a:spcPts val="600"/>
              </a:spcAft>
            </a:pPr>
            <a:r>
              <a:rPr sz="1800" b="0" a:latin="Calibri">
                <a:solidFill>
                  <a:srgbClr val="1C1917"/>
                </a:solidFill>
                <a:latin typeface="Calibri"/>
              </a:rPr>
              <a:t>Foreground executable name</a:t>
            </a:r>
          </a:p>
          <a:p>
            <a:pPr algn="l">
              <a:spcAft>
                <a:spcPts val="600"/>
              </a:spcAft>
            </a:pPr>
            <a:r>
              <a:rPr sz="1800" b="0" a:latin="Calibri">
                <a:solidFill>
                  <a:srgbClr val="1C1917"/>
                </a:solidFill>
                <a:latin typeface="Calibri"/>
              </a:rPr>
              <a:t>Display count</a:t>
            </a:r>
          </a:p>
          <a:p>
            <a:pPr algn="l">
              <a:spcAft>
                <a:spcPts val="600"/>
              </a:spcAft>
            </a:pPr>
            <a:r>
              <a:rPr sz="1800" b="0" a:latin="Calibri">
                <a:solidFill>
                  <a:srgbClr val="1C1917"/>
                </a:solidFill>
                <a:latin typeface="Calibri"/>
              </a:rPr>
              <a:t>Network up or down</a:t>
            </a:r>
          </a:p>
        </p:txBody>
      </p:sp>
      <p:sp>
        <p:nvSpPr>
          <p:cNvPr id="16" name="TextBox 15"/>
          <p:cNvSpPr txBox="1"/>
          <p:nvPr/>
        </p:nvSpPr>
        <p:spPr>
          <a:xfrm>
            <a:off x="6355080" y="2103120"/>
            <a:ext cx="5120640" cy="3291840"/>
          </a:xfrm>
          <a:prstGeom prst="rect">
            <a:avLst/>
          </a:prstGeom>
          <a:noFill/>
        </p:spPr>
        <p:txBody>
          <a:bodyPr wrap="square">
            <a:spAutoFit/>
          </a:bodyPr>
          <a:lstStyle/>
          <a:p>
            <a:pPr algn="l">
              <a:spcAft>
                <a:spcPts val="600"/>
              </a:spcAft>
            </a:pPr>
            <a:r>
              <a:rPr sz="1800" b="0" a:latin="Calibri">
                <a:solidFill>
                  <a:srgbClr val="1C1917"/>
                </a:solidFill>
                <a:latin typeface="Calibri"/>
              </a:rPr>
              <a:t>Face, voice, keystrokes</a:t>
            </a:r>
          </a:p>
          <a:p>
            <a:pPr algn="l">
              <a:spcAft>
                <a:spcPts val="600"/>
              </a:spcAft>
            </a:pPr>
            <a:r>
              <a:rPr sz="1800" b="0" a:latin="Calibri">
                <a:solidFill>
                  <a:srgbClr val="1C1917"/>
                </a:solidFill>
                <a:latin typeface="Calibri"/>
              </a:rPr>
              <a:t>Window titles</a:t>
            </a:r>
          </a:p>
          <a:p>
            <a:pPr algn="l">
              <a:spcAft>
                <a:spcPts val="600"/>
              </a:spcAft>
            </a:pPr>
            <a:r>
              <a:rPr sz="1800" b="0" a:latin="Calibri">
                <a:solidFill>
                  <a:srgbClr val="1C1917"/>
                </a:solidFill>
                <a:latin typeface="Calibri"/>
              </a:rPr>
              <a:t>URLs</a:t>
            </a:r>
          </a:p>
          <a:p>
            <a:pPr algn="l">
              <a:spcAft>
                <a:spcPts val="600"/>
              </a:spcAft>
            </a:pPr>
            <a:r>
              <a:rPr sz="1800" b="0" a:latin="Calibri">
                <a:solidFill>
                  <a:srgbClr val="1C1917"/>
                </a:solidFill>
                <a:latin typeface="Calibri"/>
              </a:rPr>
              <a:t>Screenshots</a:t>
            </a:r>
          </a:p>
          <a:p>
            <a:pPr algn="l">
              <a:spcAft>
                <a:spcPts val="600"/>
              </a:spcAft>
            </a:pPr>
            <a:r>
              <a:rPr sz="1800" b="0" a:latin="Calibri">
                <a:solidFill>
                  <a:srgbClr val="1C1917"/>
                </a:solidFill>
                <a:latin typeface="Calibri"/>
              </a:rPr>
              <a:t>File contents</a:t>
            </a:r>
          </a:p>
          <a:p>
            <a:pPr algn="l">
              <a:spcAft>
                <a:spcPts val="600"/>
              </a:spcAft>
            </a:pPr>
            <a:r>
              <a:rPr sz="1800" b="0" a:latin="Calibri">
                <a:solidFill>
                  <a:srgbClr val="1C1917"/>
                </a:solidFill>
                <a:latin typeface="Calibri"/>
              </a:rPr>
              <a:t>A second phone — out of scope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6</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Method</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How the literature was read</a:t>
            </a:r>
          </a:p>
        </p:txBody>
      </p:sp>
      <p:sp>
        <p:nvSpPr>
          <p:cNvPr id="9" name="TextBox 8"/>
          <p:cNvSpPr txBox="1"/>
          <p:nvPr/>
        </p:nvSpPr>
        <p:spPr>
          <a:xfrm>
            <a:off x="502920" y="1417320"/>
            <a:ext cx="11155680" cy="4389120"/>
          </a:xfrm>
          <a:prstGeom prst="rect">
            <a:avLst/>
          </a:prstGeom>
          <a:noFill/>
        </p:spPr>
        <p:txBody>
          <a:bodyPr wrap="square">
            <a:spAutoFit/>
          </a:bodyPr>
          <a:lstStyle/>
          <a:p>
            <a:pPr algn="l">
              <a:spcAft>
                <a:spcPts val="1000"/>
              </a:spcAft>
            </a:pPr>
            <a:r>
              <a:rPr sz="2000" b="0" a:latin="Calibri">
                <a:solidFill>
                  <a:srgbClr val="1C1917"/>
                </a:solidFill>
                <a:latin typeface="Calibri"/>
              </a:rPr>
              <a:t>Inclusion: peer-reviewed journal or full conference paper; English; online exams, proctoring, lockdown browsers, or generative-AI cheating.</a:t>
            </a:r>
          </a:p>
          <a:p>
            <a:pPr algn="l">
              <a:spcAft>
                <a:spcPts val="1000"/>
              </a:spcAft>
            </a:pPr>
            <a:r>
              <a:rPr sz="2000" b="0" a:latin="Calibri">
                <a:solidFill>
                  <a:srgbClr val="1C1917"/>
                </a:solidFill>
                <a:latin typeface="Calibri"/>
              </a:rPr>
              <a:t>52 papers. 38 are from 2021–2026, which is 73 percent. The bar in the brief is 70 percent.</a:t>
            </a:r>
          </a:p>
          <a:p>
            <a:pPr algn="l">
              <a:spcAft>
                <a:spcPts val="1000"/>
              </a:spcAft>
            </a:pPr>
            <a:r>
              <a:rPr sz="2000" b="0" a:latin="Calibri">
                <a:solidFill>
                  <a:srgbClr val="1C1917"/>
                </a:solidFill>
                <a:latin typeface="Calibri"/>
              </a:rPr>
              <a:t>14 papers from before 2021 are labeled foundational. The cap is 15.</a:t>
            </a:r>
          </a:p>
          <a:p>
            <a:pPr algn="l">
              <a:spcAft>
                <a:spcPts val="1000"/>
              </a:spcAft>
            </a:pPr>
            <a:r>
              <a:rPr sz="2000" b="0" a:latin="Calibri">
                <a:solidFill>
                  <a:srgbClr val="1C1917"/>
                </a:solidFill>
                <a:latin typeface="Calibri"/>
              </a:rPr>
              <a:t>Each row has five columns: author and year, method, dataset or testbed, key parameters, limitation.</a:t>
            </a:r>
          </a:p>
          <a:p>
            <a:pPr algn="l">
              <a:spcAft>
                <a:spcPts val="1000"/>
              </a:spcAft>
            </a:pPr>
            <a:r>
              <a:rPr sz="2000" b="0" a:latin="Calibri">
                <a:solidFill>
                  <a:srgbClr val="1C1917"/>
                </a:solidFill>
                <a:latin typeface="Calibri"/>
              </a:rPr>
              <a:t>Theses, arXiv-only preprints, blogs, and vendor pages are not in the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7</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Clusters</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Six clusters, not 52 summaries</a:t>
            </a:r>
          </a:p>
        </p:txBody>
      </p:sp>
      <p:sp>
        <p:nvSpPr>
          <p:cNvPr id="9" name="TextBox 8"/>
          <p:cNvSpPr txBox="1"/>
          <p:nvPr/>
        </p:nvSpPr>
        <p:spPr>
          <a:xfrm>
            <a:off x="502920" y="1417320"/>
            <a:ext cx="11155680" cy="4754880"/>
          </a:xfrm>
          <a:prstGeom prst="rect">
            <a:avLst/>
          </a:prstGeom>
          <a:noFill/>
        </p:spPr>
        <p:txBody>
          <a:bodyPr wrap="square">
            <a:spAutoFit/>
          </a:bodyPr>
          <a:lstStyle/>
          <a:p>
            <a:pPr algn="l">
              <a:spcAft>
                <a:spcPts val="800"/>
              </a:spcAft>
            </a:pPr>
            <a:r>
              <a:rPr sz="2000" b="0" a:latin="Calibri">
                <a:solidFill>
                  <a:srgbClr val="1C1917"/>
                </a:solidFill>
                <a:latin typeface="Calibri"/>
              </a:rPr>
              <a:t>1   Surveys of proctoring. They map tools. They do not publish a scoring rule.</a:t>
            </a:r>
          </a:p>
          <a:p>
            <a:pPr algn="l">
              <a:spcAft>
                <a:spcPts val="800"/>
              </a:spcAft>
            </a:pPr>
            <a:r>
              <a:rPr sz="2000" b="0" a:latin="Calibri">
                <a:solidFill>
                  <a:srgbClr val="1C1917"/>
                </a:solidFill>
                <a:latin typeface="Calibri"/>
              </a:rPr>
              <a:t>2   Lockdown browsers. They restrict the machine. A renamed process walks around the list.</a:t>
            </a:r>
          </a:p>
          <a:p>
            <a:pPr algn="l">
              <a:spcAft>
                <a:spcPts val="800"/>
              </a:spcAft>
            </a:pPr>
            <a:r>
              <a:rPr sz="2000" b="0" a:latin="Calibri">
                <a:solidFill>
                  <a:srgbClr val="1C1917"/>
                </a:solidFill>
                <a:latin typeface="Calibri"/>
              </a:rPr>
              <a:t>3   Browser-only signals. They know the page was left. They do not know which program opened.</a:t>
            </a:r>
          </a:p>
          <a:p>
            <a:pPr algn="l">
              <a:spcAft>
                <a:spcPts val="800"/>
              </a:spcAft>
            </a:pPr>
            <a:r>
              <a:rPr sz="2000" b="0" a:latin="Calibri">
                <a:solidFill>
                  <a:srgbClr val="1C1917"/>
                </a:solidFill>
                <a:latin typeface="Calibri"/>
              </a:rPr>
              <a:t>4   Webcam and AI proctors. The cue is the body. The flag is often unexplained.</a:t>
            </a:r>
          </a:p>
          <a:p>
            <a:pPr algn="l">
              <a:spcAft>
                <a:spcPts val="800"/>
              </a:spcAft>
            </a:pPr>
            <a:r>
              <a:rPr sz="2000" b="0" a:latin="Calibri">
                <a:solidFill>
                  <a:srgbClr val="1C1917"/>
                </a:solidFill>
                <a:latin typeface="Calibri"/>
              </a:rPr>
              <a:t>5   Privacy and ethics. Students treat the webcam as a breach. The papers stop at the critique.</a:t>
            </a:r>
          </a:p>
          <a:p>
            <a:pPr algn="l">
              <a:spcAft>
                <a:spcPts val="800"/>
              </a:spcAft>
            </a:pPr>
            <a:r>
              <a:rPr sz="2000" b="0" a:latin="Calibri">
                <a:solidFill>
                  <a:srgbClr val="1C1917"/>
                </a:solidFill>
                <a:latin typeface="Calibri"/>
              </a:rPr>
              <a:t>6   Generative AI and answer patterns. Detectors miss scripts. A score jump is not a person.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8</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Comparison</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Comparison, spoken version</a:t>
            </a:r>
          </a:p>
        </p:txBody>
      </p:sp>
      <p:sp>
        <p:nvSpPr>
          <p:cNvPr id="9" name="TextBox 8"/>
          <p:cNvSpPr txBox="1"/>
          <p:nvPr/>
        </p:nvSpPr>
        <p:spPr>
          <a:xfrm>
            <a:off x="502920" y="1280160"/>
            <a:ext cx="10972800" cy="320040"/>
          </a:xfrm>
          <a:prstGeom prst="rect">
            <a:avLst/>
          </a:prstGeom>
          <a:noFill/>
        </p:spPr>
        <p:txBody>
          <a:bodyPr wrap="square"/>
          <a:lstStyle/>
          <a:p>
            <a:pPr algn="l"/>
            <a:r>
              <a:rPr sz="1600" b="0" a:latin="Calibri">
                <a:solidFill>
                  <a:srgbClr val="5C564E"/>
                </a:solidFill>
                <a:latin typeface="Calibri"/>
              </a:rPr>
              <a:t>One row from each of clusters 3 to 6. The full table is Appendix A.</a:t>
            </a:r>
          </a:p>
        </p:txBody>
      </p:sp>
      <p:graphicFrame>
        <p:nvGraphicFramePr>
          <p:cNvPr id="10" name="Table 9"/>
          <p:cNvGraphicFramePr>
            <a:graphicFrameLocks noGrp="1"/>
          </p:cNvGraphicFramePr>
          <p:nvPr/>
        </p:nvGraphicFramePr>
        <p:xfrm>
          <a:off x="457200" y="1783080"/>
          <a:ext cx="11247120" cy="4206240"/>
        </p:xfrm>
        <a:graphic>
          <a:graphicData uri="http://schemas.openxmlformats.org/drawingml/2006/table">
            <a:tbl>
              <a:tblPr firstRow="1" bandRow="1">
                <a:tableStyleId>{5C22544A-7EE6-4342-B048-85BDC9FD1C3A}</a:tableStyleId>
              </a:tblPr>
              <a:tblGrid>
                <a:gridCol w="2811780"/>
                <a:gridCol w="2811780"/>
                <a:gridCol w="2811780"/>
                <a:gridCol w="2811780"/>
              </a:tblGrid>
              <a:tr h="841248">
                <a:tc>
                  <a:txBody>
                    <a:bodyPr wrap="square"/>
                    <a:lstStyle/>
                    <a:p>
                      <a:r>
                        <a:rPr sz="1400" b="1" a:latin="Calibri">
                          <a:solidFill>
                            <a:srgbClr val="FFFFFF"/>
                          </a:solidFill>
                          <a:latin typeface="Calibri"/>
                        </a:rPr>
                        <a:t>Author, year</a:t>
                      </a:r>
                    </a:p>
                  </a:txBody>
                  <a:tcPr anchor="t" marL="54864" marR="54864" marT="36576">
                    <a:solidFill>
                      <a:srgbClr val="12263A"/>
                    </a:solidFill>
                  </a:tcPr>
                </a:tc>
                <a:tc>
                  <a:txBody>
                    <a:bodyPr wrap="square"/>
                    <a:lstStyle/>
                    <a:p>
                      <a:r>
                        <a:rPr sz="1400" b="1" a:latin="Calibri">
                          <a:solidFill>
                            <a:srgbClr val="FFFFFF"/>
                          </a:solidFill>
                          <a:latin typeface="Calibri"/>
                        </a:rPr>
                        <a:t>Method</a:t>
                      </a:r>
                    </a:p>
                  </a:txBody>
                  <a:tcPr anchor="t" marL="54864" marR="54864" marT="36576">
                    <a:solidFill>
                      <a:srgbClr val="12263A"/>
                    </a:solidFill>
                  </a:tcPr>
                </a:tc>
                <a:tc>
                  <a:txBody>
                    <a:bodyPr wrap="square"/>
                    <a:lstStyle/>
                    <a:p>
                      <a:r>
                        <a:rPr sz="1400" b="1" a:latin="Calibri">
                          <a:solidFill>
                            <a:srgbClr val="FFFFFF"/>
                          </a:solidFill>
                          <a:latin typeface="Calibri"/>
                        </a:rPr>
                        <a:t>Testbed</a:t>
                      </a:r>
                    </a:p>
                  </a:txBody>
                  <a:tcPr anchor="t" marL="54864" marR="54864" marT="36576">
                    <a:solidFill>
                      <a:srgbClr val="12263A"/>
                    </a:solidFill>
                  </a:tcPr>
                </a:tc>
                <a:tc>
                  <a:txBody>
                    <a:bodyPr wrap="square"/>
                    <a:lstStyle/>
                    <a:p>
                      <a:r>
                        <a:rPr sz="1400" b="1" a:latin="Calibri">
                          <a:solidFill>
                            <a:srgbClr val="FFFFFF"/>
                          </a:solidFill>
                          <a:latin typeface="Calibri"/>
                        </a:rPr>
                        <a:t>Limitation</a:t>
                      </a:r>
                    </a:p>
                  </a:txBody>
                  <a:tcPr anchor="t" marL="54864" marR="54864" marT="36576">
                    <a:solidFill>
                      <a:srgbClr val="12263A"/>
                    </a:solidFill>
                  </a:tcPr>
                </a:tc>
              </a:tr>
              <a:tr h="841248">
                <a:tc>
                  <a:txBody>
                    <a:bodyPr wrap="square"/>
                    <a:lstStyle/>
                    <a:p>
                      <a:r>
                        <a:rPr sz="1400" b="0" a:latin="Calibri">
                          <a:solidFill>
                            <a:srgbClr val="1C1917"/>
                          </a:solidFill>
                          <a:latin typeface="Calibri"/>
                        </a:rPr>
                        <a:t>Diedenhofen and Musch, 2016</a:t>
                      </a:r>
                    </a:p>
                  </a:txBody>
                  <a:tcPr anchor="t" marL="54864" marR="54864" marT="36576">
                    <a:solidFill>
                      <a:srgbClr val="FFFCF7"/>
                    </a:solidFill>
                  </a:tcPr>
                </a:tc>
                <a:tc>
                  <a:txBody>
                    <a:bodyPr wrap="square"/>
                    <a:lstStyle/>
                    <a:p>
                      <a:r>
                        <a:rPr sz="1400" b="0" a:latin="Calibri">
                          <a:solidFill>
                            <a:srgbClr val="1C1917"/>
                          </a:solidFill>
                          <a:latin typeface="Calibri"/>
                        </a:rPr>
                        <a:t>Page-focus script</a:t>
                      </a:r>
                    </a:p>
                  </a:txBody>
                  <a:tcPr anchor="t" marL="54864" marR="54864" marT="36576">
                    <a:solidFill>
                      <a:srgbClr val="FFFCF7"/>
                    </a:solidFill>
                  </a:tcPr>
                </a:tc>
                <a:tc>
                  <a:txBody>
                    <a:bodyPr wrap="square"/>
                    <a:lstStyle/>
                    <a:p>
                      <a:r>
                        <a:rPr sz="1400" b="0" a:latin="Calibri">
                          <a:solidFill>
                            <a:srgbClr val="1C1917"/>
                          </a:solidFill>
                          <a:latin typeface="Calibri"/>
                        </a:rPr>
                        <a:t>Lab and online samples</a:t>
                      </a:r>
                    </a:p>
                  </a:txBody>
                  <a:tcPr anchor="t" marL="54864" marR="54864" marT="36576">
                    <a:solidFill>
                      <a:srgbClr val="FFFCF7"/>
                    </a:solidFill>
                  </a:tcPr>
                </a:tc>
                <a:tc>
                  <a:txBody>
                    <a:bodyPr wrap="square"/>
                    <a:lstStyle/>
                    <a:p>
                      <a:r>
                        <a:rPr sz="1400" b="0" a:latin="Calibri">
                          <a:solidFill>
                            <a:srgbClr val="1C1917"/>
                          </a:solidFill>
                          <a:latin typeface="Calibri"/>
                        </a:rPr>
                        <a:t>Knows you left, not where you went</a:t>
                      </a:r>
                    </a:p>
                  </a:txBody>
                  <a:tcPr anchor="t" marL="54864" marR="54864" marT="36576">
                    <a:solidFill>
                      <a:srgbClr val="FFFCF7"/>
                    </a:solidFill>
                  </a:tcPr>
                </a:tc>
              </a:tr>
              <a:tr h="841248">
                <a:tc>
                  <a:txBody>
                    <a:bodyPr wrap="square"/>
                    <a:lstStyle/>
                    <a:p>
                      <a:r>
                        <a:rPr sz="1400" b="0" a:latin="Calibri">
                          <a:solidFill>
                            <a:srgbClr val="1C1917"/>
                          </a:solidFill>
                          <a:latin typeface="Calibri"/>
                        </a:rPr>
                        <a:t>Özseven and Esin Özseven, 2026</a:t>
                      </a:r>
                    </a:p>
                  </a:txBody>
                  <a:tcPr anchor="t" marL="54864" marR="54864" marT="36576">
                    <a:solidFill>
                      <a:srgbClr val="F4F0E6"/>
                    </a:solidFill>
                  </a:tcPr>
                </a:tc>
                <a:tc>
                  <a:txBody>
                    <a:bodyPr wrap="square"/>
                    <a:lstStyle/>
                    <a:p>
                      <a:r>
                        <a:rPr sz="1400" b="0" a:latin="Calibri">
                          <a:solidFill>
                            <a:srgbClr val="1C1917"/>
                          </a:solidFill>
                          <a:latin typeface="Calibri"/>
                        </a:rPr>
                        <a:t>Explainable detector</a:t>
                      </a:r>
                    </a:p>
                  </a:txBody>
                  <a:tcPr anchor="t" marL="54864" marR="54864" marT="36576">
                    <a:solidFill>
                      <a:srgbClr val="F4F0E6"/>
                    </a:solidFill>
                  </a:tcPr>
                </a:tc>
                <a:tc>
                  <a:txBody>
                    <a:bodyPr wrap="square"/>
                    <a:lstStyle/>
                    <a:p>
                      <a:r>
                        <a:rPr sz="1400" b="0" a:latin="Calibri">
                          <a:solidFill>
                            <a:srgbClr val="1C1917"/>
                          </a:solidFill>
                          <a:latin typeface="Calibri"/>
                        </a:rPr>
                        <a:t>Gaze, head, hands</a:t>
                      </a:r>
                    </a:p>
                  </a:txBody>
                  <a:tcPr anchor="t" marL="54864" marR="54864" marT="36576">
                    <a:solidFill>
                      <a:srgbClr val="F4F0E6"/>
                    </a:solidFill>
                  </a:tcPr>
                </a:tc>
                <a:tc>
                  <a:txBody>
                    <a:bodyPr wrap="square"/>
                    <a:lstStyle/>
                    <a:p>
                      <a:r>
                        <a:rPr sz="1400" b="0" a:latin="Calibri">
                          <a:solidFill>
                            <a:srgbClr val="1C1917"/>
                          </a:solidFill>
                          <a:latin typeface="Calibri"/>
                        </a:rPr>
                        <a:t>Still a camera</a:t>
                      </a:r>
                    </a:p>
                  </a:txBody>
                  <a:tcPr anchor="t" marL="54864" marR="54864" marT="36576">
                    <a:solidFill>
                      <a:srgbClr val="F4F0E6"/>
                    </a:solidFill>
                  </a:tcPr>
                </a:tc>
              </a:tr>
              <a:tr h="841248">
                <a:tc>
                  <a:txBody>
                    <a:bodyPr wrap="square"/>
                    <a:lstStyle/>
                    <a:p>
                      <a:r>
                        <a:rPr sz="1400" b="0" a:latin="Calibri">
                          <a:solidFill>
                            <a:srgbClr val="1C1917"/>
                          </a:solidFill>
                          <a:latin typeface="Calibri"/>
                        </a:rPr>
                        <a:t>Kharbat and Abu Daabes, 2021</a:t>
                      </a:r>
                    </a:p>
                  </a:txBody>
                  <a:tcPr anchor="t" marL="54864" marR="54864" marT="36576">
                    <a:solidFill>
                      <a:srgbClr val="FFFCF7"/>
                    </a:solidFill>
                  </a:tcPr>
                </a:tc>
                <a:tc>
                  <a:txBody>
                    <a:bodyPr wrap="square"/>
                    <a:lstStyle/>
                    <a:p>
                      <a:r>
                        <a:rPr sz="1400" b="0" a:latin="Calibri">
                          <a:solidFill>
                            <a:srgbClr val="1C1917"/>
                          </a:solidFill>
                          <a:latin typeface="Calibri"/>
                        </a:rPr>
                        <a:t>Student study</a:t>
                      </a:r>
                    </a:p>
                  </a:txBody>
                  <a:tcPr anchor="t" marL="54864" marR="54864" marT="36576">
                    <a:solidFill>
                      <a:srgbClr val="FFFCF7"/>
                    </a:solidFill>
                  </a:tcPr>
                </a:tc>
                <a:tc>
                  <a:txBody>
                    <a:bodyPr wrap="square"/>
                    <a:lstStyle/>
                    <a:p>
                      <a:r>
                        <a:rPr sz="1400" b="0" a:latin="Calibri">
                          <a:solidFill>
                            <a:srgbClr val="1C1917"/>
                          </a:solidFill>
                          <a:latin typeface="Calibri"/>
                        </a:rPr>
                        <a:t>About 100 students</a:t>
                      </a:r>
                    </a:p>
                  </a:txBody>
                  <a:tcPr anchor="t" marL="54864" marR="54864" marT="36576">
                    <a:solidFill>
                      <a:srgbClr val="FFFCF7"/>
                    </a:solidFill>
                  </a:tcPr>
                </a:tc>
                <a:tc>
                  <a:txBody>
                    <a:bodyPr wrap="square"/>
                    <a:lstStyle/>
                    <a:p>
                      <a:r>
                        <a:rPr sz="1400" b="0" a:latin="Calibri">
                          <a:solidFill>
                            <a:srgbClr val="1C1917"/>
                          </a:solidFill>
                          <a:latin typeface="Calibri"/>
                        </a:rPr>
                        <a:t>Webcam called a privacy breach</a:t>
                      </a:r>
                    </a:p>
                  </a:txBody>
                  <a:tcPr anchor="t" marL="54864" marR="54864" marT="36576">
                    <a:solidFill>
                      <a:srgbClr val="FFFCF7"/>
                    </a:solidFill>
                  </a:tcPr>
                </a:tc>
              </a:tr>
              <a:tr h="841248">
                <a:tc>
                  <a:txBody>
                    <a:bodyPr wrap="square"/>
                    <a:lstStyle/>
                    <a:p>
                      <a:r>
                        <a:rPr sz="1400" b="0" a:latin="Calibri">
                          <a:solidFill>
                            <a:srgbClr val="1C1917"/>
                          </a:solidFill>
                          <a:latin typeface="Calibri"/>
                        </a:rPr>
                        <a:t>Scarfe et al., 2024</a:t>
                      </a:r>
                    </a:p>
                  </a:txBody>
                  <a:tcPr anchor="t" marL="54864" marR="54864" marT="36576">
                    <a:solidFill>
                      <a:srgbClr val="F4F0E6"/>
                    </a:solidFill>
                  </a:tcPr>
                </a:tc>
                <a:tc>
                  <a:txBody>
                    <a:bodyPr wrap="square"/>
                    <a:lstStyle/>
                    <a:p>
                      <a:r>
                        <a:rPr sz="1400" b="0" a:latin="Calibri">
                          <a:solidFill>
                            <a:srgbClr val="1C1917"/>
                          </a:solidFill>
                          <a:latin typeface="Calibri"/>
                        </a:rPr>
                        <a:t>AI scripts in real exams</a:t>
                      </a:r>
                    </a:p>
                  </a:txBody>
                  <a:tcPr anchor="t" marL="54864" marR="54864" marT="36576">
                    <a:solidFill>
                      <a:srgbClr val="F4F0E6"/>
                    </a:solidFill>
                  </a:tcPr>
                </a:tc>
                <a:tc>
                  <a:txBody>
                    <a:bodyPr wrap="square"/>
                    <a:lstStyle/>
                    <a:p>
                      <a:r>
                        <a:rPr sz="1400" b="0" a:latin="Calibri">
                          <a:solidFill>
                            <a:srgbClr val="1C1917"/>
                          </a:solidFill>
                          <a:latin typeface="Calibri"/>
                        </a:rPr>
                        <a:t>Psychology modules</a:t>
                      </a:r>
                    </a:p>
                  </a:txBody>
                  <a:tcPr anchor="t" marL="54864" marR="54864" marT="36576">
                    <a:solidFill>
                      <a:srgbClr val="F4F0E6"/>
                    </a:solidFill>
                  </a:tcPr>
                </a:tc>
                <a:tc>
                  <a:txBody>
                    <a:bodyPr wrap="square"/>
                    <a:lstStyle/>
                    <a:p>
                      <a:r>
                        <a:rPr sz="1400" b="0" a:latin="Calibri">
                          <a:solidFill>
                            <a:srgbClr val="1C1917"/>
                          </a:solidFill>
                          <a:latin typeface="Calibri"/>
                        </a:rPr>
                        <a:t>94% undetected</a:t>
                      </a:r>
                    </a:p>
                  </a:txBody>
                  <a:tcPr anchor="t" marL="54864" marR="54864" marT="36576">
                    <a:solidFill>
                      <a:srgbClr val="F4F0E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9</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What they collect</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What the dominant systems collect</a:t>
            </a:r>
          </a:p>
        </p:txBody>
      </p:sp>
      <p:sp>
        <p:nvSpPr>
          <p:cNvPr id="9" name="TextBox 8"/>
          <p:cNvSpPr txBox="1"/>
          <p:nvPr/>
        </p:nvSpPr>
        <p:spPr>
          <a:xfrm>
            <a:off x="502920" y="1417320"/>
            <a:ext cx="11155680" cy="4572000"/>
          </a:xfrm>
          <a:prstGeom prst="rect">
            <a:avLst/>
          </a:prstGeom>
          <a:noFill/>
        </p:spPr>
        <p:txBody>
          <a:bodyPr wrap="square">
            <a:spAutoFit/>
          </a:bodyPr>
          <a:lstStyle/>
          <a:p>
            <a:pPr algn="l">
              <a:spcAft>
                <a:spcPts val="800"/>
              </a:spcAft>
            </a:pPr>
            <a:r>
              <a:rPr sz="2000" b="0" a:latin="Calibri">
                <a:solidFill>
                  <a:srgbClr val="1C1917"/>
                </a:solidFill>
                <a:latin typeface="Calibri"/>
              </a:rPr>
              <a:t>Heinrich (2025) reviewed 33 commercial systems. Image, video, and audio dominate. A flag often has no published rule.</a:t>
            </a:r>
          </a:p>
          <a:p>
            <a:pPr algn="l">
              <a:spcAft>
                <a:spcPts val="800"/>
              </a:spcAft>
            </a:pPr>
            <a:r>
              <a:rPr sz="2000" b="0" a:latin="Calibri">
                <a:solidFill>
                  <a:srgbClr val="1C1917"/>
                </a:solidFill>
                <a:latin typeface="Calibri"/>
              </a:rPr>
              <a:t>Burgess, Ginsberg, Felten and Cohney (2022) broke four suites. Process allow-lists fail when the program is renamed.</a:t>
            </a:r>
          </a:p>
          <a:p>
            <a:pPr algn="l">
              <a:spcAft>
                <a:spcPts val="800"/>
              </a:spcAft>
            </a:pPr>
            <a:r>
              <a:rPr sz="2000" b="0" a:latin="Calibri">
                <a:solidFill>
                  <a:srgbClr val="1C1917"/>
                </a:solidFill>
                <a:latin typeface="Calibri"/>
              </a:rPr>
              <a:t>Room scans and a second camera sit on the same biometric line (Atoum et al., 2017).</a:t>
            </a:r>
          </a:p>
          <a:p>
            <a:pPr algn="l">
              <a:spcAft>
                <a:spcPts val="800"/>
              </a:spcAft>
            </a:pPr>
            <a:r>
              <a:rPr sz="2000" b="0" a:latin="Calibri">
                <a:solidFill>
                  <a:srgbClr val="1C1917"/>
                </a:solidFill>
                <a:latin typeface="Calibri"/>
              </a:rPr>
              <a:t>Mohammed and Ali (2022) show Safe Exam Browser reduces local access and can still be bypassed.</a:t>
            </a:r>
          </a:p>
          <a:p>
            <a:pPr algn="l">
              <a:spcAft>
                <a:spcPts val="800"/>
              </a:spcAft>
            </a:pPr>
            <a:r>
              <a:rPr sz="2000" b="0" a:latin="Calibri">
                <a:solidFill>
                  <a:srgbClr val="1C1917"/>
                </a:solidFill>
                <a:latin typeface="Calibri"/>
              </a:rPr>
              <a:t>Our payload is the event plus an executable name. No title, no URL, no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10</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Gaps</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Five gaps</a:t>
            </a:r>
          </a:p>
        </p:txBody>
      </p:sp>
      <p:sp>
        <p:nvSpPr>
          <p:cNvPr id="9" name="TextBox 8"/>
          <p:cNvSpPr txBox="1"/>
          <p:nvPr/>
        </p:nvSpPr>
        <p:spPr>
          <a:xfrm>
            <a:off x="502920" y="1371600"/>
            <a:ext cx="11155680" cy="4846320"/>
          </a:xfrm>
          <a:prstGeom prst="rect">
            <a:avLst/>
          </a:prstGeom>
          <a:noFill/>
        </p:spPr>
        <p:txBody>
          <a:bodyPr wrap="square">
            <a:spAutoFit/>
          </a:bodyPr>
          <a:lstStyle/>
          <a:p>
            <a:pPr>
              <a:spcAft>
                <a:spcPts val="1000"/>
              </a:spcAft>
            </a:pPr>
            <a:r>
              <a:rPr sz="1800" b="0" a:latin="Calibri">
                <a:solidFill>
                  <a:srgbClr val="1C1917"/>
                </a:solidFill>
                <a:latin typeface="Calibri"/>
              </a:rPr>
              <a:t>1    Biometric monitoring is the default, and students treat the webcam as a breach.  Coghlan, Miller and Paterson, 2021; Kharbat and Abu Daabes, 2021; Mutimukwe et al., 2025.</a:t>
            </a:r>
          </a:p>
          <a:p>
            <a:pPr>
              <a:spcAft>
                <a:spcPts val="1000"/>
              </a:spcAft>
            </a:pPr>
            <a:r>
              <a:rPr sz="1800" b="0" a:latin="Calibri">
                <a:solidFill>
                  <a:srgbClr val="1C1917"/>
                </a:solidFill>
                <a:latin typeface="Calibri"/>
              </a:rPr>
              <a:t>2    Browser focus detects leaving the page, not the other app or a chatbot.  Diedenhofen and Musch, 2016; Ibrahim et al., 2023; Scarfe et al., 2024.</a:t>
            </a:r>
          </a:p>
          <a:p>
            <a:pPr>
              <a:spcAft>
                <a:spcPts val="1000"/>
              </a:spcAft>
            </a:pPr>
            <a:r>
              <a:rPr sz="1800" b="0" a:latin="Calibri">
                <a:solidFill>
                  <a:srgbClr val="1C1917"/>
                </a:solidFill>
                <a:latin typeface="Calibri"/>
              </a:rPr>
              <a:t>3    Commercial flags are opaque. New explainable detectors still depend on gaze and pose.  Heinrich, 2025; Özseven and Esin Özseven, 2026.</a:t>
            </a:r>
          </a:p>
          <a:p>
            <a:pPr>
              <a:spcAft>
                <a:spcPts val="1000"/>
              </a:spcAft>
            </a:pPr>
            <a:r>
              <a:rPr sz="1800" b="0" a:latin="Calibri">
                <a:solidFill>
                  <a:srgbClr val="1C1917"/>
                </a:solidFill>
                <a:latin typeface="Calibri"/>
              </a:rPr>
              <a:t>4    Lockdown browsers are privileged and bypassable.  Burgess, Ginsberg, Felten and Cohney, 2022; Mohammed and Ali, 2022.</a:t>
            </a:r>
          </a:p>
          <a:p>
            <a:pPr>
              <a:spcAft>
                <a:spcPts val="1000"/>
              </a:spcAft>
            </a:pPr>
            <a:r>
              <a:rPr sz="1800" b="0" a:latin="Calibri">
                <a:solidFill>
                  <a:srgbClr val="1C1917"/>
                </a:solidFill>
                <a:latin typeface="Calibri"/>
              </a:rPr>
              <a:t>5    Proctoring’s effect on cheating is not settled, so an automatic fail is not justified.  Newton and Essex,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11</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The system</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What the website and the agent fill</a:t>
            </a:r>
          </a:p>
        </p:txBody>
      </p:sp>
      <p:sp>
        <p:nvSpPr>
          <p:cNvPr id="9" name="Rectangle 8"/>
          <p:cNvSpPr/>
          <p:nvPr/>
        </p:nvSpPr>
        <p:spPr>
          <a:xfrm>
            <a:off x="502920" y="141732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3611880"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600200"/>
            <a:ext cx="3291840" cy="365760"/>
          </a:xfrm>
          <a:prstGeom prst="rect">
            <a:avLst/>
          </a:prstGeom>
          <a:noFill/>
        </p:spPr>
        <p:txBody>
          <a:bodyPr wrap="square"/>
          <a:lstStyle/>
          <a:p>
            <a:pPr algn="l"/>
            <a:r>
              <a:rPr sz="2200" b="1" a:latin="Georgia">
                <a:solidFill>
                  <a:srgbClr val="12263A"/>
                </a:solidFill>
                <a:latin typeface="Georgia"/>
              </a:rPr>
              <a:t>Browser</a:t>
            </a:r>
          </a:p>
        </p:txBody>
      </p:sp>
      <p:sp>
        <p:nvSpPr>
          <p:cNvPr id="12" name="TextBox 11"/>
          <p:cNvSpPr txBox="1"/>
          <p:nvPr/>
        </p:nvSpPr>
        <p:spPr>
          <a:xfrm>
            <a:off x="667512" y="2057400"/>
            <a:ext cx="3291840" cy="1463040"/>
          </a:xfrm>
          <a:prstGeom prst="rect">
            <a:avLst/>
          </a:prstGeom>
          <a:noFill/>
        </p:spPr>
        <p:txBody>
          <a:bodyPr wrap="square"/>
          <a:lstStyle/>
          <a:p>
            <a:pPr algn="l"/>
            <a:r>
              <a:rPr sz="1500" b="0" a:latin="Calibri">
                <a:solidFill>
                  <a:srgbClr val="1C1917"/>
                </a:solidFill>
                <a:latin typeface="Calibri"/>
              </a:rPr>
              <a:t>The student sits the exam. The page reports focus, fullscreen, clipboard, and a DevTools heuristic.</a:t>
            </a:r>
          </a:p>
        </p:txBody>
      </p:sp>
      <p:sp>
        <p:nvSpPr>
          <p:cNvPr id="13" name="Rectangle 12"/>
          <p:cNvSpPr/>
          <p:nvPr/>
        </p:nvSpPr>
        <p:spPr>
          <a:xfrm>
            <a:off x="4297680" y="141732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600200"/>
            <a:ext cx="3291840" cy="365760"/>
          </a:xfrm>
          <a:prstGeom prst="rect">
            <a:avLst/>
          </a:prstGeom>
          <a:noFill/>
        </p:spPr>
        <p:txBody>
          <a:bodyPr wrap="square"/>
          <a:lstStyle/>
          <a:p>
            <a:pPr algn="l"/>
            <a:r>
              <a:rPr sz="2200" b="1" a:latin="Georgia">
                <a:solidFill>
                  <a:srgbClr val="12263A"/>
                </a:solidFill>
                <a:latin typeface="Georgia"/>
              </a:rPr>
              <a:t>Server</a:t>
            </a:r>
          </a:p>
        </p:txBody>
      </p:sp>
      <p:sp>
        <p:nvSpPr>
          <p:cNvPr id="16" name="TextBox 15"/>
          <p:cNvSpPr txBox="1"/>
          <p:nvPr/>
        </p:nvSpPr>
        <p:spPr>
          <a:xfrm>
            <a:off x="4462272" y="2057400"/>
            <a:ext cx="3291840" cy="1463040"/>
          </a:xfrm>
          <a:prstGeom prst="rect">
            <a:avLst/>
          </a:prstGeom>
          <a:noFill/>
        </p:spPr>
        <p:txBody>
          <a:bodyPr wrap="square"/>
          <a:lstStyle/>
          <a:p>
            <a:pPr algn="l"/>
            <a:r>
              <a:rPr sz="1500" b="0" a:latin="Calibri">
                <a:solidFill>
                  <a:srgbClr val="1C1917"/>
                </a:solidFill>
                <a:latin typeface="Calibri"/>
              </a:rPr>
              <a:t>One server holds the exam, the attempt, the events, the review, and the PDF or CSV.</a:t>
            </a:r>
          </a:p>
        </p:txBody>
      </p:sp>
      <p:sp>
        <p:nvSpPr>
          <p:cNvPr id="17" name="Rectangle 16"/>
          <p:cNvSpPr/>
          <p:nvPr/>
        </p:nvSpPr>
        <p:spPr>
          <a:xfrm>
            <a:off x="8092440" y="1417320"/>
            <a:ext cx="3611880" cy="233172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417320"/>
            <a:ext cx="3611880"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1600200"/>
            <a:ext cx="3291840" cy="365760"/>
          </a:xfrm>
          <a:prstGeom prst="rect">
            <a:avLst/>
          </a:prstGeom>
          <a:noFill/>
        </p:spPr>
        <p:txBody>
          <a:bodyPr wrap="square"/>
          <a:lstStyle/>
          <a:p>
            <a:pPr algn="l"/>
            <a:r>
              <a:rPr sz="2200" b="1" a:latin="Georgia">
                <a:solidFill>
                  <a:srgbClr val="12263A"/>
                </a:solidFill>
                <a:latin typeface="Georgia"/>
              </a:rPr>
              <a:t>Agent</a:t>
            </a:r>
          </a:p>
        </p:txBody>
      </p:sp>
      <p:sp>
        <p:nvSpPr>
          <p:cNvPr id="20" name="TextBox 19"/>
          <p:cNvSpPr txBox="1"/>
          <p:nvPr/>
        </p:nvSpPr>
        <p:spPr>
          <a:xfrm>
            <a:off x="8257032" y="2057400"/>
            <a:ext cx="3291840" cy="1463040"/>
          </a:xfrm>
          <a:prstGeom prst="rect">
            <a:avLst/>
          </a:prstGeom>
          <a:noFill/>
        </p:spPr>
        <p:txBody>
          <a:bodyPr wrap="square"/>
          <a:lstStyle/>
          <a:p>
            <a:pPr algn="l"/>
            <a:r>
              <a:rPr sz="1500" b="0" a:latin="Calibri">
                <a:solidFill>
                  <a:srgbClr val="1C1917"/>
                </a:solidFill>
                <a:latin typeface="Calibri"/>
              </a:rPr>
              <a:t>A visible window. Executable name only. Correlated with a browser event. Policy scores it.</a:t>
            </a:r>
          </a:p>
        </p:txBody>
      </p:sp>
      <p:sp>
        <p:nvSpPr>
          <p:cNvPr id="21" name="TextBox 20"/>
          <p:cNvSpPr txBox="1"/>
          <p:nvPr/>
        </p:nvSpPr>
        <p:spPr>
          <a:xfrm>
            <a:off x="502920" y="3977639"/>
            <a:ext cx="11155680" cy="2011680"/>
          </a:xfrm>
          <a:prstGeom prst="rect">
            <a:avLst/>
          </a:prstGeom>
          <a:noFill/>
        </p:spPr>
        <p:txBody>
          <a:bodyPr wrap="square"/>
          <a:lstStyle/>
          <a:p>
            <a:pPr algn="l"/>
            <a:r>
              <a:rPr sz="1800" b="0" a:latin="Calibri">
                <a:solidFill>
                  <a:srgbClr val="1C1917"/>
                </a:solidFill>
                <a:latin typeface="Calibri"/>
              </a:rPr>
              <a:t>The reviewer still chooses Flagged or Cleared.
The score is evidence for that person. It is not a verdict.
Faculty and students are not stuck on one browser: two student devices and one faculty device share the published exam.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12</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Objectives</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Four objectives</a:t>
            </a:r>
          </a:p>
        </p:txBody>
      </p:sp>
      <p:sp>
        <p:nvSpPr>
          <p:cNvPr id="9" name="TextBox 8"/>
          <p:cNvSpPr txBox="1"/>
          <p:nvPr/>
        </p:nvSpPr>
        <p:spPr>
          <a:xfrm>
            <a:off x="502920" y="1280160"/>
            <a:ext cx="10972800" cy="320040"/>
          </a:xfrm>
          <a:prstGeom prst="rect">
            <a:avLst/>
          </a:prstGeom>
          <a:noFill/>
        </p:spPr>
        <p:txBody>
          <a:bodyPr wrap="square"/>
          <a:lstStyle/>
          <a:p>
            <a:pPr algn="l"/>
            <a:r>
              <a:rPr sz="1600" b="1" a:latin="Calibri">
                <a:solidFill>
                  <a:srgbClr val="0F6E6B"/>
                </a:solidFill>
                <a:latin typeface="Calibri"/>
              </a:rPr>
              <a:t>Outcomes we will measure. Not a list of activities.</a:t>
            </a:r>
          </a:p>
        </p:txBody>
      </p:sp>
      <p:sp>
        <p:nvSpPr>
          <p:cNvPr id="10" name="TextBox 9"/>
          <p:cNvSpPr txBox="1"/>
          <p:nvPr/>
        </p:nvSpPr>
        <p:spPr>
          <a:xfrm>
            <a:off x="502920" y="1737360"/>
            <a:ext cx="11155680" cy="4389120"/>
          </a:xfrm>
          <a:prstGeom prst="rect">
            <a:avLst/>
          </a:prstGeom>
          <a:noFill/>
        </p:spPr>
        <p:txBody>
          <a:bodyPr wrap="square">
            <a:spAutoFit/>
          </a:bodyPr>
          <a:lstStyle/>
          <a:p>
            <a:pPr>
              <a:spcAft>
                <a:spcPts val="1200"/>
              </a:spcAft>
            </a:pPr>
            <a:r>
              <a:rPr sz="1800" b="0" a:latin="Calibri">
                <a:solidFill>
                  <a:srgbClr val="1C1917"/>
                </a:solidFill>
                <a:latin typeface="Calibri"/>
              </a:rPr>
              <a:t>1    On a scripted testbed of at least 10 honest and cheating actions, the browser monitor records the matching event in at least 90 percent of trials.</a:t>
            </a:r>
          </a:p>
          <a:p>
            <a:pPr>
              <a:spcAft>
                <a:spcPts val="1200"/>
              </a:spcAft>
            </a:pPr>
            <a:r>
              <a:rPr sz="1800" b="0" a:latin="Calibri">
                <a:solidFill>
                  <a:srgbClr val="1C1917"/>
                </a:solidFill>
                <a:latin typeface="Calibri"/>
              </a:rPr>
              <a:t>2    The same event log always yields the same Low, Medium, or High score, and the same written breakdown, under a published rule version.</a:t>
            </a:r>
          </a:p>
          <a:p>
            <a:pPr>
              <a:spcAft>
                <a:spcPts val="1200"/>
              </a:spcAft>
            </a:pPr>
            <a:r>
              <a:rPr sz="1800" b="0" a:latin="Calibri">
                <a:solidFill>
                  <a:srgbClr val="1C1917"/>
                </a:solidFill>
                <a:latin typeface="Calibri"/>
              </a:rPr>
              <a:t>3    With the agent connected, “exam hidden while a named prohibited app is in front” scores higher than the browser-only case. The payload has no title, URL, keystroke, or image.</a:t>
            </a:r>
          </a:p>
          <a:p>
            <a:pPr>
              <a:spcAft>
                <a:spcPts val="1200"/>
              </a:spcAft>
            </a:pPr>
            <a:r>
              <a:rPr sz="1800" b="0" a:latin="Calibri">
                <a:solidFill>
                  <a:srgbClr val="1C1917"/>
                </a:solidFill>
                <a:latin typeface="Calibri"/>
              </a:rPr>
              <a:t>4    Two student devices and one faculty device share one published exam. A high-risk session can be flagged or cleared and exported, and the file matches the on-screen score.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47472"/>
            <a:ext cx="11155680" cy="9525"/>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20624"/>
            <a:ext cx="11155680" cy="635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412480" cy="256032"/>
          </a:xfrm>
          <a:prstGeom prst="rect">
            <a:avLst/>
          </a:prstGeom>
          <a:noFill/>
        </p:spPr>
        <p:txBody>
          <a:bodyPr wrap="square"/>
          <a:lstStyle/>
          <a:p>
            <a:pPr algn="l"/>
            <a:r>
              <a:rPr sz="1200" b="0" a:latin="Calibri">
                <a:solidFill>
                  <a:srgbClr val="5C564E"/>
                </a:solidFill>
                <a:latin typeface="Calibri"/>
              </a:rPr>
              <a:t>Review I   ·   BACSE291   ·   13</a:t>
            </a:r>
          </a:p>
        </p:txBody>
      </p:sp>
      <p:sp>
        <p:nvSpPr>
          <p:cNvPr id="7" name="TextBox 6"/>
          <p:cNvSpPr txBox="1"/>
          <p:nvPr/>
        </p:nvSpPr>
        <p:spPr>
          <a:xfrm>
            <a:off x="8595360" y="6510528"/>
            <a:ext cx="3108960" cy="256032"/>
          </a:xfrm>
          <a:prstGeom prst="rect">
            <a:avLst/>
          </a:prstGeom>
          <a:noFill/>
        </p:spPr>
        <p:txBody>
          <a:bodyPr wrap="square"/>
          <a:lstStyle/>
          <a:p>
            <a:pPr algn="r"/>
            <a:r>
              <a:rPr sz="1200" b="0" a:latin="Calibri">
                <a:solidFill>
                  <a:srgbClr val="5C564E"/>
                </a:solidFill>
                <a:latin typeface="Calibri"/>
              </a:rPr>
              <a:t>Measurement</a:t>
            </a:r>
          </a:p>
        </p:txBody>
      </p:sp>
      <p:sp>
        <p:nvSpPr>
          <p:cNvPr id="8" name="TextBox 7"/>
          <p:cNvSpPr txBox="1"/>
          <p:nvPr/>
        </p:nvSpPr>
        <p:spPr>
          <a:xfrm>
            <a:off x="502920" y="566928"/>
            <a:ext cx="11155680" cy="640080"/>
          </a:xfrm>
          <a:prstGeom prst="rect">
            <a:avLst/>
          </a:prstGeom>
          <a:noFill/>
        </p:spPr>
        <p:txBody>
          <a:bodyPr wrap="square"/>
          <a:lstStyle/>
          <a:p>
            <a:pPr algn="l"/>
            <a:r>
              <a:rPr sz="3200" b="1" a:latin="Georgia">
                <a:solidFill>
                  <a:srgbClr val="12263A"/>
                </a:solidFill>
                <a:latin typeface="Georgia"/>
              </a:rPr>
              <a:t>How you will measure it</a:t>
            </a:r>
          </a:p>
        </p:txBody>
      </p:sp>
      <p:sp>
        <p:nvSpPr>
          <p:cNvPr id="9" name="TextBox 8"/>
          <p:cNvSpPr txBox="1"/>
          <p:nvPr/>
        </p:nvSpPr>
        <p:spPr>
          <a:xfrm>
            <a:off x="502920" y="1463040"/>
            <a:ext cx="11155680" cy="4389120"/>
          </a:xfrm>
          <a:prstGeom prst="rect">
            <a:avLst/>
          </a:prstGeom>
          <a:noFill/>
        </p:spPr>
        <p:txBody>
          <a:bodyPr wrap="square">
            <a:spAutoFit/>
          </a:bodyPr>
          <a:lstStyle/>
          <a:p>
            <a:pPr algn="l">
              <a:spcAft>
                <a:spcPts val="1200"/>
              </a:spcAft>
            </a:pPr>
            <a:r>
              <a:rPr sz="2200" b="0" a:latin="Calibri">
                <a:solidFill>
                  <a:srgbClr val="1C1917"/>
                </a:solidFill>
                <a:latin typeface="Calibri"/>
              </a:rPr>
              <a:t>A lab script, not a secret recording of classmates.</a:t>
            </a:r>
          </a:p>
          <a:p>
            <a:pPr algn="l">
              <a:spcAft>
                <a:spcPts val="1200"/>
              </a:spcAft>
            </a:pPr>
            <a:r>
              <a:rPr sz="2200" b="0" a:latin="Calibri">
                <a:solidFill>
                  <a:srgbClr val="1C1917"/>
                </a:solidFill>
                <a:latin typeface="Calibri"/>
              </a:rPr>
              <a:t>Detection rate: matching event present, over the scripted trials.</a:t>
            </a:r>
          </a:p>
          <a:p>
            <a:pPr algn="l">
              <a:spcAft>
                <a:spcPts val="1200"/>
              </a:spcAft>
            </a:pPr>
            <a:r>
              <a:rPr sz="2200" b="0" a:latin="Calibri">
                <a:solidFill>
                  <a:srgbClr val="1C1917"/>
                </a:solidFill>
                <a:latin typeface="Calibri"/>
              </a:rPr>
              <a:t>False flags on honest actions: a paste inside the exam, a brief blur.</a:t>
            </a:r>
          </a:p>
          <a:p>
            <a:pPr algn="l">
              <a:spcAft>
                <a:spcPts val="1200"/>
              </a:spcAft>
            </a:pPr>
            <a:r>
              <a:rPr sz="2200" b="0" a:latin="Calibri">
                <a:solidFill>
                  <a:srgbClr val="1C1917"/>
                </a:solidFill>
                <a:latin typeface="Calibri"/>
              </a:rPr>
              <a:t>A second person reproduces the score from the log and the published rule version.</a:t>
            </a:r>
          </a:p>
          <a:p>
            <a:pPr algn="l">
              <a:spcAft>
                <a:spcPts val="1200"/>
              </a:spcAft>
            </a:pPr>
            <a:r>
              <a:rPr sz="2200" b="0" a:latin="Calibri">
                <a:solidFill>
                  <a:srgbClr val="1C1917"/>
                </a:solidFill>
                <a:latin typeface="Calibri"/>
              </a:rPr>
              <a:t>The export is checked against the score on screen.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91640"/>
            <a:ext cx="10789920" cy="1645920"/>
          </a:xfrm>
          <a:prstGeom prst="rect">
            <a:avLst/>
          </a:prstGeom>
          <a:noFill/>
        </p:spPr>
        <p:txBody>
          <a:bodyPr wrap="square"/>
          <a:lstStyle/>
          <a:p>
            <a:pPr algn="l"/>
            <a:r>
              <a:rPr sz="3600" b="1" a:latin="Georgia">
                <a:solidFill>
                  <a:srgbClr val="FFFFFF"/>
                </a:solidFill>
                <a:latin typeface="Georgia"/>
              </a:rPr>
              <a:t>Evidence for a human,
not a verdict from a camera.</a:t>
            </a:r>
          </a:p>
        </p:txBody>
      </p:sp>
      <p:sp>
        <p:nvSpPr>
          <p:cNvPr id="4" name="Rectangle 3"/>
          <p:cNvSpPr/>
          <p:nvPr/>
        </p:nvSpPr>
        <p:spPr>
          <a:xfrm>
            <a:off x="640080" y="3566160"/>
            <a:ext cx="2194560" cy="12700"/>
          </a:xfrm>
          <a:prstGeom prst="rect">
            <a:avLst/>
          </a:prstGeom>
          <a:solidFill>
            <a:srgbClr val="B08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840480"/>
            <a:ext cx="10058400" cy="548640"/>
          </a:xfrm>
          <a:prstGeom prst="rect">
            <a:avLst/>
          </a:prstGeom>
          <a:noFill/>
        </p:spPr>
        <p:txBody>
          <a:bodyPr wrap="square"/>
          <a:lstStyle/>
          <a:p>
            <a:pPr algn="l"/>
            <a:r>
              <a:rPr sz="2800" b="0" a:latin="Calibri">
                <a:solidFill>
                  <a:srgbClr val="F4F0E6"/>
                </a:solidFill>
                <a:latin typeface="Calibri"/>
              </a:rPr>
              <a:t>Questions.</a:t>
            </a:r>
          </a:p>
        </p:txBody>
      </p:sp>
      <p:sp>
        <p:nvSpPr>
          <p:cNvPr id="6" name="TextBox 5"/>
          <p:cNvSpPr txBox="1"/>
          <p:nvPr/>
        </p:nvSpPr>
        <p:spPr>
          <a:xfrm>
            <a:off x="640080" y="6309360"/>
            <a:ext cx="7315200" cy="274320"/>
          </a:xfrm>
          <a:prstGeom prst="rect">
            <a:avLst/>
          </a:prstGeom>
          <a:noFill/>
        </p:spPr>
        <p:txBody>
          <a:bodyPr wrap="square"/>
          <a:lstStyle/>
          <a:p>
            <a:pPr algn="l"/>
            <a:r>
              <a:rPr sz="1200" b="0" a:latin="Calibri">
                <a:solidFill>
                  <a:srgbClr val="B08968"/>
                </a:solidFill>
                <a:latin typeface="Calibri"/>
              </a:rPr>
              <a:t>Review I   ·   BACSE291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