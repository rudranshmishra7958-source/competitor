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4" r:id="rId3"/>
    <p:sldId id="257" r:id="rId4"/>
    <p:sldId id="265" r:id="rId5"/>
    <p:sldId id="266" r:id="rId6"/>
    <p:sldId id="258" r:id="rId7"/>
    <p:sldId id="259" r:id="rId8"/>
    <p:sldId id="269" r:id="rId9"/>
    <p:sldId id="270" r:id="rId10"/>
    <p:sldId id="271" r:id="rId11"/>
    <p:sldId id="272" r:id="rId12"/>
    <p:sldId id="273" r:id="rId13"/>
    <p:sldId id="274" r:id="rId14"/>
    <p:sldId id="275" r:id="rId15"/>
    <p:sldId id="276" r:id="rId16"/>
    <p:sldId id="277" r:id="rId17"/>
    <p:sldId id="278" r:id="rId18"/>
    <p:sldId id="279" r:id="rId19"/>
    <p:sldId id="260" r:id="rId20"/>
    <p:sldId id="263" r:id="rId21"/>
    <p:sldId id="267" r:id="rId22"/>
    <p:sldId id="268" r:id="rId23"/>
    <p:sldId id="262"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AAB07-14F3-42C1-B3C2-8502CDDEA02A}" v="1" dt="2026-10-06T15:49:28.5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dransh Mishra" userId="666c3e26f861577a" providerId="LiveId" clId="{65CC0542-D492-4D79-B71F-65C3C5559D44}"/>
    <pc:docChg chg="undo custSel modSld">
      <pc:chgData name="Rudransh Mishra" userId="666c3e26f861577a" providerId="LiveId" clId="{65CC0542-D492-4D79-B71F-65C3C5559D44}" dt="2026-10-06T15:50:33.097" v="13" actId="22"/>
      <pc:docMkLst>
        <pc:docMk/>
      </pc:docMkLst>
      <pc:sldChg chg="addSp delSp modSp mod">
        <pc:chgData name="Rudransh Mishra" userId="666c3e26f861577a" providerId="LiveId" clId="{65CC0542-D492-4D79-B71F-65C3C5559D44}" dt="2026-10-06T15:50:33.097" v="13" actId="22"/>
        <pc:sldMkLst>
          <pc:docMk/>
          <pc:sldMk cId="0" sldId="256"/>
        </pc:sldMkLst>
        <pc:spChg chg="mod">
          <ac:chgData name="Rudransh Mishra" userId="666c3e26f861577a" providerId="LiveId" clId="{65CC0542-D492-4D79-B71F-65C3C5559D44}" dt="2026-10-06T15:49:28.519" v="7"/>
          <ac:spMkLst>
            <pc:docMk/>
            <pc:sldMk cId="0" sldId="256"/>
            <ac:spMk id="5" creationId="{00000000-0000-0000-0000-000000000000}"/>
          </ac:spMkLst>
        </pc:spChg>
        <pc:spChg chg="add del">
          <ac:chgData name="Rudransh Mishra" userId="666c3e26f861577a" providerId="LiveId" clId="{65CC0542-D492-4D79-B71F-65C3C5559D44}" dt="2026-10-06T15:49:42.441" v="9" actId="22"/>
          <ac:spMkLst>
            <pc:docMk/>
            <pc:sldMk cId="0" sldId="256"/>
            <ac:spMk id="15" creationId="{A8990D44-7D15-3C98-0DEE-A1F8101D484B}"/>
          </ac:spMkLst>
        </pc:spChg>
        <pc:spChg chg="add">
          <ac:chgData name="Rudransh Mishra" userId="666c3e26f861577a" providerId="LiveId" clId="{65CC0542-D492-4D79-B71F-65C3C5559D44}" dt="2026-10-06T15:50:33.097" v="13" actId="22"/>
          <ac:spMkLst>
            <pc:docMk/>
            <pc:sldMk cId="0" sldId="256"/>
            <ac:spMk id="19" creationId="{5980E691-D4EC-2EDC-E770-D6E3DDD12275}"/>
          </ac:spMkLst>
        </pc:spChg>
        <pc:graphicFrameChg chg="add mod modGraphic">
          <ac:chgData name="Rudransh Mishra" userId="666c3e26f861577a" providerId="LiveId" clId="{65CC0542-D492-4D79-B71F-65C3C5559D44}" dt="2026-10-06T15:50:23.202" v="12" actId="1076"/>
          <ac:graphicFrameMkLst>
            <pc:docMk/>
            <pc:sldMk cId="0" sldId="256"/>
            <ac:graphicFrameMk id="17" creationId="{8945BD22-A2A5-1CDD-E93E-7FCE52158678}"/>
          </ac:graphicFrameMkLst>
        </pc:graphicFrameChg>
        <pc:picChg chg="add del mod">
          <ac:chgData name="Rudransh Mishra" userId="666c3e26f861577a" providerId="LiveId" clId="{65CC0542-D492-4D79-B71F-65C3C5559D44}" dt="2026-10-06T15:48:52.257" v="6" actId="478"/>
          <ac:picMkLst>
            <pc:docMk/>
            <pc:sldMk cId="0" sldId="256"/>
            <ac:picMk id="13" creationId="{ADFECF3B-47E5-0636-2874-C066FC19485E}"/>
          </ac:picMkLst>
        </pc:picChg>
      </pc:sldChg>
      <pc:sldChg chg="modSp mod">
        <pc:chgData name="Rudransh Mishra" userId="666c3e26f861577a" providerId="LiveId" clId="{65CC0542-D492-4D79-B71F-65C3C5559D44}" dt="2026-10-06T15:47:02.609" v="0" actId="14100"/>
        <pc:sldMkLst>
          <pc:docMk/>
          <pc:sldMk cId="531438064" sldId="263"/>
        </pc:sldMkLst>
        <pc:spChg chg="mod">
          <ac:chgData name="Rudransh Mishra" userId="666c3e26f861577a" providerId="LiveId" clId="{65CC0542-D492-4D79-B71F-65C3C5559D44}" dt="2026-10-06T15:47:02.609" v="0" actId="14100"/>
          <ac:spMkLst>
            <pc:docMk/>
            <pc:sldMk cId="531438064" sldId="263"/>
            <ac:spMk id="4" creationId="{5F98A206-720C-98E9-B232-619CA4E012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023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Header slide. Replace all [bracketed] text: project ID, full title, team names with register numbers, and guide details. Delete unused team rows if the team has fewer than 4 members.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1 minute. Replace the guiding questions with 2–3 concise statements per column. Not separately scored, but it sets up the domain, gap and objectives that follow.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depth of domain knowledge: name 4–6 core techniques, algorithms, models or technologies used in your area, explain each in one line, and say how it connects to your project. Delete unused cards.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5–8 recent, relevant papers (last 5 years preferred). The Category column carries the logical classification. Add rows if needed, but keep font size at 10pt or above; split across two slides if more than 8 papers.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second phone is outside the threat model. We do not record face, voice, keystrokes, titles, URLs, screenshots, or file contents.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71F8B-3CB1-C6DA-E7B8-C081C72FD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888BE-D470-734A-2890-AEC4FB196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A47D8-7C9C-687C-C2EC-79A639B45405}"/>
              </a:ext>
            </a:extLst>
          </p:cNvPr>
          <p:cNvSpPr>
            <a:spLocks noGrp="1"/>
          </p:cNvSpPr>
          <p:nvPr>
            <p:ph type="body" idx="1"/>
          </p:nvPr>
        </p:nvSpPr>
        <p:spPr/>
        <p:txBody>
          <a:bodyPr/>
          <a:lstStyle/>
          <a:p>
            <a:r>
              <a:t>These five lines are the project objectives. The next two slides are the plan for showing them. A second phone is outside the threat model.</a:t>
            </a:r>
          </a:p>
        </p:txBody>
      </p:sp>
      <p:sp>
        <p:nvSpPr>
          <p:cNvPr id="4" name="Slide Number Placeholder 3">
            <a:extLst>
              <a:ext uri="{FF2B5EF4-FFF2-40B4-BE49-F238E27FC236}">
                <a16:creationId xmlns:a16="http://schemas.microsoft.com/office/drawing/2014/main" id="{EF154EF6-DC6E-9736-A02B-18002201FB3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64498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numbers must match those used in the literature review table and research gaps slides. Font size can be reduced to 12pt if you have more than 8 references.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a:effectLst/>
      </p:bgPr>
    </p:bg>
    <p:spTree>
      <p:nvGrpSpPr>
        <p:cNvPr id="1" name=""/>
        <p:cNvGrpSpPr/>
        <p:nvPr/>
      </p:nvGrpSpPr>
      <p:grpSpPr>
        <a:xfrm>
          <a:off x="0" y="0"/>
          <a:ext cx="0" cy="0"/>
          <a:chOff x="0" y="0"/>
          <a:chExt cx="0" cy="0"/>
        </a:xfrm>
      </p:grpSpPr>
      <p:pic>
        <p:nvPicPr>
          <p:cNvPr id="2" name="Image 0" descr="/home/claude/work/logo.png"/>
          <p:cNvPicPr>
            <a:picLocks noChangeAspect="1"/>
          </p:cNvPicPr>
          <p:nvPr/>
        </p:nvPicPr>
        <p:blipFill>
          <a:blip r:embed="rId3"/>
          <a:stretch>
            <a:fillRect/>
          </a:stretch>
        </p:blipFill>
        <p:spPr>
          <a:xfrm>
            <a:off x="4448556" y="0"/>
            <a:ext cx="2349059" cy="829668"/>
          </a:xfrm>
          <a:prstGeom prst="rect">
            <a:avLst/>
          </a:prstGeom>
        </p:spPr>
      </p:pic>
      <p:sp>
        <p:nvSpPr>
          <p:cNvPr id="3" name="Text 0"/>
          <p:cNvSpPr txBox="1"/>
          <p:nvPr/>
        </p:nvSpPr>
        <p:spPr>
          <a:xfrm>
            <a:off x="1920240" y="802685"/>
            <a:ext cx="7799832" cy="1234440"/>
          </a:xfrm>
          <a:prstGeom prst="rect">
            <a:avLst/>
          </a:prstGeom>
          <a:noFill/>
          <a:ln/>
        </p:spPr>
        <p:txBody>
          <a:bodyPr wrap="square" lIns="0" tIns="0" rIns="0" bIns="0" rtlCol="0" anchor="ctr"/>
          <a:lstStyle/>
          <a:p>
            <a:pPr marL="0" indent="0" algn="ctr">
              <a:spcAft>
                <a:spcPts val="400"/>
              </a:spcAft>
              <a:buNone/>
            </a:pPr>
            <a:r>
              <a:rPr lang="en-US" sz="2600" b="1" dirty="0">
                <a:solidFill>
                  <a:srgbClr val="00E5FF"/>
                </a:solidFill>
                <a:latin typeface="Cambria" pitchFamily="34" charset="0"/>
                <a:ea typeface="Cambria" pitchFamily="34" charset="-122"/>
                <a:cs typeface="Cambria" pitchFamily="34" charset="-120"/>
              </a:rPr>
              <a:t>School of Computer Science and Engineering</a:t>
            </a:r>
            <a:endParaRPr lang="en-US" sz="2600" dirty="0"/>
          </a:p>
          <a:p>
            <a:pPr marL="0" indent="0" algn="ctr">
              <a:spcAft>
                <a:spcPts val="400"/>
              </a:spcAft>
              <a:buNone/>
            </a:pPr>
            <a:r>
              <a:rPr lang="en-US" sz="2000" b="1" dirty="0">
                <a:solidFill>
                  <a:srgbClr val="E8EAED"/>
                </a:solidFill>
                <a:latin typeface="Calibri" pitchFamily="34" charset="0"/>
                <a:ea typeface="Calibri" pitchFamily="34" charset="-122"/>
                <a:cs typeface="Calibri" pitchFamily="34" charset="-120"/>
              </a:rPr>
              <a:t>BACSE291 – Innovative Design Project</a:t>
            </a:r>
            <a:endParaRPr lang="en-US" sz="2600" dirty="0"/>
          </a:p>
          <a:p>
            <a:pPr marL="0" indent="0" algn="ctr">
              <a:spcAft>
                <a:spcPts val="400"/>
              </a:spcAft>
              <a:buNone/>
            </a:pPr>
            <a:r>
              <a:rPr lang="en-US" sz="1600" b="1" dirty="0">
                <a:solidFill>
                  <a:srgbClr val="FF2D95"/>
                </a:solidFill>
                <a:latin typeface="Calibri" pitchFamily="34" charset="0"/>
                <a:ea typeface="Calibri" pitchFamily="34" charset="-122"/>
                <a:cs typeface="Calibri" pitchFamily="34" charset="-120"/>
              </a:rPr>
              <a:t>Fall Semester 2026   |   First Review</a:t>
            </a:r>
            <a:endParaRPr lang="en-US" sz="2600" dirty="0"/>
          </a:p>
        </p:txBody>
      </p:sp>
      <p:sp>
        <p:nvSpPr>
          <p:cNvPr id="4" name="Shape 1"/>
          <p:cNvSpPr/>
          <p:nvPr/>
        </p:nvSpPr>
        <p:spPr>
          <a:xfrm>
            <a:off x="548640" y="2219571"/>
            <a:ext cx="11091672" cy="1508760"/>
          </a:xfrm>
          <a:prstGeom prst="roundRect">
            <a:avLst>
              <a:gd name="adj" fmla="val 9091"/>
            </a:avLst>
          </a:prstGeom>
          <a:solidFill>
            <a:srgbClr val="121820"/>
          </a:solidFill>
          <a:ln w="15875">
            <a:solidFill>
              <a:srgbClr val="00E5FF"/>
            </a:solidFill>
            <a:prstDash val="solid"/>
          </a:ln>
        </p:spPr>
        <p:txBody>
          <a:bodyPr/>
          <a:lstStyle/>
          <a:p>
            <a:endParaRPr/>
          </a:p>
        </p:txBody>
      </p:sp>
      <p:sp>
        <p:nvSpPr>
          <p:cNvPr id="5" name="Text 2"/>
          <p:cNvSpPr txBox="1"/>
          <p:nvPr/>
        </p:nvSpPr>
        <p:spPr>
          <a:xfrm>
            <a:off x="914400" y="2356731"/>
            <a:ext cx="10360152" cy="365760"/>
          </a:xfrm>
          <a:prstGeom prst="rect">
            <a:avLst/>
          </a:prstGeom>
          <a:noFill/>
          <a:ln/>
        </p:spPr>
        <p:txBody>
          <a:bodyPr wrap="square" lIns="0" tIns="0" rIns="0" bIns="0" rtlCol="0" anchor="ctr"/>
          <a:lstStyle/>
          <a:p>
            <a:pPr algn="ctr"/>
            <a:r>
              <a:rPr lang="en-US" sz="1600" b="1" kern="0" spc="200" dirty="0">
                <a:solidFill>
                  <a:srgbClr val="F2C46D"/>
                </a:solidFill>
                <a:latin typeface="Calibri" pitchFamily="34" charset="0"/>
                <a:ea typeface="Calibri" pitchFamily="34" charset="-122"/>
                <a:cs typeface="Calibri" pitchFamily="34" charset="-120"/>
              </a:rPr>
              <a:t>PROJECT ID: 22511IDP01</a:t>
            </a:r>
            <a:endParaRPr lang="en-US" sz="1600" dirty="0"/>
          </a:p>
        </p:txBody>
      </p:sp>
      <p:sp>
        <p:nvSpPr>
          <p:cNvPr id="6" name="Text 3"/>
          <p:cNvSpPr txBox="1"/>
          <p:nvPr/>
        </p:nvSpPr>
        <p:spPr>
          <a:xfrm>
            <a:off x="914400" y="2768211"/>
            <a:ext cx="10360152"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Privacy-bounded integrity for online examinations</a:t>
            </a:r>
            <a:endParaRPr lang="en-US" sz="3000" dirty="0"/>
          </a:p>
        </p:txBody>
      </p:sp>
      <p:sp>
        <p:nvSpPr>
          <p:cNvPr id="7" name="Text 4"/>
          <p:cNvSpPr txBox="1"/>
          <p:nvPr/>
        </p:nvSpPr>
        <p:spPr>
          <a:xfrm>
            <a:off x="548640" y="4008686"/>
            <a:ext cx="6766560" cy="320040"/>
          </a:xfrm>
          <a:prstGeom prst="rect">
            <a:avLst/>
          </a:prstGeom>
          <a:noFill/>
          <a:ln/>
        </p:spPr>
        <p:txBody>
          <a:bodyPr wrap="square" lIns="0" tIns="0" rIns="0" bIns="0" rtlCol="0" anchor="ctr"/>
          <a:lstStyle/>
          <a:p>
            <a:pPr marL="0" indent="0">
              <a:buNone/>
            </a:pPr>
            <a:r>
              <a:rPr lang="en-US" sz="1400" b="1" kern="0" spc="200" dirty="0">
                <a:solidFill>
                  <a:srgbClr val="00E5FF"/>
                </a:solidFill>
                <a:latin typeface="Calibri" pitchFamily="34" charset="0"/>
                <a:ea typeface="Calibri" pitchFamily="34" charset="-122"/>
                <a:cs typeface="Calibri" pitchFamily="34" charset="-120"/>
              </a:rPr>
              <a:t>TEAM DETAILS</a:t>
            </a:r>
            <a:endParaRPr lang="en-US" sz="1400" b="1" dirty="0"/>
          </a:p>
        </p:txBody>
      </p:sp>
      <p:graphicFrame>
        <p:nvGraphicFramePr>
          <p:cNvPr id="8" name="Table 0"/>
          <p:cNvGraphicFramePr>
            <a:graphicFrameLocks noGrp="1"/>
          </p:cNvGraphicFramePr>
          <p:nvPr>
            <p:extLst>
              <p:ext uri="{D42A27DB-BD31-4B8C-83A1-F6EECF244321}">
                <p14:modId xmlns:p14="http://schemas.microsoft.com/office/powerpoint/2010/main" val="479454991"/>
              </p:ext>
            </p:extLst>
          </p:nvPr>
        </p:nvGraphicFramePr>
        <p:xfrm>
          <a:off x="548640" y="4465886"/>
          <a:ext cx="6766559" cy="2304288"/>
        </p:xfrm>
        <a:graphic>
          <a:graphicData uri="http://schemas.openxmlformats.org/drawingml/2006/table">
            <a:tbl>
              <a:tblPr/>
              <a:tblGrid>
                <a:gridCol w="555541">
                  <a:extLst>
                    <a:ext uri="{9D8B030D-6E8A-4147-A177-3AD203B41FA5}">
                      <a16:colId xmlns:a16="http://schemas.microsoft.com/office/drawing/2014/main" val="20000"/>
                    </a:ext>
                  </a:extLst>
                </a:gridCol>
                <a:gridCol w="2113472">
                  <a:extLst>
                    <a:ext uri="{9D8B030D-6E8A-4147-A177-3AD203B41FA5}">
                      <a16:colId xmlns:a16="http://schemas.microsoft.com/office/drawing/2014/main" val="20001"/>
                    </a:ext>
                  </a:extLst>
                </a:gridCol>
                <a:gridCol w="1854679">
                  <a:extLst>
                    <a:ext uri="{9D8B030D-6E8A-4147-A177-3AD203B41FA5}">
                      <a16:colId xmlns:a16="http://schemas.microsoft.com/office/drawing/2014/main" val="20002"/>
                    </a:ext>
                  </a:extLst>
                </a:gridCol>
                <a:gridCol w="2242867">
                  <a:extLst>
                    <a:ext uri="{9D8B030D-6E8A-4147-A177-3AD203B41FA5}">
                      <a16:colId xmlns:a16="http://schemas.microsoft.com/office/drawing/2014/main" val="3583345347"/>
                    </a:ext>
                  </a:extLst>
                </a:gridCol>
              </a:tblGrid>
              <a:tr h="384048">
                <a:tc>
                  <a:txBody>
                    <a:bodyPr/>
                    <a:lstStyle/>
                    <a:p>
                      <a:pPr marL="0" indent="0">
                        <a:buNone/>
                      </a:pPr>
                      <a:r>
                        <a:rPr lang="en-US" sz="1300" b="1" dirty="0">
                          <a:solidFill>
                            <a:srgbClr val="0B0F14"/>
                          </a:solidFill>
                          <a:latin typeface="Segoe UI" pitchFamily="34" charset="0"/>
                          <a:ea typeface="Calibri" pitchFamily="34" charset="-122"/>
                          <a:cs typeface="Calibri" pitchFamily="34" charset="-120"/>
                        </a:rPr>
                        <a:t>S.No</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tc>
                  <a:txBody>
                    <a:bodyPr/>
                    <a:lstStyle/>
                    <a:p>
                      <a:pPr marL="0" indent="0">
                        <a:buNone/>
                      </a:pPr>
                      <a:r>
                        <a:rPr lang="en-US" sz="1300" b="1" dirty="0">
                          <a:solidFill>
                            <a:srgbClr val="0B0F14"/>
                          </a:solidFill>
                          <a:latin typeface="Segoe U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tc>
                  <a:txBody>
                    <a:bodyPr/>
                    <a:lstStyle/>
                    <a:p>
                      <a:pPr marL="0" indent="0">
                        <a:buNone/>
                      </a:pPr>
                      <a:r>
                        <a:rPr lang="en-US" sz="1300" b="1" dirty="0">
                          <a:solidFill>
                            <a:srgbClr val="0B0F14"/>
                          </a:solidFill>
                          <a:latin typeface="Segoe UI" pitchFamily="34" charset="0"/>
                          <a:ea typeface="Calibri" pitchFamily="34" charset="-122"/>
                          <a:cs typeface="Calibri" pitchFamily="34" charset="-120"/>
                        </a:rPr>
                        <a:t>Register Number</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tc>
                  <a:txBody>
                    <a:bodyPr/>
                    <a:lstStyle/>
                    <a:p>
                      <a:pPr marL="0" indent="0">
                        <a:buNone/>
                      </a:pPr>
                      <a:r>
                        <a:rPr lang="en-US" sz="1300" b="1" dirty="0">
                          <a:solidFill>
                            <a:srgbClr val="0B0F14"/>
                          </a:solidFill>
                          <a:latin typeface="Segoe UI" charset="0"/>
                          <a:ea typeface="Calibri" charset="0"/>
                          <a:cs typeface="Calibri" charset="0"/>
                        </a:rPr>
                        <a:t>School</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E8EAED"/>
                          </a:solidFill>
                          <a:latin typeface="Segoe UI" charset="0"/>
                          <a:ea typeface="Calibri" charset="0"/>
                          <a:cs typeface="Calibri" charset="0"/>
                        </a:rPr>
                        <a:t>5</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extLst>
                  <a:ext uri="{0D108BD9-81ED-4DB2-BD59-A6C34878D82A}">
                    <a16:rowId xmlns:a16="http://schemas.microsoft.com/office/drawing/2014/main" val="2184975215"/>
                  </a:ext>
                </a:extLst>
              </a:tr>
            </a:tbl>
          </a:graphicData>
        </a:graphic>
      </p:graphicFrame>
      <p:sp>
        <p:nvSpPr>
          <p:cNvPr id="9" name="Text 5"/>
          <p:cNvSpPr txBox="1"/>
          <p:nvPr/>
        </p:nvSpPr>
        <p:spPr>
          <a:xfrm>
            <a:off x="7772400" y="4008686"/>
            <a:ext cx="3867912" cy="320040"/>
          </a:xfrm>
          <a:prstGeom prst="rect">
            <a:avLst/>
          </a:prstGeom>
          <a:noFill/>
          <a:ln/>
        </p:spPr>
        <p:txBody>
          <a:bodyPr wrap="square" lIns="0" tIns="0" rIns="0" bIns="0" rtlCol="0" anchor="ctr"/>
          <a:lstStyle/>
          <a:p>
            <a:pPr marL="0" indent="0">
              <a:buNone/>
            </a:pPr>
            <a:r>
              <a:rPr lang="en-US" sz="1400" b="1" kern="0" spc="200" dirty="0">
                <a:solidFill>
                  <a:srgbClr val="00E5FF"/>
                </a:solidFill>
                <a:latin typeface="Calibri" pitchFamily="34" charset="0"/>
                <a:ea typeface="Calibri" pitchFamily="34" charset="-122"/>
                <a:cs typeface="Calibri" pitchFamily="34" charset="-120"/>
              </a:rPr>
              <a:t>GUIDE DETAILS</a:t>
            </a:r>
            <a:endParaRPr lang="en-US" sz="1400" dirty="0"/>
          </a:p>
        </p:txBody>
      </p:sp>
      <p:sp>
        <p:nvSpPr>
          <p:cNvPr id="10" name="Shape 6"/>
          <p:cNvSpPr/>
          <p:nvPr/>
        </p:nvSpPr>
        <p:spPr>
          <a:xfrm>
            <a:off x="7781544" y="4465886"/>
            <a:ext cx="3867912" cy="1920240"/>
          </a:xfrm>
          <a:prstGeom prst="roundRect">
            <a:avLst>
              <a:gd name="adj" fmla="val 5714"/>
            </a:avLst>
          </a:prstGeom>
          <a:solidFill>
            <a:srgbClr val="121820"/>
          </a:solidFill>
          <a:ln w="15875">
            <a:solidFill>
              <a:srgbClr val="00E5FF"/>
            </a:solidFill>
            <a:prstDash val="solid"/>
          </a:ln>
        </p:spPr>
        <p:txBody>
          <a:bodyPr/>
          <a:lstStyle/>
          <a:p>
            <a:endParaRPr/>
          </a:p>
        </p:txBody>
      </p:sp>
      <p:sp>
        <p:nvSpPr>
          <p:cNvPr id="11" name="Text 7"/>
          <p:cNvSpPr txBox="1"/>
          <p:nvPr/>
        </p:nvSpPr>
        <p:spPr>
          <a:xfrm>
            <a:off x="8001000" y="4465886"/>
            <a:ext cx="3429000" cy="1737360"/>
          </a:xfrm>
          <a:prstGeom prst="rect">
            <a:avLst/>
          </a:prstGeom>
          <a:noFill/>
          <a:ln/>
        </p:spPr>
        <p:txBody>
          <a:bodyPr wrap="square" lIns="0" tIns="0" rIns="0" bIns="0" rtlCol="0" anchor="ctr"/>
          <a:lstStyle/>
          <a:p>
            <a:pPr marL="0" indent="0">
              <a:spcAft>
                <a:spcPts val="600"/>
              </a:spcAft>
              <a:buNone/>
            </a:pPr>
            <a:r>
              <a:rPr lang="en-US" sz="2000" b="1" dirty="0">
                <a:solidFill>
                  <a:srgbClr val="00E5FF"/>
                </a:solidFill>
                <a:latin typeface="Cambria" pitchFamily="34" charset="0"/>
                <a:ea typeface="Cambria" pitchFamily="34" charset="-122"/>
                <a:cs typeface="Cambria" pitchFamily="34" charset="-120"/>
              </a:rPr>
              <a:t>Guide Name</a:t>
            </a:r>
            <a:endParaRPr lang="en-US" sz="2000" dirty="0"/>
          </a:p>
          <a:p>
            <a:pPr marL="0" indent="0">
              <a:spcAft>
                <a:spcPts val="600"/>
              </a:spcAft>
              <a:buNone/>
            </a:pPr>
            <a:r>
              <a:rPr lang="en-US" sz="1400" dirty="0">
                <a:solidFill>
                  <a:srgbClr val="E8EAED"/>
                </a:solidFill>
                <a:latin typeface="Calibri" pitchFamily="34" charset="0"/>
                <a:ea typeface="Calibri" pitchFamily="34" charset="-122"/>
                <a:cs typeface="Calibri" pitchFamily="34" charset="-120"/>
              </a:rPr>
              <a:t>Designation</a:t>
            </a:r>
            <a:endParaRPr lang="en-US" sz="2000" dirty="0"/>
          </a:p>
          <a:p>
            <a:pPr marL="0" indent="0">
              <a:spcAft>
                <a:spcPts val="600"/>
              </a:spcAft>
              <a:buNone/>
            </a:pPr>
            <a:r>
              <a:rPr lang="en-US" sz="1400" dirty="0">
                <a:solidFill>
                  <a:srgbClr val="E8EAED"/>
                </a:solidFill>
                <a:latin typeface="Calibri" pitchFamily="34" charset="0"/>
                <a:ea typeface="Calibri" pitchFamily="34" charset="-122"/>
                <a:cs typeface="Calibri" pitchFamily="34" charset="-120"/>
              </a:rPr>
              <a:t>School</a:t>
            </a:r>
            <a:endParaRPr lang="en-US" sz="2000" dirty="0"/>
          </a:p>
        </p:txBody>
      </p:sp>
      <p:graphicFrame>
        <p:nvGraphicFramePr>
          <p:cNvPr id="17" name="Table 0">
            <a:extLst>
              <a:ext uri="{FF2B5EF4-FFF2-40B4-BE49-F238E27FC236}">
                <a16:creationId xmlns:a16="http://schemas.microsoft.com/office/drawing/2014/main" id="{8945BD22-A2A5-1CDD-E93E-7FCE52158678}"/>
              </a:ext>
            </a:extLst>
          </p:cNvPr>
          <p:cNvGraphicFramePr>
            <a:graphicFrameLocks noGrp="1"/>
          </p:cNvGraphicFramePr>
          <p:nvPr>
            <p:extLst>
              <p:ext uri="{D42A27DB-BD31-4B8C-83A1-F6EECF244321}">
                <p14:modId xmlns:p14="http://schemas.microsoft.com/office/powerpoint/2010/main" val="3066465043"/>
              </p:ext>
            </p:extLst>
          </p:nvPr>
        </p:nvGraphicFramePr>
        <p:xfrm>
          <a:off x="548641" y="4470102"/>
          <a:ext cx="6766559" cy="2387898"/>
        </p:xfrm>
        <a:graphic>
          <a:graphicData uri="http://schemas.openxmlformats.org/drawingml/2006/table">
            <a:tbl>
              <a:tblPr/>
              <a:tblGrid>
                <a:gridCol w="555541">
                  <a:extLst>
                    <a:ext uri="{9D8B030D-6E8A-4147-A177-3AD203B41FA5}">
                      <a16:colId xmlns:a16="http://schemas.microsoft.com/office/drawing/2014/main" val="20000"/>
                    </a:ext>
                  </a:extLst>
                </a:gridCol>
                <a:gridCol w="2113472">
                  <a:extLst>
                    <a:ext uri="{9D8B030D-6E8A-4147-A177-3AD203B41FA5}">
                      <a16:colId xmlns:a16="http://schemas.microsoft.com/office/drawing/2014/main" val="20001"/>
                    </a:ext>
                  </a:extLst>
                </a:gridCol>
                <a:gridCol w="1854679">
                  <a:extLst>
                    <a:ext uri="{9D8B030D-6E8A-4147-A177-3AD203B41FA5}">
                      <a16:colId xmlns:a16="http://schemas.microsoft.com/office/drawing/2014/main" val="20002"/>
                    </a:ext>
                  </a:extLst>
                </a:gridCol>
                <a:gridCol w="2242867">
                  <a:extLst>
                    <a:ext uri="{9D8B030D-6E8A-4147-A177-3AD203B41FA5}">
                      <a16:colId xmlns:a16="http://schemas.microsoft.com/office/drawing/2014/main" val="3583345347"/>
                    </a:ext>
                  </a:extLst>
                </a:gridCol>
              </a:tblGrid>
              <a:tr h="397983">
                <a:tc>
                  <a:txBody>
                    <a:bodyPr/>
                    <a:lstStyle/>
                    <a:p>
                      <a:pPr marL="0" indent="0">
                        <a:buNone/>
                      </a:pPr>
                      <a:r>
                        <a:rPr lang="en-US" sz="1300" b="1" dirty="0">
                          <a:solidFill>
                            <a:srgbClr val="0B0F14"/>
                          </a:solidFill>
                          <a:latin typeface="Segoe UI" pitchFamily="34" charset="0"/>
                          <a:ea typeface="Calibri" pitchFamily="34" charset="-122"/>
                          <a:cs typeface="Calibri" pitchFamily="34" charset="-120"/>
                        </a:rPr>
                        <a:t>S.No</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tc>
                  <a:txBody>
                    <a:bodyPr/>
                    <a:lstStyle/>
                    <a:p>
                      <a:pPr marL="0" indent="0">
                        <a:buNone/>
                      </a:pPr>
                      <a:r>
                        <a:rPr lang="en-US" sz="1300" b="1" dirty="0">
                          <a:solidFill>
                            <a:srgbClr val="0B0F14"/>
                          </a:solidFill>
                          <a:latin typeface="Segoe U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tc>
                  <a:txBody>
                    <a:bodyPr/>
                    <a:lstStyle/>
                    <a:p>
                      <a:pPr marL="0" indent="0">
                        <a:buNone/>
                      </a:pPr>
                      <a:r>
                        <a:rPr lang="en-US" sz="1300" b="1" dirty="0">
                          <a:solidFill>
                            <a:srgbClr val="0B0F14"/>
                          </a:solidFill>
                          <a:latin typeface="Segoe UI" pitchFamily="34" charset="0"/>
                          <a:ea typeface="Calibri" pitchFamily="34" charset="-122"/>
                          <a:cs typeface="Calibri" pitchFamily="34" charset="-120"/>
                        </a:rPr>
                        <a:t>Register Number</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tc>
                  <a:txBody>
                    <a:bodyPr/>
                    <a:lstStyle/>
                    <a:p>
                      <a:pPr marL="0" indent="0">
                        <a:buNone/>
                      </a:pPr>
                      <a:r>
                        <a:rPr lang="en-US" sz="1300" b="1" dirty="0">
                          <a:solidFill>
                            <a:srgbClr val="0B0F14"/>
                          </a:solidFill>
                          <a:latin typeface="Segoe UI" charset="0"/>
                          <a:ea typeface="Calibri" charset="0"/>
                          <a:cs typeface="Calibri" charset="0"/>
                        </a:rPr>
                        <a:t>School</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397983">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Dhruv</a:t>
                      </a:r>
                      <a:r>
                        <a:rPr lang="en-US" sz="1300" b="1" dirty="0">
                          <a:latin typeface="Calibri" charset="0"/>
                          <a:ea typeface="Calibri" charset="0"/>
                          <a:cs typeface="Calibri" charset="0"/>
                        </a:rPr>
                        <a:t> </a:t>
                      </a:r>
                      <a:r>
                        <a:rPr lang="en-US" sz="1300" b="1" dirty="0">
                          <a:solidFill>
                            <a:schemeClr val="bg1"/>
                          </a:solidFill>
                          <a:latin typeface="Calibri" charset="0"/>
                          <a:ea typeface="Calibri" charset="0"/>
                          <a:cs typeface="Calibri" charset="0"/>
                        </a:rPr>
                        <a:t>Rana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25BBS0111</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SCOPE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397983">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r>
                        <a:rPr lang="en-US" sz="1300" b="1" dirty="0">
                          <a:solidFill>
                            <a:schemeClr val="bg1"/>
                          </a:solidFill>
                          <a:latin typeface="Calibri" charset="0"/>
                          <a:ea typeface="Calibri" charset="0"/>
                          <a:cs typeface="Calibri" charset="0"/>
                        </a:rPr>
                        <a:t>Rudransh Mishra</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r>
                        <a:rPr lang="en-US" sz="1300" b="1" dirty="0">
                          <a:solidFill>
                            <a:schemeClr val="bg1"/>
                          </a:solidFill>
                          <a:latin typeface="Calibri" charset="0"/>
                          <a:ea typeface="Calibri" charset="0"/>
                          <a:cs typeface="Calibri" charset="0"/>
                        </a:rPr>
                        <a:t>25BBS0113</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r>
                        <a:rPr lang="en-US" sz="1300" b="1" dirty="0">
                          <a:solidFill>
                            <a:schemeClr val="bg1"/>
                          </a:solidFill>
                          <a:latin typeface="Calibri" charset="0"/>
                          <a:ea typeface="Calibri" charset="0"/>
                          <a:cs typeface="Calibri" charset="0"/>
                        </a:rPr>
                        <a:t>SCOPE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397983">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err="1">
                          <a:solidFill>
                            <a:schemeClr val="bg1"/>
                          </a:solidFill>
                          <a:latin typeface="Calibri" charset="0"/>
                          <a:ea typeface="Calibri" charset="0"/>
                          <a:cs typeface="Calibri" charset="0"/>
                        </a:rPr>
                        <a:t>Prasidha</a:t>
                      </a:r>
                      <a:r>
                        <a:rPr lang="en-US" sz="1300" b="1" dirty="0">
                          <a:solidFill>
                            <a:schemeClr val="bg1"/>
                          </a:solidFill>
                          <a:latin typeface="Calibri" charset="0"/>
                          <a:ea typeface="Calibri" charset="0"/>
                          <a:cs typeface="Calibri" charset="0"/>
                        </a:rPr>
                        <a:t> M</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25BBS0099</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SCOPE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397983">
                <a:tc>
                  <a:txBody>
                    <a:bodyPr/>
                    <a:lstStyle/>
                    <a:p>
                      <a:pPr marL="0" indent="0">
                        <a:buNone/>
                      </a:pPr>
                      <a:r>
                        <a:rPr lang="en-US" sz="1300" dirty="0">
                          <a:solidFill>
                            <a:srgbClr val="E8EAED"/>
                          </a:solidFill>
                          <a:latin typeface="Segoe U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r>
                        <a:rPr lang="en-US" sz="1300" b="1" dirty="0">
                          <a:solidFill>
                            <a:schemeClr val="bg1"/>
                          </a:solidFill>
                          <a:latin typeface="Calibri" charset="0"/>
                          <a:ea typeface="Calibri" charset="0"/>
                          <a:cs typeface="Calibri" charset="0"/>
                        </a:rPr>
                        <a:t>Hardik </a:t>
                      </a:r>
                      <a:r>
                        <a:rPr lang="en-US" sz="1300" b="1" dirty="0" err="1">
                          <a:solidFill>
                            <a:schemeClr val="bg1"/>
                          </a:solidFill>
                          <a:latin typeface="Calibri" charset="0"/>
                          <a:ea typeface="Calibri" charset="0"/>
                          <a:cs typeface="Calibri" charset="0"/>
                        </a:rPr>
                        <a:t>Nigotia</a:t>
                      </a:r>
                      <a:r>
                        <a:rPr lang="en-US" sz="1300" b="1" dirty="0">
                          <a:solidFill>
                            <a:schemeClr val="bg1"/>
                          </a:solidFill>
                          <a:latin typeface="Calibri" charset="0"/>
                          <a:ea typeface="Calibri" charset="0"/>
                          <a:cs typeface="Calibri" charset="0"/>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r>
                        <a:rPr lang="en-US" sz="1300" b="1" dirty="0">
                          <a:solidFill>
                            <a:schemeClr val="bg1"/>
                          </a:solidFill>
                          <a:latin typeface="Calibri" charset="0"/>
                          <a:ea typeface="Calibri" charset="0"/>
                          <a:cs typeface="Calibri" charset="0"/>
                        </a:rPr>
                        <a:t>25BDS0046</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tc>
                  <a:txBody>
                    <a:bodyPr/>
                    <a:lstStyle/>
                    <a:p>
                      <a:pPr marL="0" indent="0">
                        <a:buNone/>
                      </a:pPr>
                      <a:r>
                        <a:rPr lang="en-US" sz="1300" b="1" dirty="0">
                          <a:solidFill>
                            <a:schemeClr val="bg1"/>
                          </a:solidFill>
                          <a:latin typeface="Calibri" charset="0"/>
                          <a:ea typeface="Calibri" charset="0"/>
                          <a:cs typeface="Calibri" charset="0"/>
                        </a:rPr>
                        <a:t>SCOPE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397983">
                <a:tc>
                  <a:txBody>
                    <a:bodyPr/>
                    <a:lstStyle/>
                    <a:p>
                      <a:pPr marL="0" indent="0">
                        <a:buNone/>
                      </a:pPr>
                      <a:r>
                        <a:rPr lang="en-US" sz="1300" dirty="0">
                          <a:solidFill>
                            <a:srgbClr val="E8EAED"/>
                          </a:solidFill>
                          <a:latin typeface="Segoe UI" charset="0"/>
                          <a:ea typeface="Calibri" charset="0"/>
                          <a:cs typeface="Calibri" charset="0"/>
                        </a:rPr>
                        <a:t>5</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Aniket Raghuvanshi</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25BDS0012</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tc>
                  <a:txBody>
                    <a:bodyPr/>
                    <a:lstStyle/>
                    <a:p>
                      <a:pPr marL="0" indent="0">
                        <a:buNone/>
                      </a:pPr>
                      <a:r>
                        <a:rPr lang="en-US" sz="1300" b="1" dirty="0">
                          <a:solidFill>
                            <a:schemeClr val="bg1"/>
                          </a:solidFill>
                          <a:latin typeface="Calibri" charset="0"/>
                          <a:ea typeface="Calibri" charset="0"/>
                          <a:cs typeface="Calibri" charset="0"/>
                        </a:rPr>
                        <a:t>SCOPE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1820"/>
                    </a:solidFill>
                  </a:tcPr>
                </a:tc>
                <a:extLst>
                  <a:ext uri="{0D108BD9-81ED-4DB2-BD59-A6C34878D82A}">
                    <a16:rowId xmlns:a16="http://schemas.microsoft.com/office/drawing/2014/main" val="2184975215"/>
                  </a:ext>
                </a:extLst>
              </a:tr>
            </a:tbl>
          </a:graphicData>
        </a:graphic>
      </p:graphicFrame>
      <p:sp>
        <p:nvSpPr>
          <p:cNvPr id="19" name="Shape 6">
            <a:extLst>
              <a:ext uri="{FF2B5EF4-FFF2-40B4-BE49-F238E27FC236}">
                <a16:creationId xmlns:a16="http://schemas.microsoft.com/office/drawing/2014/main" id="{5980E691-D4EC-2EDC-E770-D6E3DDD12275}"/>
              </a:ext>
            </a:extLst>
          </p:cNvPr>
          <p:cNvSpPr/>
          <p:nvPr/>
        </p:nvSpPr>
        <p:spPr>
          <a:xfrm>
            <a:off x="7643003" y="4465886"/>
            <a:ext cx="4339087" cy="1920240"/>
          </a:xfrm>
          <a:prstGeom prst="roundRect">
            <a:avLst>
              <a:gd name="adj" fmla="val 5714"/>
            </a:avLst>
          </a:prstGeom>
          <a:solidFill>
            <a:srgbClr val="121820"/>
          </a:solidFill>
          <a:ln w="15875">
            <a:solidFill>
              <a:srgbClr val="00E5FF"/>
            </a:solidFill>
            <a:prstDash val="solid"/>
          </a:ln>
        </p:spPr>
        <p:txBody>
          <a:bodyPr/>
          <a:lstStyle/>
          <a:p>
            <a:endParaRPr lang="en-US" b="1" dirty="0">
              <a:solidFill>
                <a:schemeClr val="bg1"/>
              </a:solidFill>
            </a:endParaRPr>
          </a:p>
          <a:p>
            <a:r>
              <a:rPr lang="en-US" b="1" dirty="0">
                <a:solidFill>
                  <a:schemeClr val="bg1"/>
                </a:solidFill>
              </a:rPr>
              <a:t>Guide Name </a:t>
            </a:r>
            <a:r>
              <a:rPr lang="en-US" dirty="0">
                <a:solidFill>
                  <a:schemeClr val="bg1"/>
                </a:solidFill>
              </a:rPr>
              <a:t>: </a:t>
            </a:r>
            <a:r>
              <a:rPr lang="en-IN" b="1" dirty="0">
                <a:solidFill>
                  <a:schemeClr val="bg1"/>
                </a:solidFill>
              </a:rPr>
              <a:t>Ankush Girdhar</a:t>
            </a:r>
          </a:p>
          <a:p>
            <a:r>
              <a:rPr lang="en-US" b="1" dirty="0">
                <a:solidFill>
                  <a:schemeClr val="bg1"/>
                </a:solidFill>
              </a:rPr>
              <a:t>Designation : Assistant Professor Grade 1</a:t>
            </a:r>
          </a:p>
          <a:p>
            <a:r>
              <a:rPr lang="en-IN" b="1" dirty="0">
                <a:solidFill>
                  <a:schemeClr val="bg1"/>
                </a:solidFill>
              </a:rPr>
              <a:t>Employee Id</a:t>
            </a:r>
            <a:r>
              <a:rPr lang="en-US" b="1" dirty="0">
                <a:solidFill>
                  <a:schemeClr val="bg1"/>
                </a:solidFill>
              </a:rPr>
              <a:t> : </a:t>
            </a:r>
            <a:r>
              <a:rPr lang="en-IN" b="1" dirty="0">
                <a:solidFill>
                  <a:schemeClr val="bg1"/>
                </a:solidFill>
              </a:rPr>
              <a:t>22511</a:t>
            </a:r>
            <a:endParaRPr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24798-BBF1-0EF9-75D9-30808BEE2641}"/>
              </a:ext>
            </a:extLst>
          </p:cNvPr>
          <p:cNvSpPr txBox="1"/>
          <p:nvPr/>
        </p:nvSpPr>
        <p:spPr>
          <a:xfrm>
            <a:off x="2631440" y="360700"/>
            <a:ext cx="5347682" cy="523220"/>
          </a:xfrm>
          <a:prstGeom prst="rect">
            <a:avLst/>
          </a:prstGeom>
          <a:noFill/>
        </p:spPr>
        <p:txBody>
          <a:bodyPr wrap="none" rtlCol="0">
            <a:spAutoFit/>
          </a:bodyPr>
          <a:lstStyle/>
          <a:p>
            <a:r>
              <a:rPr lang="en-IN" sz="2800" b="1" dirty="0">
                <a:solidFill>
                  <a:srgbClr val="E8EAED"/>
                </a:solidFill>
              </a:rPr>
              <a:t>Screenshot of Guide Approval mail</a:t>
            </a:r>
          </a:p>
        </p:txBody>
      </p:sp>
      <p:sp>
        <p:nvSpPr>
          <p:cNvPr id="4" name="TextBox 3">
            <a:extLst>
              <a:ext uri="{FF2B5EF4-FFF2-40B4-BE49-F238E27FC236}">
                <a16:creationId xmlns:a16="http://schemas.microsoft.com/office/drawing/2014/main" id="{3C433931-F807-A5A4-FA7C-08C8E13103E8}"/>
              </a:ext>
            </a:extLst>
          </p:cNvPr>
          <p:cNvSpPr txBox="1"/>
          <p:nvPr/>
        </p:nvSpPr>
        <p:spPr>
          <a:xfrm>
            <a:off x="924560" y="1371600"/>
            <a:ext cx="8950960" cy="3341043"/>
          </a:xfrm>
          <a:prstGeom prst="rect">
            <a:avLst/>
          </a:prstGeom>
          <a:noFill/>
        </p:spPr>
        <p:txBody>
          <a:bodyPr wrap="square">
            <a:spAutoFit/>
          </a:bodyPr>
          <a:lstStyle/>
          <a:p>
            <a:pPr marL="914400" indent="0" algn="l">
              <a:lnSpc>
                <a:spcPct val="200000"/>
              </a:lnSpc>
              <a:buNone/>
            </a:pPr>
            <a:r>
              <a:rPr lang="en-IN" sz="1800" b="1" i="0" dirty="0">
                <a:solidFill>
                  <a:srgbClr val="E8EAED"/>
                </a:solidFill>
                <a:effectLst/>
                <a:latin typeface="+mn-lt"/>
              </a:rPr>
              <a:t>Project ID:</a:t>
            </a:r>
            <a:endParaRPr lang="en-IN" sz="1800" b="0" i="0" dirty="0">
              <a:solidFill>
                <a:schemeClr val="tx1"/>
              </a:solidFill>
              <a:effectLst/>
              <a:latin typeface="+mn-lt"/>
            </a:endParaRPr>
          </a:p>
          <a:p>
            <a:pPr marL="914400" indent="0" algn="l">
              <a:lnSpc>
                <a:spcPct val="200000"/>
              </a:lnSpc>
              <a:spcAft>
                <a:spcPts val="800"/>
              </a:spcAft>
              <a:buNone/>
            </a:pPr>
            <a:r>
              <a:rPr lang="en-IN" sz="1800" b="1" i="0" dirty="0">
                <a:solidFill>
                  <a:srgbClr val="E8EAED"/>
                </a:solidFill>
                <a:effectLst/>
                <a:latin typeface="+mn-lt"/>
              </a:rPr>
              <a:t>Project title: Privacy-bounded integrity for online examinations</a:t>
            </a:r>
            <a:endParaRPr lang="en-IN" sz="1200" b="0" i="0" dirty="0">
              <a:solidFill>
                <a:srgbClr val="222222"/>
              </a:solidFill>
              <a:effectLst/>
              <a:latin typeface="Aptos" panose="020B0004020202020204" pitchFamily="34" charset="0"/>
            </a:endParaRPr>
          </a:p>
          <a:p>
            <a:r>
              <a:rPr>
                <a:solidFill>
                  <a:srgbClr val="E8EAED"/>
                </a:solidFill>
              </a:rPr>
              <a:t>Title finalized and updated on VTOP: Yes / No</a:t>
            </a:r>
          </a:p>
          <a:p>
            <a:r>
              <a:rPr>
                <a:solidFill>
                  <a:srgbClr val="E8EAED"/>
                </a:solidFill>
              </a:rPr>
              <a:t>PPT approved: Yes / No</a:t>
            </a:r>
          </a:p>
          <a:p>
            <a:r>
              <a:rPr>
                <a:solidFill>
                  <a:srgbClr val="E8EAED"/>
                </a:solidFill>
              </a:rPr>
              <a:t>Meeting with guide frequently: Satisfied / Not Satisfied</a:t>
            </a:r>
          </a:p>
          <a:p>
            <a:r>
              <a:rPr>
                <a:solidFill>
                  <a:srgbClr val="E8EAED"/>
                </a:solidFill>
              </a:rPr>
              <a:t>Remarks:</a:t>
            </a:r>
          </a:p>
        </p:txBody>
      </p:sp>
    </p:spTree>
    <p:extLst>
      <p:ext uri="{BB962C8B-B14F-4D97-AF65-F5344CB8AC3E}">
        <p14:creationId xmlns:p14="http://schemas.microsoft.com/office/powerpoint/2010/main" val="2128950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Domain</a:t>
            </a:r>
            <a:endParaRPr lang="en-US" sz="3400" dirty="0"/>
          </a:p>
        </p:txBody>
      </p:sp>
      <p:sp>
        <p:nvSpPr>
          <p:cNvPr id="5" name="Shape 2"/>
          <p:cNvSpPr/>
          <p:nvPr/>
        </p:nvSpPr>
        <p:spPr>
          <a:xfrm>
            <a:off x="548640" y="1280160"/>
            <a:ext cx="11091672" cy="777240"/>
          </a:xfrm>
          <a:prstGeom prst="roundRect">
            <a:avLst>
              <a:gd name="adj" fmla="val 21818"/>
            </a:avLst>
          </a:prstGeom>
          <a:solidFill>
            <a:srgbClr val="121820"/>
          </a:solidFill>
          <a:ln w="15875">
            <a:solidFill>
              <a:srgbClr val="00E5FF"/>
            </a:solidFill>
            <a:prstDash val="solid"/>
          </a:ln>
        </p:spPr>
        <p:txBody>
          <a:bodyPr/>
          <a:lstStyle/>
          <a:p>
            <a:endParaRPr/>
          </a:p>
        </p:txBody>
      </p:sp>
      <p:sp>
        <p:nvSpPr>
          <p:cNvPr id="6" name="Text 3"/>
          <p:cNvSpPr txBox="1"/>
          <p:nvPr/>
        </p:nvSpPr>
        <p:spPr>
          <a:xfrm>
            <a:off x="822960" y="1325880"/>
            <a:ext cx="10634472" cy="68580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Domain: online examination integrity</a:t>
            </a:r>
          </a:p>
          <a:p>
            <a:pPr marL="0" indent="0">
              <a:buNone/>
            </a:pPr>
            <a:r>
              <a:rPr lang="en-US" sz="1400" b="1" dirty="0">
                <a:solidFill>
                  <a:srgbClr val="00E5FF"/>
                </a:solidFill>
                <a:latin typeface="Calibri" pitchFamily="34" charset="0"/>
                <a:ea typeface="Calibri" pitchFamily="34" charset="-122"/>
                <a:cs typeface="Calibri" pitchFamily="34" charset="-120"/>
              </a:rPr>
              <a:t>Application area: college exams taken on student devices</a:t>
            </a:r>
            <a:endParaRPr lang="en-US" sz="1400" dirty="0"/>
          </a:p>
        </p:txBody>
      </p:sp>
      <p:sp>
        <p:nvSpPr>
          <p:cNvPr id="7" name="Shape 4"/>
          <p:cNvSpPr/>
          <p:nvPr/>
        </p:nvSpPr>
        <p:spPr>
          <a:xfrm>
            <a:off x="548640"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8" name="Shape 5"/>
          <p:cNvSpPr/>
          <p:nvPr/>
        </p:nvSpPr>
        <p:spPr>
          <a:xfrm>
            <a:off x="822960" y="2606040"/>
            <a:ext cx="548640" cy="548640"/>
          </a:xfrm>
          <a:prstGeom prst="ellipse">
            <a:avLst/>
          </a:prstGeom>
          <a:solidFill>
            <a:srgbClr val="00E5FF"/>
          </a:solidFill>
          <a:ln w="15875">
            <a:solidFill>
              <a:srgbClr val="00E5FF"/>
            </a:solidFill>
            <a:prstDash val="solid"/>
          </a:ln>
        </p:spPr>
        <p:txBody>
          <a:bodyPr/>
          <a:lstStyle/>
          <a:p>
            <a:endParaRPr/>
          </a:p>
        </p:txBody>
      </p:sp>
      <p:sp>
        <p:nvSpPr>
          <p:cNvPr id="9" name="Text 6"/>
          <p:cNvSpPr txBox="1"/>
          <p:nvPr/>
        </p:nvSpPr>
        <p:spPr>
          <a:xfrm>
            <a:off x="822960"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1</a:t>
            </a:r>
            <a:endParaRPr lang="en-US" sz="2000" dirty="0"/>
          </a:p>
        </p:txBody>
      </p:sp>
      <p:sp>
        <p:nvSpPr>
          <p:cNvPr id="10" name="Text 7"/>
          <p:cNvSpPr txBox="1"/>
          <p:nvPr/>
        </p:nvSpPr>
        <p:spPr>
          <a:xfrm>
            <a:off x="1508760"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The setting</a:t>
            </a:r>
            <a:endParaRPr lang="en-US" sz="2000" dirty="0"/>
          </a:p>
        </p:txBody>
      </p:sp>
      <p:sp>
        <p:nvSpPr>
          <p:cNvPr id="11" name="Text 8"/>
          <p:cNvSpPr txBox="1"/>
          <p:nvPr/>
        </p:nvSpPr>
        <p:spPr>
          <a:xfrm>
            <a:off x="822960"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Faculty publish one exam from their own device.</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Students sit that same exam on their own machines.</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room is not a locked lab.</a:t>
            </a:r>
            <a:endParaRPr lang="en-US" sz="1500" dirty="0"/>
          </a:p>
        </p:txBody>
      </p:sp>
      <p:sp>
        <p:nvSpPr>
          <p:cNvPr id="12" name="Shape 9"/>
          <p:cNvSpPr/>
          <p:nvPr/>
        </p:nvSpPr>
        <p:spPr>
          <a:xfrm>
            <a:off x="4334256"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13" name="Shape 10"/>
          <p:cNvSpPr/>
          <p:nvPr/>
        </p:nvSpPr>
        <p:spPr>
          <a:xfrm>
            <a:off x="4608576" y="2606040"/>
            <a:ext cx="548640" cy="548640"/>
          </a:xfrm>
          <a:prstGeom prst="ellipse">
            <a:avLst/>
          </a:prstGeom>
          <a:solidFill>
            <a:srgbClr val="00E5FF"/>
          </a:solidFill>
          <a:ln w="15875">
            <a:solidFill>
              <a:srgbClr val="00E5FF"/>
            </a:solidFill>
            <a:prstDash val="solid"/>
          </a:ln>
        </p:spPr>
        <p:txBody>
          <a:bodyPr/>
          <a:lstStyle/>
          <a:p>
            <a:endParaRPr/>
          </a:p>
        </p:txBody>
      </p:sp>
      <p:sp>
        <p:nvSpPr>
          <p:cNvPr id="14" name="Text 11"/>
          <p:cNvSpPr txBox="1"/>
          <p:nvPr/>
        </p:nvSpPr>
        <p:spPr>
          <a:xfrm>
            <a:off x="4608576"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2</a:t>
            </a:r>
            <a:endParaRPr lang="en-US" sz="2000" dirty="0"/>
          </a:p>
        </p:txBody>
      </p:sp>
      <p:sp>
        <p:nvSpPr>
          <p:cNvPr id="15" name="Text 12"/>
          <p:cNvSpPr txBox="1"/>
          <p:nvPr/>
        </p:nvSpPr>
        <p:spPr>
          <a:xfrm>
            <a:off x="5294376"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Field default</a:t>
            </a:r>
            <a:endParaRPr lang="en-US" sz="2000" dirty="0"/>
          </a:p>
        </p:txBody>
      </p:sp>
      <p:sp>
        <p:nvSpPr>
          <p:cNvPr id="16" name="Text 13"/>
          <p:cNvSpPr txBox="1"/>
          <p:nvPr/>
        </p:nvSpPr>
        <p:spPr>
          <a:xfrm>
            <a:off x="4608576"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Commercial tools start with the webcam, gaze, and a lockdown browser.</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flag is often a score without a published rule.</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Students treat that monitoring as a breach.</a:t>
            </a:r>
            <a:endParaRPr lang="en-US" sz="1500" dirty="0"/>
          </a:p>
        </p:txBody>
      </p:sp>
      <p:sp>
        <p:nvSpPr>
          <p:cNvPr id="17" name="Shape 14"/>
          <p:cNvSpPr/>
          <p:nvPr/>
        </p:nvSpPr>
        <p:spPr>
          <a:xfrm>
            <a:off x="8119872"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18" name="Shape 15"/>
          <p:cNvSpPr/>
          <p:nvPr/>
        </p:nvSpPr>
        <p:spPr>
          <a:xfrm>
            <a:off x="8394192" y="2606040"/>
            <a:ext cx="548640" cy="548640"/>
          </a:xfrm>
          <a:prstGeom prst="ellipse">
            <a:avLst/>
          </a:prstGeom>
          <a:solidFill>
            <a:srgbClr val="00E5FF"/>
          </a:solidFill>
          <a:ln w="15875">
            <a:solidFill>
              <a:srgbClr val="00E5FF"/>
            </a:solidFill>
            <a:prstDash val="solid"/>
          </a:ln>
        </p:spPr>
        <p:txBody>
          <a:bodyPr/>
          <a:lstStyle/>
          <a:p>
            <a:endParaRPr/>
          </a:p>
        </p:txBody>
      </p:sp>
      <p:sp>
        <p:nvSpPr>
          <p:cNvPr id="19" name="Text 16"/>
          <p:cNvSpPr txBox="1"/>
          <p:nvPr/>
        </p:nvSpPr>
        <p:spPr>
          <a:xfrm>
            <a:off x="8394192"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3</a:t>
            </a:r>
            <a:endParaRPr lang="en-US" sz="2000" dirty="0"/>
          </a:p>
        </p:txBody>
      </p:sp>
      <p:sp>
        <p:nvSpPr>
          <p:cNvPr id="20" name="Text 17"/>
          <p:cNvSpPr txBox="1"/>
          <p:nvPr/>
        </p:nvSpPr>
        <p:spPr>
          <a:xfrm>
            <a:off x="9079992"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The boundary</a:t>
            </a:r>
            <a:endParaRPr lang="en-US" sz="2000" dirty="0"/>
          </a:p>
        </p:txBody>
      </p:sp>
      <p:sp>
        <p:nvSpPr>
          <p:cNvPr id="21" name="Text 18"/>
          <p:cNvSpPr txBox="1"/>
          <p:nvPr/>
        </p:nvSpPr>
        <p:spPr>
          <a:xfrm>
            <a:off x="8394192"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We do not record face, voice, keystrokes, titles, URLs, screenshots, or files.</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A second phone is outside the threat model.</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score is not a verdict.</a:t>
            </a:r>
            <a:endParaRPr lang="en-US" sz="1500" dirty="0"/>
          </a:p>
        </p:txBody>
      </p:sp>
      <p:sp>
        <p:nvSpPr>
          <p:cNvPr id="22" name="Text 19"/>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23" name="Text 20"/>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Proposed solution</a:t>
            </a:r>
            <a:endParaRPr lang="en-US" sz="3400" dirty="0"/>
          </a:p>
        </p:txBody>
      </p:sp>
      <p:sp>
        <p:nvSpPr>
          <p:cNvPr id="3" name="Shape 2"/>
          <p:cNvSpPr/>
          <p:nvPr/>
        </p:nvSpPr>
        <p:spPr>
          <a:xfrm>
            <a:off x="548640" y="1280160"/>
            <a:ext cx="11091672" cy="777240"/>
          </a:xfrm>
          <a:prstGeom prst="roundRect">
            <a:avLst>
              <a:gd name="adj" fmla="val 21818"/>
            </a:avLst>
          </a:prstGeom>
          <a:solidFill>
            <a:srgbClr val="121820"/>
          </a:solidFill>
          <a:ln w="15875">
            <a:solidFill>
              <a:srgbClr val="00E5FF"/>
            </a:solidFill>
            <a:prstDash val="solid"/>
          </a:ln>
        </p:spPr>
        <p:txBody>
          <a:bodyPr/>
          <a:lstStyle/>
          <a:p>
            <a:endParaRPr/>
          </a:p>
        </p:txBody>
      </p:sp>
      <p:sp>
        <p:nvSpPr>
          <p:cNvPr id="4" name="Text 3"/>
          <p:cNvSpPr txBox="1"/>
          <p:nvPr/>
        </p:nvSpPr>
        <p:spPr>
          <a:xfrm>
            <a:off x="822960" y="1325880"/>
            <a:ext cx="10634472" cy="68580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One shared website, a visible agent, and a rule a person can read.</a:t>
            </a:r>
          </a:p>
          <a:p>
            <a:pPr marL="0" indent="0">
              <a:buNone/>
            </a:pPr>
            <a:r>
              <a:rPr lang="en-US" sz="1400" b="1" dirty="0">
                <a:solidFill>
                  <a:srgbClr val="00E5FF"/>
                </a:solidFill>
                <a:latin typeface="Calibri" pitchFamily="34" charset="0"/>
                <a:ea typeface="Calibri" pitchFamily="34" charset="-122"/>
                <a:cs typeface="Calibri" pitchFamily="34" charset="-120"/>
              </a:rPr>
              <a:t>Faculty publish once. Students join from other devices.</a:t>
            </a:r>
            <a:endParaRPr lang="en-US" sz="1400" dirty="0"/>
          </a:p>
        </p:txBody>
      </p:sp>
      <p:sp>
        <p:nvSpPr>
          <p:cNvPr id="5" name="Shape 4"/>
          <p:cNvSpPr/>
          <p:nvPr/>
        </p:nvSpPr>
        <p:spPr>
          <a:xfrm>
            <a:off x="548640"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6" name="Shape 5"/>
          <p:cNvSpPr/>
          <p:nvPr/>
        </p:nvSpPr>
        <p:spPr>
          <a:xfrm>
            <a:off x="822960" y="2606040"/>
            <a:ext cx="548640" cy="548640"/>
          </a:xfrm>
          <a:prstGeom prst="ellipse">
            <a:avLst/>
          </a:prstGeom>
          <a:solidFill>
            <a:srgbClr val="00E5FF"/>
          </a:solidFill>
          <a:ln w="15875">
            <a:solidFill>
              <a:srgbClr val="00E5FF"/>
            </a:solidFill>
            <a:prstDash val="solid"/>
          </a:ln>
        </p:spPr>
        <p:txBody>
          <a:bodyPr/>
          <a:lstStyle/>
          <a:p>
            <a:endParaRPr/>
          </a:p>
        </p:txBody>
      </p:sp>
      <p:sp>
        <p:nvSpPr>
          <p:cNvPr id="7" name="Text 6"/>
          <p:cNvSpPr txBox="1"/>
          <p:nvPr/>
        </p:nvSpPr>
        <p:spPr>
          <a:xfrm>
            <a:off x="822960"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1</a:t>
            </a:r>
            <a:endParaRPr lang="en-US" sz="2000" dirty="0"/>
          </a:p>
        </p:txBody>
      </p:sp>
      <p:sp>
        <p:nvSpPr>
          <p:cNvPr id="8" name="Text 7"/>
          <p:cNvSpPr txBox="1"/>
          <p:nvPr/>
        </p:nvSpPr>
        <p:spPr>
          <a:xfrm>
            <a:off x="1508760"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Shared exam server</a:t>
            </a:r>
            <a:endParaRPr lang="en-US" sz="2000" dirty="0"/>
          </a:p>
        </p:txBody>
      </p:sp>
      <p:sp>
        <p:nvSpPr>
          <p:cNvPr id="9" name="Text 8"/>
          <p:cNvSpPr txBox="1"/>
          <p:nvPr/>
        </p:nvSpPr>
        <p:spPr>
          <a:xfrm>
            <a:off x="822960"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One server holds the exam, the attempt, the events, and the review.</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Faculty publish once. Students join from other devices.</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website is the exam, not a file on one laptop.</a:t>
            </a:r>
            <a:endParaRPr lang="en-US" sz="1500" dirty="0"/>
          </a:p>
        </p:txBody>
      </p:sp>
      <p:sp>
        <p:nvSpPr>
          <p:cNvPr id="10" name="Shape 9"/>
          <p:cNvSpPr/>
          <p:nvPr/>
        </p:nvSpPr>
        <p:spPr>
          <a:xfrm>
            <a:off x="4334256"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11" name="Shape 10"/>
          <p:cNvSpPr/>
          <p:nvPr/>
        </p:nvSpPr>
        <p:spPr>
          <a:xfrm>
            <a:off x="4608576" y="2606040"/>
            <a:ext cx="548640" cy="548640"/>
          </a:xfrm>
          <a:prstGeom prst="ellipse">
            <a:avLst/>
          </a:prstGeom>
          <a:solidFill>
            <a:srgbClr val="00E5FF"/>
          </a:solidFill>
          <a:ln w="15875">
            <a:solidFill>
              <a:srgbClr val="00E5FF"/>
            </a:solidFill>
            <a:prstDash val="solid"/>
          </a:ln>
        </p:spPr>
        <p:txBody>
          <a:bodyPr/>
          <a:lstStyle/>
          <a:p>
            <a:endParaRPr/>
          </a:p>
        </p:txBody>
      </p:sp>
      <p:sp>
        <p:nvSpPr>
          <p:cNvPr id="12" name="Text 11"/>
          <p:cNvSpPr txBox="1"/>
          <p:nvPr/>
        </p:nvSpPr>
        <p:spPr>
          <a:xfrm>
            <a:off x="4608576"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2</a:t>
            </a:r>
            <a:endParaRPr lang="en-US" sz="2000" dirty="0"/>
          </a:p>
        </p:txBody>
      </p:sp>
      <p:sp>
        <p:nvSpPr>
          <p:cNvPr id="13" name="Text 12"/>
          <p:cNvSpPr txBox="1"/>
          <p:nvPr/>
        </p:nvSpPr>
        <p:spPr>
          <a:xfrm>
            <a:off x="5294376"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Visible agent</a:t>
            </a:r>
            <a:endParaRPr lang="en-US" sz="2000" dirty="0"/>
          </a:p>
        </p:txBody>
      </p:sp>
      <p:sp>
        <p:nvSpPr>
          <p:cNvPr id="14" name="Text 13"/>
          <p:cNvSpPr txBox="1"/>
          <p:nvPr/>
        </p:nvSpPr>
        <p:spPr>
          <a:xfrm>
            <a:off x="4608576"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student can see the agent. It does not hide.</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It reports the executable name, display count, and network state.</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It does not read the window title, the URL, or the keys.</a:t>
            </a:r>
            <a:endParaRPr lang="en-US" sz="1500" dirty="0"/>
          </a:p>
        </p:txBody>
      </p:sp>
      <p:sp>
        <p:nvSpPr>
          <p:cNvPr id="15" name="Shape 14"/>
          <p:cNvSpPr/>
          <p:nvPr/>
        </p:nvSpPr>
        <p:spPr>
          <a:xfrm>
            <a:off x="8119872"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16" name="Shape 15"/>
          <p:cNvSpPr/>
          <p:nvPr/>
        </p:nvSpPr>
        <p:spPr>
          <a:xfrm>
            <a:off x="8394192" y="2606040"/>
            <a:ext cx="548640" cy="548640"/>
          </a:xfrm>
          <a:prstGeom prst="ellipse">
            <a:avLst/>
          </a:prstGeom>
          <a:solidFill>
            <a:srgbClr val="00E5FF"/>
          </a:solidFill>
          <a:ln w="15875">
            <a:solidFill>
              <a:srgbClr val="00E5FF"/>
            </a:solidFill>
            <a:prstDash val="solid"/>
          </a:ln>
        </p:spPr>
        <p:txBody>
          <a:bodyPr/>
          <a:lstStyle/>
          <a:p>
            <a:endParaRPr/>
          </a:p>
        </p:txBody>
      </p:sp>
      <p:sp>
        <p:nvSpPr>
          <p:cNvPr id="17" name="Text 16"/>
          <p:cNvSpPr txBox="1"/>
          <p:nvPr/>
        </p:nvSpPr>
        <p:spPr>
          <a:xfrm>
            <a:off x="8394192"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3</a:t>
            </a:r>
            <a:endParaRPr lang="en-US" sz="2000" dirty="0"/>
          </a:p>
        </p:txBody>
      </p:sp>
      <p:sp>
        <p:nvSpPr>
          <p:cNvPr id="18" name="Text 17"/>
          <p:cNvSpPr txBox="1"/>
          <p:nvPr/>
        </p:nvSpPr>
        <p:spPr>
          <a:xfrm>
            <a:off x="9079992"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Versioned rule</a:t>
            </a:r>
            <a:endParaRPr lang="en-US" sz="2000" dirty="0"/>
          </a:p>
        </p:txBody>
      </p:sp>
      <p:sp>
        <p:nvSpPr>
          <p:cNvPr id="19" name="Text 18"/>
          <p:cNvSpPr txBox="1"/>
          <p:nvPr/>
        </p:nvSpPr>
        <p:spPr>
          <a:xfrm>
            <a:off x="8394192"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student reads the rule before the exam starts.</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same log and the same rule version always yield the same score.</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A person chooses Flagged or Cleared. The score is not an automatic fail.</a:t>
            </a:r>
            <a:endParaRPr lang="en-US" sz="1500" dirty="0"/>
          </a:p>
        </p:txBody>
      </p:sp>
      <p:sp>
        <p:nvSpPr>
          <p:cNvPr id="20" name="Text 19"/>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21" name="Text 20"/>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Expected outcome</a:t>
            </a:r>
            <a:endParaRPr lang="en-US" sz="3400" dirty="0"/>
          </a:p>
        </p:txBody>
      </p:sp>
      <p:sp>
        <p:nvSpPr>
          <p:cNvPr id="3" name="Shape 2"/>
          <p:cNvSpPr/>
          <p:nvPr/>
        </p:nvSpPr>
        <p:spPr>
          <a:xfrm>
            <a:off x="548640" y="1280160"/>
            <a:ext cx="11091672" cy="777240"/>
          </a:xfrm>
          <a:prstGeom prst="roundRect">
            <a:avLst>
              <a:gd name="adj" fmla="val 21818"/>
            </a:avLst>
          </a:prstGeom>
          <a:solidFill>
            <a:srgbClr val="121820"/>
          </a:solidFill>
          <a:ln w="15875">
            <a:solidFill>
              <a:srgbClr val="00E5FF"/>
            </a:solidFill>
            <a:prstDash val="solid"/>
          </a:ln>
        </p:spPr>
        <p:txBody>
          <a:bodyPr/>
          <a:lstStyle/>
          <a:p>
            <a:endParaRPr/>
          </a:p>
        </p:txBody>
      </p:sp>
      <p:sp>
        <p:nvSpPr>
          <p:cNvPr id="4" name="Text 3"/>
          <p:cNvSpPr txBox="1"/>
          <p:nvPr/>
        </p:nvSpPr>
        <p:spPr>
          <a:xfrm>
            <a:off x="822960" y="1325880"/>
            <a:ext cx="10634472" cy="68580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A catalog that can be repeated, a score that can be argued, and a review across devices.</a:t>
            </a:r>
          </a:p>
          <a:p>
            <a:pPr marL="0" indent="0">
              <a:buNone/>
            </a:pPr>
            <a:r>
              <a:rPr lang="en-US" sz="1400" b="1" dirty="0">
                <a:solidFill>
                  <a:srgbClr val="00E5FF"/>
                </a:solidFill>
                <a:latin typeface="Calibri" pitchFamily="34" charset="0"/>
                <a:ea typeface="Calibri" pitchFamily="34" charset="-122"/>
                <a:cs typeface="Calibri" pitchFamily="34" charset="-120"/>
              </a:rPr>
              <a:t>The export matches the score on the screen.</a:t>
            </a:r>
            <a:endParaRPr lang="en-US" sz="1400" dirty="0"/>
          </a:p>
        </p:txBody>
      </p:sp>
      <p:sp>
        <p:nvSpPr>
          <p:cNvPr id="5" name="Shape 4"/>
          <p:cNvSpPr/>
          <p:nvPr/>
        </p:nvSpPr>
        <p:spPr>
          <a:xfrm>
            <a:off x="548640"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6" name="Shape 5"/>
          <p:cNvSpPr/>
          <p:nvPr/>
        </p:nvSpPr>
        <p:spPr>
          <a:xfrm>
            <a:off x="822960" y="2606040"/>
            <a:ext cx="548640" cy="548640"/>
          </a:xfrm>
          <a:prstGeom prst="ellipse">
            <a:avLst/>
          </a:prstGeom>
          <a:solidFill>
            <a:srgbClr val="00E5FF"/>
          </a:solidFill>
          <a:ln w="15875">
            <a:solidFill>
              <a:srgbClr val="00E5FF"/>
            </a:solidFill>
            <a:prstDash val="solid"/>
          </a:ln>
        </p:spPr>
        <p:txBody>
          <a:bodyPr/>
          <a:lstStyle/>
          <a:p>
            <a:endParaRPr/>
          </a:p>
        </p:txBody>
      </p:sp>
      <p:sp>
        <p:nvSpPr>
          <p:cNvPr id="7" name="Text 6"/>
          <p:cNvSpPr txBox="1"/>
          <p:nvPr/>
        </p:nvSpPr>
        <p:spPr>
          <a:xfrm>
            <a:off x="822960"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1</a:t>
            </a:r>
            <a:endParaRPr lang="en-US" sz="2000" dirty="0"/>
          </a:p>
        </p:txBody>
      </p:sp>
      <p:sp>
        <p:nvSpPr>
          <p:cNvPr id="8" name="Text 7"/>
          <p:cNvSpPr txBox="1"/>
          <p:nvPr/>
        </p:nvSpPr>
        <p:spPr>
          <a:xfrm>
            <a:off x="1508760"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Scripted catalog</a:t>
            </a:r>
            <a:endParaRPr lang="en-US" sz="2000" dirty="0"/>
          </a:p>
        </p:txBody>
      </p:sp>
      <p:sp>
        <p:nvSpPr>
          <p:cNvPr id="9" name="Text 8"/>
          <p:cNvSpPr txBox="1"/>
          <p:nvPr/>
        </p:nvSpPr>
        <p:spPr>
          <a:xfrm>
            <a:off x="822960"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A catalog of honest and cheating actions, not a one-off demo.</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Each action has a matching event the monitor must record.</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trial can be run again and compared.</a:t>
            </a:r>
            <a:endParaRPr lang="en-US" sz="1500" dirty="0"/>
          </a:p>
        </p:txBody>
      </p:sp>
      <p:sp>
        <p:nvSpPr>
          <p:cNvPr id="10" name="Shape 9"/>
          <p:cNvSpPr/>
          <p:nvPr/>
        </p:nvSpPr>
        <p:spPr>
          <a:xfrm>
            <a:off x="4334256"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11" name="Shape 10"/>
          <p:cNvSpPr/>
          <p:nvPr/>
        </p:nvSpPr>
        <p:spPr>
          <a:xfrm>
            <a:off x="4608576" y="2606040"/>
            <a:ext cx="548640" cy="548640"/>
          </a:xfrm>
          <a:prstGeom prst="ellipse">
            <a:avLst/>
          </a:prstGeom>
          <a:solidFill>
            <a:srgbClr val="00E5FF"/>
          </a:solidFill>
          <a:ln w="15875">
            <a:solidFill>
              <a:srgbClr val="00E5FF"/>
            </a:solidFill>
            <a:prstDash val="solid"/>
          </a:ln>
        </p:spPr>
        <p:txBody>
          <a:bodyPr/>
          <a:lstStyle/>
          <a:p>
            <a:endParaRPr/>
          </a:p>
        </p:txBody>
      </p:sp>
      <p:sp>
        <p:nvSpPr>
          <p:cNvPr id="12" name="Text 11"/>
          <p:cNvSpPr txBox="1"/>
          <p:nvPr/>
        </p:nvSpPr>
        <p:spPr>
          <a:xfrm>
            <a:off x="4608576"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2</a:t>
            </a:r>
            <a:endParaRPr lang="en-US" sz="2000" dirty="0"/>
          </a:p>
        </p:txBody>
      </p:sp>
      <p:sp>
        <p:nvSpPr>
          <p:cNvPr id="13" name="Text 12"/>
          <p:cNvSpPr txBox="1"/>
          <p:nvPr/>
        </p:nvSpPr>
        <p:spPr>
          <a:xfrm>
            <a:off x="5294376"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Arguable score</a:t>
            </a:r>
            <a:endParaRPr lang="en-US" sz="2000" dirty="0"/>
          </a:p>
        </p:txBody>
      </p:sp>
      <p:sp>
        <p:nvSpPr>
          <p:cNvPr id="14" name="Text 13"/>
          <p:cNvSpPr txBox="1"/>
          <p:nvPr/>
        </p:nvSpPr>
        <p:spPr>
          <a:xfrm>
            <a:off x="4608576"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rule is written down and versioned.</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same log always produces the same score and the same breakdown.</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A reviewer can see which events fired.</a:t>
            </a:r>
            <a:endParaRPr lang="en-US" sz="1500" dirty="0"/>
          </a:p>
        </p:txBody>
      </p:sp>
      <p:sp>
        <p:nvSpPr>
          <p:cNvPr id="15" name="Shape 14"/>
          <p:cNvSpPr/>
          <p:nvPr/>
        </p:nvSpPr>
        <p:spPr>
          <a:xfrm>
            <a:off x="8119872" y="2331720"/>
            <a:ext cx="3520440" cy="3794760"/>
          </a:xfrm>
          <a:prstGeom prst="roundRect">
            <a:avLst>
              <a:gd name="adj" fmla="val 3117"/>
            </a:avLst>
          </a:prstGeom>
          <a:solidFill>
            <a:srgbClr val="121820"/>
          </a:solidFill>
          <a:ln w="15875">
            <a:solidFill>
              <a:srgbClr val="00E5FF"/>
            </a:solidFill>
            <a:prstDash val="solid"/>
          </a:ln>
        </p:spPr>
        <p:txBody>
          <a:bodyPr/>
          <a:lstStyle/>
          <a:p>
            <a:endParaRPr/>
          </a:p>
        </p:txBody>
      </p:sp>
      <p:sp>
        <p:nvSpPr>
          <p:cNvPr id="16" name="Shape 15"/>
          <p:cNvSpPr/>
          <p:nvPr/>
        </p:nvSpPr>
        <p:spPr>
          <a:xfrm>
            <a:off x="8394192" y="2606040"/>
            <a:ext cx="548640" cy="548640"/>
          </a:xfrm>
          <a:prstGeom prst="ellipse">
            <a:avLst/>
          </a:prstGeom>
          <a:solidFill>
            <a:srgbClr val="00E5FF"/>
          </a:solidFill>
          <a:ln w="15875">
            <a:solidFill>
              <a:srgbClr val="00E5FF"/>
            </a:solidFill>
            <a:prstDash val="solid"/>
          </a:ln>
        </p:spPr>
        <p:txBody>
          <a:bodyPr/>
          <a:lstStyle/>
          <a:p>
            <a:endParaRPr/>
          </a:p>
        </p:txBody>
      </p:sp>
      <p:sp>
        <p:nvSpPr>
          <p:cNvPr id="17" name="Text 16"/>
          <p:cNvSpPr txBox="1"/>
          <p:nvPr/>
        </p:nvSpPr>
        <p:spPr>
          <a:xfrm>
            <a:off x="8394192" y="2606040"/>
            <a:ext cx="548640" cy="548640"/>
          </a:xfrm>
          <a:prstGeom prst="rect">
            <a:avLst/>
          </a:prstGeom>
          <a:noFill/>
          <a:ln/>
        </p:spPr>
        <p:txBody>
          <a:bodyPr wrap="square" lIns="0" tIns="0" rIns="0" bIns="0" rtlCol="0" anchor="ctr"/>
          <a:lstStyle/>
          <a:p>
            <a:pPr marL="0" indent="0" algn="ctr">
              <a:buNone/>
            </a:pPr>
            <a:r>
              <a:rPr lang="en-US" sz="2000" b="1" dirty="0">
                <a:solidFill>
                  <a:srgbClr val="0B0F14"/>
                </a:solidFill>
                <a:latin typeface="Calibri" pitchFamily="34" charset="0"/>
                <a:ea typeface="Calibri" pitchFamily="34" charset="-122"/>
                <a:cs typeface="Calibri" pitchFamily="34" charset="-120"/>
              </a:rPr>
              <a:t>3</a:t>
            </a:r>
            <a:endParaRPr lang="en-US" sz="2000" dirty="0"/>
          </a:p>
        </p:txBody>
      </p:sp>
      <p:sp>
        <p:nvSpPr>
          <p:cNvPr id="18" name="Text 17"/>
          <p:cNvSpPr txBox="1"/>
          <p:nvPr/>
        </p:nvSpPr>
        <p:spPr>
          <a:xfrm>
            <a:off x="9079992" y="2606040"/>
            <a:ext cx="2331720" cy="548640"/>
          </a:xfrm>
          <a:prstGeom prst="rect">
            <a:avLst/>
          </a:prstGeom>
          <a:noFill/>
          <a:ln/>
        </p:spPr>
        <p:txBody>
          <a:bodyPr wrap="square" lIns="0" tIns="0" rIns="0" bIns="0" rtlCol="0" anchor="ctr"/>
          <a:lstStyle/>
          <a:p>
            <a:pPr marL="0" indent="0">
              <a:buNone/>
            </a:pPr>
            <a:r>
              <a:rPr lang="en-US" sz="2000" b="1" dirty="0">
                <a:solidFill>
                  <a:srgbClr val="00E5FF"/>
                </a:solidFill>
                <a:latin typeface="Cambria" pitchFamily="34" charset="0"/>
                <a:ea typeface="Cambria" pitchFamily="34" charset="-122"/>
                <a:cs typeface="Cambria" pitchFamily="34" charset="-120"/>
              </a:rPr>
              <a:t>Review across devices</a:t>
            </a:r>
            <a:endParaRPr lang="en-US" sz="2000" dirty="0"/>
          </a:p>
        </p:txBody>
      </p:sp>
      <p:sp>
        <p:nvSpPr>
          <p:cNvPr id="19" name="Text 18"/>
          <p:cNvSpPr txBox="1"/>
          <p:nvPr/>
        </p:nvSpPr>
        <p:spPr>
          <a:xfrm>
            <a:off x="8394192" y="3383280"/>
            <a:ext cx="297180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Two student devices and one faculty device share one published exam.</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A high-risk session can be flagged or cleared.</a:t>
            </a:r>
            <a:endParaRPr lang="en-US" sz="1500" dirty="0"/>
          </a:p>
          <a:p>
            <a:pPr marL="342900" indent="-342900">
              <a:spcAft>
                <a:spcPts val="1000"/>
              </a:spcAft>
              <a:buSzPct val="100000"/>
              <a:buChar char="•"/>
            </a:pPr>
            <a:r>
              <a:rPr lang="en-US" sz="1500" dirty="0">
                <a:solidFill>
                  <a:srgbClr val="E8EAED"/>
                </a:solidFill>
                <a:latin typeface="Calibri" pitchFamily="34" charset="0"/>
                <a:ea typeface="Calibri" pitchFamily="34" charset="-122"/>
                <a:cs typeface="Calibri" pitchFamily="34" charset="-120"/>
              </a:rPr>
              <a:t>The export matches the score on the screen.</a:t>
            </a:r>
            <a:endParaRPr lang="en-US" sz="1500" dirty="0"/>
          </a:p>
        </p:txBody>
      </p:sp>
      <p:sp>
        <p:nvSpPr>
          <p:cNvPr id="20" name="Text 19"/>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21" name="Text 20"/>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863072"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Key Techniques in the Domain</a:t>
            </a:r>
            <a:endParaRPr lang="en-US" sz="3400" dirty="0">
              <a:highlight>
                <a:srgbClr val="FFFF00"/>
              </a:highlight>
            </a:endParaRPr>
          </a:p>
        </p:txBody>
      </p:sp>
      <p:sp>
        <p:nvSpPr>
          <p:cNvPr id="7" name="Shape 4"/>
          <p:cNvSpPr/>
          <p:nvPr/>
        </p:nvSpPr>
        <p:spPr>
          <a:xfrm>
            <a:off x="548640" y="1600200"/>
            <a:ext cx="3514344" cy="2011680"/>
          </a:xfrm>
          <a:prstGeom prst="roundRect">
            <a:avLst>
              <a:gd name="adj" fmla="val 5455"/>
            </a:avLst>
          </a:prstGeom>
          <a:solidFill>
            <a:srgbClr val="121820"/>
          </a:solidFill>
          <a:ln w="15875">
            <a:solidFill>
              <a:srgbClr val="00E5FF"/>
            </a:solidFill>
            <a:prstDash val="solid"/>
          </a:ln>
        </p:spPr>
        <p:txBody>
          <a:bodyPr/>
          <a:lstStyle/>
          <a:p>
            <a:endParaRPr/>
          </a:p>
        </p:txBody>
      </p:sp>
      <p:sp>
        <p:nvSpPr>
          <p:cNvPr id="8" name="Shape 5"/>
          <p:cNvSpPr/>
          <p:nvPr/>
        </p:nvSpPr>
        <p:spPr>
          <a:xfrm>
            <a:off x="777240" y="1828800"/>
            <a:ext cx="457200" cy="457200"/>
          </a:xfrm>
          <a:prstGeom prst="ellipse">
            <a:avLst/>
          </a:prstGeom>
          <a:solidFill>
            <a:srgbClr val="00E5FF"/>
          </a:solidFill>
          <a:ln w="15875">
            <a:solidFill>
              <a:srgbClr val="00E5FF"/>
            </a:solidFill>
            <a:prstDash val="solid"/>
          </a:ln>
        </p:spPr>
        <p:txBody>
          <a:bodyPr/>
          <a:lstStyle/>
          <a:p>
            <a:endParaRPr/>
          </a:p>
        </p:txBody>
      </p:sp>
      <p:sp>
        <p:nvSpPr>
          <p:cNvPr id="9" name="Text 6"/>
          <p:cNvSpPr txBox="1"/>
          <p:nvPr/>
        </p:nvSpPr>
        <p:spPr>
          <a:xfrm>
            <a:off x="777240" y="1828800"/>
            <a:ext cx="457200" cy="457200"/>
          </a:xfrm>
          <a:prstGeom prst="rect">
            <a:avLst/>
          </a:prstGeom>
          <a:noFill/>
          <a:ln/>
        </p:spPr>
        <p:txBody>
          <a:bodyPr wrap="square" lIns="0" tIns="0" rIns="0" bIns="0" rtlCol="0" anchor="ctr"/>
          <a:lstStyle/>
          <a:p>
            <a:pPr marL="0" indent="0" algn="ctr">
              <a:buNone/>
            </a:pPr>
            <a:r>
              <a:rPr lang="en-US" sz="1600" b="1" dirty="0">
                <a:solidFill>
                  <a:srgbClr val="0B0F14"/>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417320" y="1828800"/>
            <a:ext cx="2417064" cy="457200"/>
          </a:xfrm>
          <a:prstGeom prst="rect">
            <a:avLst/>
          </a:prstGeom>
          <a:noFill/>
          <a:ln/>
        </p:spPr>
        <p:txBody>
          <a:bodyPr wrap="square" lIns="0" tIns="0" rIns="0" bIns="0" rtlCol="0" anchor="ctr"/>
          <a:lstStyle/>
          <a:p>
            <a:pPr marL="0" indent="0">
              <a:buNone/>
            </a:pPr>
            <a:r>
              <a:rPr lang="en-US" sz="1700" b="1" dirty="0">
                <a:solidFill>
                  <a:srgbClr val="00E5FF"/>
                </a:solidFill>
                <a:latin typeface="Cambria" pitchFamily="34" charset="0"/>
                <a:ea typeface="Cambria" pitchFamily="34" charset="-122"/>
                <a:cs typeface="Cambria" pitchFamily="34" charset="-120"/>
              </a:rPr>
              <a:t>Lockdown browser</a:t>
            </a:r>
            <a:endParaRPr lang="en-US" sz="1700" dirty="0"/>
          </a:p>
        </p:txBody>
      </p:sp>
      <p:sp>
        <p:nvSpPr>
          <p:cNvPr id="11" name="Text 8"/>
          <p:cNvSpPr txBox="1"/>
          <p:nvPr/>
        </p:nvSpPr>
        <p:spPr>
          <a:xfrm>
            <a:off x="777240" y="2468880"/>
            <a:ext cx="3057144" cy="960120"/>
          </a:xfrm>
          <a:prstGeom prst="rect">
            <a:avLst/>
          </a:prstGeom>
          <a:noFill/>
          <a:ln/>
        </p:spPr>
        <p:txBody>
          <a:bodyPr wrap="square" lIns="0" tIns="0" rIns="0" bIns="0" rtlCol="0" anchor="t"/>
          <a:lstStyle/>
          <a:p>
            <a:pPr>
              <a:spcAft>
                <a:spcPts val="600"/>
              </a:spcAft>
            </a:pPr>
            <a:r>
              <a:rPr lang="en-US" sz="1300" b="1" dirty="0">
                <a:solidFill>
                  <a:srgbClr val="00E5FF"/>
                </a:solidFill>
                <a:latin typeface="Calibri" pitchFamily="34" charset="0"/>
                <a:ea typeface="Calibri" pitchFamily="34" charset="-122"/>
                <a:cs typeface="Calibri" pitchFamily="34" charset="-120"/>
              </a:rPr>
              <a:t>Safe Exam Browser and Respondus lock the machine. A renamed process can walk around the list.</a:t>
            </a:r>
          </a:p>
        </p:txBody>
      </p:sp>
      <p:sp>
        <p:nvSpPr>
          <p:cNvPr id="12" name="Shape 9"/>
          <p:cNvSpPr/>
          <p:nvPr/>
        </p:nvSpPr>
        <p:spPr>
          <a:xfrm>
            <a:off x="4337304" y="1600200"/>
            <a:ext cx="3514344" cy="2011680"/>
          </a:xfrm>
          <a:prstGeom prst="roundRect">
            <a:avLst>
              <a:gd name="adj" fmla="val 5455"/>
            </a:avLst>
          </a:prstGeom>
          <a:solidFill>
            <a:srgbClr val="121820"/>
          </a:solidFill>
          <a:ln w="15875">
            <a:solidFill>
              <a:srgbClr val="00E5FF"/>
            </a:solidFill>
            <a:prstDash val="solid"/>
          </a:ln>
        </p:spPr>
        <p:txBody>
          <a:bodyPr/>
          <a:lstStyle/>
          <a:p>
            <a:endParaRPr/>
          </a:p>
        </p:txBody>
      </p:sp>
      <p:sp>
        <p:nvSpPr>
          <p:cNvPr id="13" name="Shape 10"/>
          <p:cNvSpPr/>
          <p:nvPr/>
        </p:nvSpPr>
        <p:spPr>
          <a:xfrm>
            <a:off x="4565904" y="1828800"/>
            <a:ext cx="457200" cy="457200"/>
          </a:xfrm>
          <a:prstGeom prst="ellipse">
            <a:avLst/>
          </a:prstGeom>
          <a:solidFill>
            <a:srgbClr val="00E5FF"/>
          </a:solidFill>
          <a:ln w="15875">
            <a:solidFill>
              <a:srgbClr val="00E5FF"/>
            </a:solidFill>
            <a:prstDash val="solid"/>
          </a:ln>
        </p:spPr>
        <p:txBody>
          <a:bodyPr/>
          <a:lstStyle/>
          <a:p>
            <a:endParaRPr/>
          </a:p>
        </p:txBody>
      </p:sp>
      <p:sp>
        <p:nvSpPr>
          <p:cNvPr id="14" name="Text 11"/>
          <p:cNvSpPr txBox="1"/>
          <p:nvPr/>
        </p:nvSpPr>
        <p:spPr>
          <a:xfrm>
            <a:off x="4565904" y="1828800"/>
            <a:ext cx="457200" cy="457200"/>
          </a:xfrm>
          <a:prstGeom prst="rect">
            <a:avLst/>
          </a:prstGeom>
          <a:noFill/>
          <a:ln/>
        </p:spPr>
        <p:txBody>
          <a:bodyPr wrap="square" lIns="0" tIns="0" rIns="0" bIns="0" rtlCol="0" anchor="ctr"/>
          <a:lstStyle/>
          <a:p>
            <a:pPr marL="0" indent="0" algn="ctr">
              <a:buNone/>
            </a:pPr>
            <a:r>
              <a:rPr lang="en-US" sz="1600" b="1" dirty="0">
                <a:solidFill>
                  <a:srgbClr val="0B0F14"/>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5205984" y="1828800"/>
            <a:ext cx="2417064" cy="457200"/>
          </a:xfrm>
          <a:prstGeom prst="rect">
            <a:avLst/>
          </a:prstGeom>
          <a:noFill/>
          <a:ln/>
        </p:spPr>
        <p:txBody>
          <a:bodyPr wrap="square" lIns="0" tIns="0" rIns="0" bIns="0" rtlCol="0" anchor="ctr"/>
          <a:lstStyle/>
          <a:p>
            <a:pPr marL="0" indent="0">
              <a:buNone/>
            </a:pPr>
            <a:r>
              <a:rPr lang="en-US" sz="1700" b="1" dirty="0">
                <a:solidFill>
                  <a:srgbClr val="00E5FF"/>
                </a:solidFill>
                <a:latin typeface="Cambria" pitchFamily="34" charset="0"/>
                <a:ea typeface="Cambria" pitchFamily="34" charset="-122"/>
                <a:cs typeface="Cambria" pitchFamily="34" charset="-120"/>
              </a:rPr>
              <a:t>Biometric proctor</a:t>
            </a:r>
            <a:endParaRPr lang="en-US" sz="1700" dirty="0"/>
          </a:p>
        </p:txBody>
      </p:sp>
      <p:sp>
        <p:nvSpPr>
          <p:cNvPr id="16" name="Text 13"/>
          <p:cNvSpPr txBox="1"/>
          <p:nvPr/>
        </p:nvSpPr>
        <p:spPr>
          <a:xfrm>
            <a:off x="4565904" y="2468880"/>
            <a:ext cx="3057144" cy="960120"/>
          </a:xfrm>
          <a:prstGeom prst="rect">
            <a:avLst/>
          </a:prstGeom>
          <a:noFill/>
          <a:ln/>
        </p:spPr>
        <p:txBody>
          <a:bodyPr wrap="square" lIns="0" tIns="0" rIns="0" bIns="0" rtlCol="0" anchor="t"/>
          <a:lstStyle/>
          <a:p>
            <a:pPr>
              <a:spcAft>
                <a:spcPts val="600"/>
              </a:spcAft>
            </a:pPr>
            <a:r>
              <a:rPr lang="en-US" sz="1300" b="1" dirty="0">
                <a:solidFill>
                  <a:srgbClr val="00E5FF"/>
                </a:solidFill>
                <a:latin typeface="Calibri" pitchFamily="34" charset="0"/>
                <a:ea typeface="Calibri" pitchFamily="34" charset="-122"/>
                <a:cs typeface="Calibri" pitchFamily="34" charset="-120"/>
              </a:rPr>
              <a:t>Webcam, gaze, and voice. The flag is often a score without a published rule.</a:t>
            </a:r>
          </a:p>
        </p:txBody>
      </p:sp>
      <p:sp>
        <p:nvSpPr>
          <p:cNvPr id="17" name="Shape 14"/>
          <p:cNvSpPr/>
          <p:nvPr/>
        </p:nvSpPr>
        <p:spPr>
          <a:xfrm>
            <a:off x="8125968" y="1600200"/>
            <a:ext cx="3514344" cy="2011680"/>
          </a:xfrm>
          <a:prstGeom prst="roundRect">
            <a:avLst>
              <a:gd name="adj" fmla="val 5455"/>
            </a:avLst>
          </a:prstGeom>
          <a:solidFill>
            <a:srgbClr val="121820"/>
          </a:solidFill>
          <a:ln w="15875">
            <a:solidFill>
              <a:srgbClr val="00E5FF"/>
            </a:solidFill>
            <a:prstDash val="solid"/>
          </a:ln>
        </p:spPr>
        <p:txBody>
          <a:bodyPr/>
          <a:lstStyle/>
          <a:p>
            <a:endParaRPr/>
          </a:p>
        </p:txBody>
      </p:sp>
      <p:sp>
        <p:nvSpPr>
          <p:cNvPr id="18" name="Shape 15"/>
          <p:cNvSpPr/>
          <p:nvPr/>
        </p:nvSpPr>
        <p:spPr>
          <a:xfrm>
            <a:off x="8354568" y="1828800"/>
            <a:ext cx="457200" cy="457200"/>
          </a:xfrm>
          <a:prstGeom prst="ellipse">
            <a:avLst/>
          </a:prstGeom>
          <a:solidFill>
            <a:srgbClr val="00E5FF"/>
          </a:solidFill>
          <a:ln w="15875">
            <a:solidFill>
              <a:srgbClr val="00E5FF"/>
            </a:solidFill>
            <a:prstDash val="solid"/>
          </a:ln>
        </p:spPr>
        <p:txBody>
          <a:bodyPr/>
          <a:lstStyle/>
          <a:p>
            <a:endParaRPr/>
          </a:p>
        </p:txBody>
      </p:sp>
      <p:sp>
        <p:nvSpPr>
          <p:cNvPr id="19" name="Text 16"/>
          <p:cNvSpPr txBox="1"/>
          <p:nvPr/>
        </p:nvSpPr>
        <p:spPr>
          <a:xfrm>
            <a:off x="8354568" y="1828800"/>
            <a:ext cx="457200" cy="457200"/>
          </a:xfrm>
          <a:prstGeom prst="rect">
            <a:avLst/>
          </a:prstGeom>
          <a:noFill/>
          <a:ln/>
        </p:spPr>
        <p:txBody>
          <a:bodyPr wrap="square" lIns="0" tIns="0" rIns="0" bIns="0" rtlCol="0" anchor="ctr"/>
          <a:lstStyle/>
          <a:p>
            <a:pPr marL="0" indent="0" algn="ctr">
              <a:buNone/>
            </a:pPr>
            <a:r>
              <a:rPr lang="en-US" sz="1600" b="1" dirty="0">
                <a:solidFill>
                  <a:srgbClr val="0B0F14"/>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8994648" y="1828800"/>
            <a:ext cx="2417064" cy="457200"/>
          </a:xfrm>
          <a:prstGeom prst="rect">
            <a:avLst/>
          </a:prstGeom>
          <a:noFill/>
          <a:ln/>
        </p:spPr>
        <p:txBody>
          <a:bodyPr wrap="square" lIns="0" tIns="0" rIns="0" bIns="0" rtlCol="0" anchor="ctr"/>
          <a:lstStyle/>
          <a:p>
            <a:pPr marL="0" indent="0">
              <a:buNone/>
            </a:pPr>
            <a:r>
              <a:rPr lang="en-US" sz="1700" b="1" dirty="0">
                <a:solidFill>
                  <a:srgbClr val="00E5FF"/>
                </a:solidFill>
                <a:latin typeface="Cambria" pitchFamily="34" charset="0"/>
                <a:ea typeface="Cambria" pitchFamily="34" charset="-122"/>
                <a:cs typeface="Cambria" pitchFamily="34" charset="-120"/>
              </a:rPr>
              <a:t>Browser-only signal</a:t>
            </a:r>
            <a:endParaRPr lang="en-US" sz="1700" dirty="0"/>
          </a:p>
        </p:txBody>
      </p:sp>
      <p:sp>
        <p:nvSpPr>
          <p:cNvPr id="21" name="Text 18"/>
          <p:cNvSpPr txBox="1"/>
          <p:nvPr/>
        </p:nvSpPr>
        <p:spPr>
          <a:xfrm>
            <a:off x="8354568" y="2468880"/>
            <a:ext cx="3057144" cy="960120"/>
          </a:xfrm>
          <a:prstGeom prst="rect">
            <a:avLst/>
          </a:prstGeom>
          <a:noFill/>
          <a:ln/>
        </p:spPr>
        <p:txBody>
          <a:bodyPr wrap="square" lIns="0" tIns="0" rIns="0" bIns="0" rtlCol="0" anchor="t"/>
          <a:lstStyle/>
          <a:p>
            <a:pPr>
              <a:spcAft>
                <a:spcPts val="600"/>
              </a:spcAft>
            </a:pPr>
            <a:r>
              <a:rPr lang="en-US" sz="1300" b="1" dirty="0">
                <a:solidFill>
                  <a:srgbClr val="00E5FF"/>
                </a:solidFill>
                <a:latin typeface="Calibri" pitchFamily="34" charset="0"/>
                <a:ea typeface="Calibri" pitchFamily="34" charset="-122"/>
                <a:cs typeface="Calibri" pitchFamily="34" charset="-120"/>
              </a:rPr>
              <a:t>A page script sees tab leave and focus. It does not see the other application.</a:t>
            </a:r>
          </a:p>
        </p:txBody>
      </p:sp>
      <p:sp>
        <p:nvSpPr>
          <p:cNvPr id="22" name="Shape 19"/>
          <p:cNvSpPr/>
          <p:nvPr/>
        </p:nvSpPr>
        <p:spPr>
          <a:xfrm>
            <a:off x="548640" y="3886200"/>
            <a:ext cx="3514344" cy="2011680"/>
          </a:xfrm>
          <a:prstGeom prst="roundRect">
            <a:avLst>
              <a:gd name="adj" fmla="val 5455"/>
            </a:avLst>
          </a:prstGeom>
          <a:solidFill>
            <a:srgbClr val="121820"/>
          </a:solidFill>
          <a:ln w="15875">
            <a:solidFill>
              <a:srgbClr val="00E5FF"/>
            </a:solidFill>
            <a:prstDash val="solid"/>
          </a:ln>
        </p:spPr>
        <p:txBody>
          <a:bodyPr/>
          <a:lstStyle/>
          <a:p>
            <a:endParaRPr/>
          </a:p>
        </p:txBody>
      </p:sp>
      <p:sp>
        <p:nvSpPr>
          <p:cNvPr id="23" name="Shape 20"/>
          <p:cNvSpPr/>
          <p:nvPr/>
        </p:nvSpPr>
        <p:spPr>
          <a:xfrm>
            <a:off x="777240" y="4114800"/>
            <a:ext cx="457200" cy="457200"/>
          </a:xfrm>
          <a:prstGeom prst="ellipse">
            <a:avLst/>
          </a:prstGeom>
          <a:solidFill>
            <a:srgbClr val="00E5FF"/>
          </a:solidFill>
          <a:ln w="15875">
            <a:solidFill>
              <a:srgbClr val="00E5FF"/>
            </a:solidFill>
            <a:prstDash val="solid"/>
          </a:ln>
        </p:spPr>
        <p:txBody>
          <a:bodyPr/>
          <a:lstStyle/>
          <a:p>
            <a:endParaRPr/>
          </a:p>
        </p:txBody>
      </p:sp>
      <p:sp>
        <p:nvSpPr>
          <p:cNvPr id="24" name="Text 21"/>
          <p:cNvSpPr txBox="1"/>
          <p:nvPr/>
        </p:nvSpPr>
        <p:spPr>
          <a:xfrm>
            <a:off x="777240" y="4114800"/>
            <a:ext cx="457200" cy="457200"/>
          </a:xfrm>
          <a:prstGeom prst="rect">
            <a:avLst/>
          </a:prstGeom>
          <a:noFill/>
          <a:ln/>
        </p:spPr>
        <p:txBody>
          <a:bodyPr wrap="square" lIns="0" tIns="0" rIns="0" bIns="0" rtlCol="0" anchor="ctr"/>
          <a:lstStyle/>
          <a:p>
            <a:pPr marL="0" indent="0" algn="ctr">
              <a:buNone/>
            </a:pPr>
            <a:r>
              <a:rPr lang="en-US" sz="1600" b="1" dirty="0">
                <a:solidFill>
                  <a:srgbClr val="0B0F14"/>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1417320" y="4114800"/>
            <a:ext cx="2417064" cy="457200"/>
          </a:xfrm>
          <a:prstGeom prst="rect">
            <a:avLst/>
          </a:prstGeom>
          <a:noFill/>
          <a:ln/>
        </p:spPr>
        <p:txBody>
          <a:bodyPr wrap="square" lIns="0" tIns="0" rIns="0" bIns="0" rtlCol="0" anchor="ctr"/>
          <a:lstStyle/>
          <a:p>
            <a:pPr marL="0" indent="0">
              <a:buNone/>
            </a:pPr>
            <a:r>
              <a:rPr lang="en-US" sz="1700" b="1" dirty="0">
                <a:solidFill>
                  <a:srgbClr val="00E5FF"/>
                </a:solidFill>
                <a:latin typeface="Cambria" pitchFamily="34" charset="0"/>
                <a:ea typeface="Cambria" pitchFamily="34" charset="-122"/>
                <a:cs typeface="Cambria" pitchFamily="34" charset="-120"/>
              </a:rPr>
              <a:t>Endpoint telemetry</a:t>
            </a:r>
            <a:endParaRPr lang="en-US" sz="1700" dirty="0"/>
          </a:p>
        </p:txBody>
      </p:sp>
      <p:sp>
        <p:nvSpPr>
          <p:cNvPr id="26" name="Text 23"/>
          <p:cNvSpPr txBox="1"/>
          <p:nvPr/>
        </p:nvSpPr>
        <p:spPr>
          <a:xfrm>
            <a:off x="777240" y="4754880"/>
            <a:ext cx="3057144" cy="960120"/>
          </a:xfrm>
          <a:prstGeom prst="rect">
            <a:avLst/>
          </a:prstGeom>
          <a:noFill/>
          <a:ln/>
        </p:spPr>
        <p:txBody>
          <a:bodyPr wrap="square" lIns="0" tIns="0" rIns="0" bIns="0" rtlCol="0" anchor="t"/>
          <a:lstStyle/>
          <a:p>
            <a:pPr marL="0" indent="0">
              <a:spcAft>
                <a:spcPts val="600"/>
              </a:spcAft>
              <a:buNone/>
            </a:pPr>
            <a:r>
              <a:rPr lang="en-US" sz="1300" b="1" dirty="0">
                <a:solidFill>
                  <a:srgbClr val="00E5FF"/>
                </a:solidFill>
                <a:latin typeface="Calibri" pitchFamily="34" charset="0"/>
                <a:ea typeface="Calibri" pitchFamily="34" charset="-122"/>
                <a:cs typeface="Calibri" pitchFamily="34" charset="-120"/>
              </a:rPr>
              <a:t>A visible agent reports the foreground executable name, display count, and network state.</a:t>
            </a:r>
          </a:p>
        </p:txBody>
      </p:sp>
      <p:sp>
        <p:nvSpPr>
          <p:cNvPr id="27" name="Shape 24"/>
          <p:cNvSpPr/>
          <p:nvPr/>
        </p:nvSpPr>
        <p:spPr>
          <a:xfrm>
            <a:off x="4337304" y="3886200"/>
            <a:ext cx="3514344" cy="2011680"/>
          </a:xfrm>
          <a:prstGeom prst="roundRect">
            <a:avLst>
              <a:gd name="adj" fmla="val 5455"/>
            </a:avLst>
          </a:prstGeom>
          <a:solidFill>
            <a:srgbClr val="121820"/>
          </a:solidFill>
          <a:ln w="15875">
            <a:solidFill>
              <a:srgbClr val="00E5FF"/>
            </a:solidFill>
            <a:prstDash val="solid"/>
          </a:ln>
        </p:spPr>
        <p:txBody>
          <a:bodyPr/>
          <a:lstStyle/>
          <a:p>
            <a:endParaRPr/>
          </a:p>
        </p:txBody>
      </p:sp>
      <p:sp>
        <p:nvSpPr>
          <p:cNvPr id="28" name="Shape 25"/>
          <p:cNvSpPr/>
          <p:nvPr/>
        </p:nvSpPr>
        <p:spPr>
          <a:xfrm>
            <a:off x="4565904" y="4114800"/>
            <a:ext cx="457200" cy="457200"/>
          </a:xfrm>
          <a:prstGeom prst="ellipse">
            <a:avLst/>
          </a:prstGeom>
          <a:solidFill>
            <a:srgbClr val="00E5FF"/>
          </a:solidFill>
          <a:ln w="15875">
            <a:solidFill>
              <a:srgbClr val="00E5FF"/>
            </a:solidFill>
            <a:prstDash val="solid"/>
          </a:ln>
        </p:spPr>
        <p:txBody>
          <a:bodyPr/>
          <a:lstStyle/>
          <a:p>
            <a:endParaRPr/>
          </a:p>
        </p:txBody>
      </p:sp>
      <p:sp>
        <p:nvSpPr>
          <p:cNvPr id="29" name="Text 26"/>
          <p:cNvSpPr txBox="1"/>
          <p:nvPr/>
        </p:nvSpPr>
        <p:spPr>
          <a:xfrm>
            <a:off x="4565904" y="4114800"/>
            <a:ext cx="457200" cy="457200"/>
          </a:xfrm>
          <a:prstGeom prst="rect">
            <a:avLst/>
          </a:prstGeom>
          <a:noFill/>
          <a:ln/>
        </p:spPr>
        <p:txBody>
          <a:bodyPr wrap="square" lIns="0" tIns="0" rIns="0" bIns="0" rtlCol="0" anchor="ctr"/>
          <a:lstStyle/>
          <a:p>
            <a:pPr marL="0" indent="0" algn="ctr">
              <a:buNone/>
            </a:pPr>
            <a:r>
              <a:rPr lang="en-US" sz="1600" b="1" dirty="0">
                <a:solidFill>
                  <a:srgbClr val="0B0F14"/>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5205984" y="4114800"/>
            <a:ext cx="2417064" cy="457200"/>
          </a:xfrm>
          <a:prstGeom prst="rect">
            <a:avLst/>
          </a:prstGeom>
          <a:noFill/>
          <a:ln/>
        </p:spPr>
        <p:txBody>
          <a:bodyPr wrap="square" lIns="0" tIns="0" rIns="0" bIns="0" rtlCol="0" anchor="ctr"/>
          <a:lstStyle/>
          <a:p>
            <a:pPr marL="0" indent="0">
              <a:buNone/>
            </a:pPr>
            <a:r>
              <a:rPr lang="en-US" sz="1700" b="1" dirty="0">
                <a:solidFill>
                  <a:srgbClr val="00E5FF"/>
                </a:solidFill>
                <a:latin typeface="Cambria" pitchFamily="34" charset="0"/>
                <a:ea typeface="Cambria" pitchFamily="34" charset="-122"/>
                <a:cs typeface="Cambria" pitchFamily="34" charset="-120"/>
              </a:rPr>
              <a:t>Policy risk score</a:t>
            </a:r>
            <a:endParaRPr lang="en-US" sz="1700" dirty="0"/>
          </a:p>
        </p:txBody>
      </p:sp>
      <p:sp>
        <p:nvSpPr>
          <p:cNvPr id="31" name="Text 28"/>
          <p:cNvSpPr txBox="1"/>
          <p:nvPr/>
        </p:nvSpPr>
        <p:spPr>
          <a:xfrm>
            <a:off x="4565904" y="4754880"/>
            <a:ext cx="3057144" cy="960120"/>
          </a:xfrm>
          <a:prstGeom prst="rect">
            <a:avLst/>
          </a:prstGeom>
          <a:noFill/>
          <a:ln/>
        </p:spPr>
        <p:txBody>
          <a:bodyPr wrap="square" lIns="0" tIns="0" rIns="0" bIns="0" rtlCol="0" anchor="t"/>
          <a:lstStyle/>
          <a:p>
            <a:pPr>
              <a:spcAft>
                <a:spcPts val="600"/>
              </a:spcAft>
            </a:pPr>
            <a:r>
              <a:rPr lang="en-US" sz="1300" b="1" dirty="0">
                <a:solidFill>
                  <a:srgbClr val="00E5FF"/>
                </a:solidFill>
                <a:latin typeface="Calibri" pitchFamily="34" charset="0"/>
                <a:ea typeface="Calibri" pitchFamily="34" charset="-122"/>
                <a:cs typeface="Calibri" pitchFamily="34" charset="-120"/>
              </a:rPr>
              <a:t>The same event log always yields the same Low, Medium, or High score.</a:t>
            </a:r>
          </a:p>
        </p:txBody>
      </p:sp>
      <p:sp>
        <p:nvSpPr>
          <p:cNvPr id="32" name="Shape 29"/>
          <p:cNvSpPr/>
          <p:nvPr/>
        </p:nvSpPr>
        <p:spPr>
          <a:xfrm>
            <a:off x="8125968" y="3886200"/>
            <a:ext cx="3514344" cy="2011680"/>
          </a:xfrm>
          <a:prstGeom prst="roundRect">
            <a:avLst>
              <a:gd name="adj" fmla="val 5455"/>
            </a:avLst>
          </a:prstGeom>
          <a:solidFill>
            <a:srgbClr val="121820"/>
          </a:solidFill>
          <a:ln w="15875">
            <a:solidFill>
              <a:srgbClr val="00E5FF"/>
            </a:solidFill>
            <a:prstDash val="solid"/>
          </a:ln>
        </p:spPr>
        <p:txBody>
          <a:bodyPr/>
          <a:lstStyle/>
          <a:p>
            <a:endParaRPr/>
          </a:p>
        </p:txBody>
      </p:sp>
      <p:sp>
        <p:nvSpPr>
          <p:cNvPr id="33" name="Shape 30"/>
          <p:cNvSpPr/>
          <p:nvPr/>
        </p:nvSpPr>
        <p:spPr>
          <a:xfrm>
            <a:off x="8354568" y="4114800"/>
            <a:ext cx="457200" cy="457200"/>
          </a:xfrm>
          <a:prstGeom prst="ellipse">
            <a:avLst/>
          </a:prstGeom>
          <a:solidFill>
            <a:srgbClr val="00E5FF"/>
          </a:solidFill>
          <a:ln w="15875">
            <a:solidFill>
              <a:srgbClr val="00E5FF"/>
            </a:solidFill>
            <a:prstDash val="solid"/>
          </a:ln>
        </p:spPr>
        <p:txBody>
          <a:bodyPr/>
          <a:lstStyle/>
          <a:p>
            <a:endParaRPr/>
          </a:p>
        </p:txBody>
      </p:sp>
      <p:sp>
        <p:nvSpPr>
          <p:cNvPr id="34" name="Text 31"/>
          <p:cNvSpPr txBox="1"/>
          <p:nvPr/>
        </p:nvSpPr>
        <p:spPr>
          <a:xfrm>
            <a:off x="8354568" y="4114800"/>
            <a:ext cx="457200" cy="457200"/>
          </a:xfrm>
          <a:prstGeom prst="rect">
            <a:avLst/>
          </a:prstGeom>
          <a:noFill/>
          <a:ln/>
        </p:spPr>
        <p:txBody>
          <a:bodyPr wrap="square" lIns="0" tIns="0" rIns="0" bIns="0" rtlCol="0" anchor="ctr"/>
          <a:lstStyle/>
          <a:p>
            <a:pPr marL="0" indent="0" algn="ctr">
              <a:buNone/>
            </a:pPr>
            <a:r>
              <a:rPr lang="en-US" sz="1600" b="1" dirty="0">
                <a:solidFill>
                  <a:srgbClr val="0B0F14"/>
                </a:solidFill>
                <a:latin typeface="Calibri" pitchFamily="34" charset="0"/>
                <a:ea typeface="Calibri" pitchFamily="34" charset="-122"/>
                <a:cs typeface="Calibri" pitchFamily="34" charset="-120"/>
              </a:rPr>
              <a:t>6</a:t>
            </a:r>
            <a:endParaRPr lang="en-US" sz="1600" dirty="0"/>
          </a:p>
        </p:txBody>
      </p:sp>
      <p:sp>
        <p:nvSpPr>
          <p:cNvPr id="35" name="Text 32"/>
          <p:cNvSpPr txBox="1"/>
          <p:nvPr/>
        </p:nvSpPr>
        <p:spPr>
          <a:xfrm>
            <a:off x="8994648" y="4114800"/>
            <a:ext cx="2417064" cy="457200"/>
          </a:xfrm>
          <a:prstGeom prst="rect">
            <a:avLst/>
          </a:prstGeom>
          <a:noFill/>
          <a:ln/>
        </p:spPr>
        <p:txBody>
          <a:bodyPr wrap="square" lIns="0" tIns="0" rIns="0" bIns="0" rtlCol="0" anchor="ctr"/>
          <a:lstStyle/>
          <a:p>
            <a:pPr marL="0" indent="0">
              <a:buNone/>
            </a:pPr>
            <a:r>
              <a:rPr lang="en-US" sz="1700" b="1" dirty="0">
                <a:solidFill>
                  <a:srgbClr val="00E5FF"/>
                </a:solidFill>
                <a:latin typeface="Cambria" pitchFamily="34" charset="0"/>
                <a:ea typeface="Cambria" pitchFamily="34" charset="-122"/>
                <a:cs typeface="Cambria" pitchFamily="34" charset="-120"/>
              </a:rPr>
              <a:t>Human decision</a:t>
            </a:r>
            <a:endParaRPr lang="en-US" sz="1700" dirty="0"/>
          </a:p>
        </p:txBody>
      </p:sp>
      <p:sp>
        <p:nvSpPr>
          <p:cNvPr id="36" name="Text 33"/>
          <p:cNvSpPr txBox="1"/>
          <p:nvPr/>
        </p:nvSpPr>
        <p:spPr>
          <a:xfrm>
            <a:off x="8354568" y="4754880"/>
            <a:ext cx="3057144" cy="960120"/>
          </a:xfrm>
          <a:prstGeom prst="rect">
            <a:avLst/>
          </a:prstGeom>
          <a:noFill/>
          <a:ln/>
        </p:spPr>
        <p:txBody>
          <a:bodyPr wrap="square" lIns="0" tIns="0" rIns="0" bIns="0" rtlCol="0" anchor="t"/>
          <a:lstStyle/>
          <a:p>
            <a:pPr>
              <a:spcAft>
                <a:spcPts val="600"/>
              </a:spcAft>
            </a:pPr>
            <a:r>
              <a:rPr lang="en-US" sz="1300" b="1" dirty="0">
                <a:solidFill>
                  <a:srgbClr val="00E5FF"/>
                </a:solidFill>
                <a:latin typeface="Calibri" pitchFamily="34" charset="0"/>
                <a:ea typeface="Calibri" pitchFamily="34" charset="-122"/>
                <a:cs typeface="Calibri" pitchFamily="34" charset="-120"/>
              </a:rPr>
              <a:t>Flagged or Cleared is a person’s choice. The score is not an automatic fail.</a:t>
            </a:r>
          </a:p>
        </p:txBody>
      </p:sp>
      <p:sp>
        <p:nvSpPr>
          <p:cNvPr id="37" name="Text 34"/>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38" name="Text 35"/>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72128"/>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Arnò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Feature review of commercial systems plus two case studies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29 commercial proctoring systems; automated and live exams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LMS fit, lockdown, monitoring, GDPR flag, live versus automated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Automated detection was unreliable; still recommends webcam support for a hum…</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Butler-Henderson and Crawford,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Systematic review</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36 papers, 2009–2018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Exam design, security, student experience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Stops at 2018 and is thin on privacy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Draaijer et al., 2018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 of EU practice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Higher-education providers in the EU</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Live, recorded, and automated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 state-of-play survey, not a privacy-bounded design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Han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Systematic literature review</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Digital-proctoring studies through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ethics, bias, effectiveness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Reviews the field; does not specify an open scoring rule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Heinrich, 2025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Systematic-narrative review</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33 commercial online proctoring systems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Biometric capture, flag types, published rules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Biometrics dominate, and flags lack an open standard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9"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10"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7</a:t>
            </a:r>
            <a:endParaRPr lang="en-US" sz="1000" dirty="0"/>
          </a:p>
        </p:txBody>
      </p:sp>
      <p:sp>
        <p:nvSpPr>
          <p:cNvPr id="12"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Surveys of proctoring</a:t>
            </a:r>
            <a:endParaRPr lang="en-US" sz="1200" b="1"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72128"/>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Holden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Narrative review of integrity research</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Studies of online higher-education assessment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Causes of dishonesty; prevention and detection methods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Recommends a mix of measures; privacy is named, not engineered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Hussein et al.,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Tool evaluation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Commercial proctoring products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Feature lists: webcam, lockdown, identity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Feature lists, not a privacy-bounded design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Nigam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Review of AI and non-AI systems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43 systems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voice, lockdown, identity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is named, not designed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Noorbehbahani et al.,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Systematic mapping review</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58 publications, January 2010 to February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Motivation, type, detection, prevention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Maps the field through early 2021; does not test a bounded monitor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Topuz et al.,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Systematic feature analysis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Academic studies of online assessment systems published in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Platforms, security features, common features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Security is described as a feature list, not as a minimised event log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8</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Surveys of proctoring</a:t>
            </a:r>
            <a:endParaRPr lang="en-US" sz="1200"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1170432"/>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Khalil et al.,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Surveys of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PRISMA-informed systematic review</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27 peer-reviewed articles and papers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Cost, usability, integrity, privacy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Institutions chose on cost and ease; student privacy was often absent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9</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Surveys of proctoring</a:t>
            </a:r>
            <a:endParaRPr lang="en-US" sz="1200" b="1"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23360"/>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Alessio and Messinger,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Faculty and student survey on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University respondents; mixed views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invasion: 53% faculty, 70% students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Documents the objection; does not design a non-biometric monitor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Balash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Review analysis plus student survey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Browser-extension reviews and n = 102 students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Identity checks, webcam, screen, browser history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Students feel compelled by the institution; no alternative design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Coghlan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Ethical analysis of supervision technologies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Published systems and policy arguments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Consent, proportionality, surveillance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No system design follows the critique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Conijn et al.,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Four-wave multilevel survey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1,760 students in 105 courses at one Dutch faculty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Temptation to cheat, anxiety, difficulty, grade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Proctoring raised anxiety and did not reduce temptation to cheat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Gudiño Paredes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Mixed-methods study of remote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Online graduate students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Honesty, privacy, anxiety, technology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Students felt watched; privacy and anxiety remained the concern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10</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Privacy and ethics</a:t>
            </a:r>
            <a:endParaRPr lang="en-US" sz="1200" b="1"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72128"/>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Kharbat and Abu Daabes,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Mixed-methods student study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About 92–106 students, June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practicality and privacy concern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Most students called the webcam a privacy breach</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Lee and Fanguy,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Qualitative case study using Foucault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Large South Korean university, Safe Exam Browser and Zoom, autumn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Student subjectivity, trust, pedagogical relationship</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Shows the harm of surveillance; does not specify a bounded monitor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Meulmeester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Post-test questionnaire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Medical students at one Dutch school, September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Invalidation from network, noise, webcam; privacy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Worry about a false flag can itself change the sitting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Milone et al., 2017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Student-experience study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Pharmacy students in proctored online exams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Stress, fairness, technical failure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Experience of surveillance, not an explainable rule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Mutimukwe et al., 2025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Stakeholder interviews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10 interviews, Scandinavia</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What is collected, who sees it, and for how long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is negotiated in talk; the systems still default to biometrics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11</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Privacy and ethics</a:t>
            </a:r>
            <a:endParaRPr lang="en-US" sz="1200"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1219200"/>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Selwyn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Privacy and ethics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Domestication study of adoption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Interviews, documents, news, and marketing, first pandemic year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Who controls the system; hidden labour; student vulnerability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Universities surrendered control to vendors; automation still needs people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12</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Privacy and ethics</a:t>
            </a:r>
            <a:endParaRPr lang="en-US" sz="1200" b="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239768"/>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Burgess et al.,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Lockdown browsers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Reverse engineering of four exam suites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Examplify, Exam360, Exam4, Electronic Blue Book</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Process allow-lists and facial checks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Renaming a process bypasses the allow-list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Mohammed and Ali,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Lockdown browsers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Case study of Safe Exam Browser with Moodle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One e-exam, with and without SEB; Wireshark and Registry Changes View</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Local programs, Windows tools, network use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Lockdown reduces local access and remains bypassable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Slusky,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Lockdown browsers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Cybersecurity review of proctoring systems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Commercial platforms including lockdown browsers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Authentication, process control, recording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Names the attack surface; does not publish a bypass-resistant rule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Diedenhofen and Musch, 2016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Browser-only signals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JavaScript page-focus detection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Lab plus online samples (115 lab, 186 online; 510 online)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Tab and window leave; sensitivity and specificity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Knows the page was left, not which application opened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Atoum et al., 2017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Multimodal biometric proctor: webcam, wearcam, microphone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24 subjects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Six visual and audio components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Requires biometrics and a second camera</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13</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Detection</a:t>
            </a:r>
            <a:endParaRPr lang="en-US" sz="1200" b="1"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23360"/>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Bergmans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Controlled experiment with an AI proctor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30 computer-science students; 6 asked to cheat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Automatic flags versus a later human check</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The model flagged none of the six cheaters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Erdem and Karabatak, 2025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Deep-learning and machine-learning classifiers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Visual behaviour in online exams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XGBoost with SHAP and LIME explanations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The explanation is added after the decision, and the cues are visual</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Fidas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Longitudinal study of continuous identity checks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TRUSTID proof of concept in tertiary settings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Face embedding and voice identification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Still depends on face and voice, which this project will not collect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Hylton et al., 2016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as a deterrent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Online exam with and without a webcam</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Misconduct and the feeling of being watched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Surveillance, not an explainable score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Labayen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 paper: continuous multimodal biometrics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SMOWL deployment; usability and privacy survey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Face, voice, typing, lockdown, human review of uncertain cases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Identity is biometric, and the paper is from the vendor's authors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14</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Detection</a:t>
            </a:r>
            <a:endParaRPr lang="en-US" sz="1200" b="1"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23360"/>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Li et al., 2015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Early automated MOOC proctor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Video of exam behaviour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Visual cues of suspicious behaviour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An early biometric line, with no published non-visual rule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Nurpeisova et al., 2022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Comparison of face-recognition models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Proctoring prototypes for online exams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Face-recognition accuracy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The detector is the face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Nurpeisova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 build: Proctor SU</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Django and Python exam setting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YOLO face, voice, keyboard, browser lockdown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Collects face, voice, and keystrokes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Özseven and Esin Özseven, 2026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Explainable neuro-symbolic detector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Exam video of gaze, head, and hands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Gaze, head pose, hand-object interaction, device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Explainable, but the cues are still the body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Potluri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Webcam and AI proctors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Attentive-net on video</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Clips labelled as mischievous behaviour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Visual attention features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Still a visual detector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15</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Detection</a:t>
            </a:r>
            <a:endParaRPr lang="en-US" sz="1200" b="1"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120896"/>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Dendir and Maxwell,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Score comparison under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Online course exams before and after proctoring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Score change when a proctor is added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Does not open the scoring black box</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Golden and Kohlbeck,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Study of test-bank item leakage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Online accounting classes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Item exposure and score patterns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About reused items, not about what the endpoint is doing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Henderson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Large post-exam self-report survey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7,839 students; 216 reported cheating; one Australian university,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Security measure, design, conditions, demographics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Cheating occurred across security measures; proctoring was incomplete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Ibrahim et al., 2023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ChatGPT answers compared with student work, then run through detectors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32 courses, 8 disciplines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Detector accuracy; obfuscation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Detectors fail, and light editing evades them</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Ilgaz and Afacan Adanır, 2020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Learner survey on online exams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Online learners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Preference for online exams and perceived fairness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About whether exams matter to learners, not how to score an event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16</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Detection</a:t>
            </a:r>
            <a:endParaRPr lang="en-US" sz="1200" b="1"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023360"/>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Kirsanov et al., 2025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Student survey on generative-AI use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31 of 174 economics undergraduates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Concealment of AI use; views on detection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Students hide AI use; detection is the wrong lever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Kofinas et al., 2025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Exploratory experiment on authentic assessment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Higher-education written tasks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What generative AI can reproduce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Small sample; explicit written knowledge is easy for the model to redo</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Lee and Vispoel, 2025</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Answer-pattern biclustering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Simulation on mixed-format tests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Response similarity, not behaviour</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Detects answer copying, not the other application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Newton and Essex, 2024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Systematic review of self-reported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Studies of online-exam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Prevalence; proctored versus unproctored comparisons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About 44.7% admitted cheating; the effect of proctoring is not settled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Ravesloot et al., 2026</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Score comparison across test formats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Dutch progress test; more than 10,000 sittings, five schools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Paper versus computer; remote proctor versus live supervision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Authors cite Bergmans: remote proctoring may deter rather than detect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17</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Detection</a:t>
            </a:r>
            <a:endParaRPr lang="en-US" sz="1200" b="1"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Literature Review</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3109086153"/>
              </p:ext>
            </p:extLst>
          </p:nvPr>
        </p:nvGraphicFramePr>
        <p:xfrm>
          <a:off x="548640" y="1600200"/>
          <a:ext cx="11091672" cy="4120896"/>
        </p:xfrm>
        <a:graphic>
          <a:graphicData uri="http://schemas.openxmlformats.org/drawingml/2006/table">
            <a:tbl>
              <a:tblPr/>
              <a:tblGrid>
                <a:gridCol w="640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gridCol w="1856232">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Author(s), Year</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Category / Theme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Proposed Technique</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Dataset / Tools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tc>
                  <a:txBody>
                    <a:bodyPr/>
                    <a:lstStyle/>
                    <a:p>
                      <a:pPr marL="0" indent="0" algn="l">
                        <a:buNone/>
                      </a:pPr>
                      <a:r>
                        <a:rPr lang="en-US" sz="1200" b="1" dirty="0">
                          <a:solidFill>
                            <a:srgbClr val="0B0F14"/>
                          </a:solidFill>
                          <a:latin typeface="Segoe UI" pitchFamily="34" charset="0"/>
                          <a:ea typeface="Calibri" pitchFamily="34" charset="-122"/>
                          <a:cs typeface="Calibri" pitchFamily="34" charset="-120"/>
                        </a:rPr>
                        <a:t>Limitations</a:t>
                      </a:r>
                      <a:endParaRPr lang="en-US" sz="12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Rios and Liu, 2017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Score comparison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Low-stakes internet tests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Proctored versus unproctored scores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Low-stakes only, and the mechanism is not opened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1"/>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Scarfe et al., 2024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100% AI exam scripts submitted into real modules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University of Reading psychology examinations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Detection rate and grade boundary</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94% of AI scripts were undetected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2"/>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Stanoyevitch, 2024</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Observational score comparison</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Introductory statistics, in person, online, and after ChatGPT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Mean score shift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A score jump is not evidence of who cheated</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3"/>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Vazquez et al., 2021</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Two randomized field experiments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One face-to-face class and one online class</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Live proctor versus web proctor; score gap</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Unproctored scores were about 11% higher; the online web proctor had the smal…</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0E141C"/>
                    </a:solidFill>
                  </a:tcPr>
                </a:tc>
                <a:extLst>
                  <a:ext uri="{0D108BD9-81ED-4DB2-BD59-A6C34878D82A}">
                    <a16:rowId xmlns:a16="http://schemas.microsoft.com/office/drawing/2014/main" val="10004"/>
                  </a:ext>
                </a:extLst>
              </a:tr>
              <a:tr h="713232">
                <a:tc>
                  <a:txBody>
                    <a:bodyPr/>
                    <a:lstStyle/>
                    <a:p>
                      <a:pPr marL="0" indent="0">
                        <a:buNone/>
                      </a:pPr>
                      <a:r>
                        <a:rPr lang="en-US" sz="1100" b="1" dirty="0">
                          <a:solidFill>
                            <a:srgbClr val="E8EAED"/>
                          </a:solidFill>
                          <a:latin typeface="Segoe U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Weiner and Hurtz, 2017</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Generative AI and answer-pattern cheating</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Quasi-experiment on score equivalence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Three professional licensing exams; kiosk video versus test centre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Reliability and measurement equivalence</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tc>
                  <a:txBody>
                    <a:bodyPr/>
                    <a:lstStyle/>
                    <a:p>
                      <a:pPr marL="0" indent="0">
                        <a:buNone/>
                      </a:pPr>
                      <a:r>
                        <a:rPr lang="en-US" sz="1100" dirty="0">
                          <a:solidFill>
                            <a:srgbClr val="E8EAED"/>
                          </a:solidFill>
                          <a:latin typeface="Segoe UI" pitchFamily="34" charset="0"/>
                          <a:ea typeface="Calibri" pitchFamily="34" charset="-122"/>
                          <a:cs typeface="Calibri" pitchFamily="34" charset="-120"/>
                        </a:rPr>
                        <a:t>Equivalence of video kiosks, not a reason to record the face by default</a:t>
                      </a:r>
                      <a:endParaRPr lang="en-US" sz="1100" dirty="0">
                        <a:latin typeface="Calibri" charset="0"/>
                        <a:ea typeface="Calibri" charset="0"/>
                        <a:cs typeface="Calibri" charset="0"/>
                      </a:endParaRPr>
                    </a:p>
                  </a:txBody>
                  <a:tcPr anchor="ctr">
                    <a:lnL w="12700" cap="flat" cmpd="sng" algn="ctr">
                      <a:solidFill>
                        <a:srgbClr val="D5DAE6"/>
                      </a:solidFill>
                      <a:prstDash val="solid"/>
                      <a:round/>
                      <a:headEnd type="none" w="med" len="med"/>
                      <a:tailEnd type="none" w="med" len="med"/>
                    </a:lnL>
                    <a:lnR w="12700" cap="flat" cmpd="sng" algn="ctr">
                      <a:solidFill>
                        <a:srgbClr val="D5DAE6"/>
                      </a:solidFill>
                      <a:prstDash val="solid"/>
                      <a:round/>
                      <a:headEnd type="none" w="med" len="med"/>
                      <a:tailEnd type="none" w="med" len="med"/>
                    </a:lnR>
                    <a:lnT w="12700" cap="flat" cmpd="sng" algn="ctr">
                      <a:solidFill>
                        <a:srgbClr val="D5DAE6"/>
                      </a:solidFill>
                      <a:prstDash val="solid"/>
                      <a:round/>
                      <a:headEnd type="none" w="med" len="med"/>
                      <a:tailEnd type="none" w="med" len="med"/>
                    </a:lnT>
                    <a:lnB w="12700" cap="flat" cmpd="sng" algn="ctr">
                      <a:solidFill>
                        <a:srgbClr val="D5DAE6"/>
                      </a:solidFill>
                      <a:prstDash val="solid"/>
                      <a:round/>
                      <a:headEnd type="none" w="med" len="med"/>
                      <a:tailEnd type="none" w="med" len="med"/>
                    </a:lnB>
                    <a:solidFill>
                      <a:srgbClr val="121820"/>
                    </a:solidFill>
                  </a:tcPr>
                </a:tc>
                <a:extLst>
                  <a:ext uri="{0D108BD9-81ED-4DB2-BD59-A6C34878D82A}">
                    <a16:rowId xmlns:a16="http://schemas.microsoft.com/office/drawing/2014/main" val="10005"/>
                  </a:ext>
                </a:extLst>
              </a:tr>
            </a:tbl>
          </a:graphicData>
        </a:graphic>
      </p:graphicFrame>
      <p:sp>
        <p:nvSpPr>
          <p:cNvPr id="4" name="Text 4"/>
          <p:cNvSpPr txBox="1"/>
          <p:nvPr/>
        </p:nvSpPr>
        <p:spPr>
          <a:xfrm>
            <a:off x="548640" y="5806440"/>
            <a:ext cx="11091672" cy="365760"/>
          </a:xfrm>
          <a:prstGeom prst="rect">
            <a:avLst/>
          </a:prstGeom>
          <a:noFill/>
          <a:ln/>
        </p:spPr>
        <p:txBody>
          <a:bodyPr wrap="square" lIns="0" tIns="0" rIns="0" bIns="0" rtlCol="0" anchor="ctr"/>
          <a:lstStyle/>
          <a:p>
            <a:pPr marL="0" indent="0">
              <a:buNone/>
            </a:pPr>
            <a:endParaRPr lang="en-US" sz="1200" dirty="0"/>
          </a:p>
        </p:txBody>
      </p:sp>
      <p:sp>
        <p:nvSpPr>
          <p:cNvPr id="5" name="Text 5"/>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6"/>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18</a:t>
            </a:r>
            <a:endParaRPr lang="en-US" sz="1000" dirty="0"/>
          </a:p>
        </p:txBody>
      </p:sp>
      <p:sp>
        <p:nvSpPr>
          <p:cNvPr id="7" name="Text 4">
            <a:extLst>
              <a:ext uri="{FF2B5EF4-FFF2-40B4-BE49-F238E27FC236}">
                <a16:creationId xmlns:a16="http://schemas.microsoft.com/office/drawing/2014/main" id="{9F53F738-8DE4-701D-6699-9BFCF6DC47F3}"/>
              </a:ext>
            </a:extLst>
          </p:cNvPr>
          <p:cNvSpPr txBox="1"/>
          <p:nvPr/>
        </p:nvSpPr>
        <p:spPr>
          <a:xfrm>
            <a:off x="548640" y="1015904"/>
            <a:ext cx="11091672" cy="365760"/>
          </a:xfrm>
          <a:prstGeom prst="rect">
            <a:avLst/>
          </a:prstGeom>
          <a:noFill/>
          <a:ln/>
        </p:spPr>
        <p:txBody>
          <a:bodyPr wrap="square" lIns="0" tIns="0" rIns="0" bIns="0" rtlCol="0" anchor="ctr"/>
          <a:lstStyle/>
          <a:p>
            <a:pPr marL="0" indent="0">
              <a:buNone/>
            </a:pPr>
            <a:r>
              <a:rPr lang="en-US" sz="1200" b="1" i="1" dirty="0">
                <a:solidFill>
                  <a:srgbClr val="B6FF00"/>
                </a:solidFill>
                <a:latin typeface="Calibri" pitchFamily="34" charset="0"/>
                <a:ea typeface="Calibri" pitchFamily="34" charset="-122"/>
                <a:cs typeface="Calibri" pitchFamily="34" charset="-120"/>
              </a:rPr>
              <a:t>Detection</a:t>
            </a:r>
            <a:endParaRPr lang="en-US" sz="1200"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142767"/>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Research Gaps</a:t>
            </a:r>
            <a:endParaRPr lang="en-US" sz="3400" dirty="0"/>
          </a:p>
        </p:txBody>
      </p:sp>
      <p:sp>
        <p:nvSpPr>
          <p:cNvPr id="7" name="Shape 4"/>
          <p:cNvSpPr/>
          <p:nvPr/>
        </p:nvSpPr>
        <p:spPr>
          <a:xfrm>
            <a:off x="548640" y="97909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 name="Shape 5"/>
          <p:cNvSpPr/>
          <p:nvPr/>
        </p:nvSpPr>
        <p:spPr>
          <a:xfrm>
            <a:off x="822960" y="1184838"/>
            <a:ext cx="548640" cy="548640"/>
          </a:xfrm>
          <a:prstGeom prst="ellipse">
            <a:avLst/>
          </a:prstGeom>
          <a:solidFill>
            <a:srgbClr val="FF2D95"/>
          </a:solidFill>
          <a:ln w="12700">
            <a:noFill/>
            <a:prstDash val="solid"/>
          </a:ln>
        </p:spPr>
        <p:txBody>
          <a:bodyPr/>
          <a:lstStyle/>
          <a:p>
            <a:endParaRPr/>
          </a:p>
        </p:txBody>
      </p:sp>
      <p:sp>
        <p:nvSpPr>
          <p:cNvPr id="9" name="Text 6"/>
          <p:cNvSpPr txBox="1"/>
          <p:nvPr/>
        </p:nvSpPr>
        <p:spPr>
          <a:xfrm>
            <a:off x="822960" y="118483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G1</a:t>
            </a:r>
            <a:endParaRPr lang="en-US" sz="1500" dirty="0"/>
          </a:p>
        </p:txBody>
      </p:sp>
      <p:sp>
        <p:nvSpPr>
          <p:cNvPr id="10" name="Text 7"/>
          <p:cNvSpPr txBox="1"/>
          <p:nvPr/>
        </p:nvSpPr>
        <p:spPr>
          <a:xfrm>
            <a:off x="1600200" y="1070538"/>
            <a:ext cx="9941942" cy="777240"/>
          </a:xfrm>
          <a:prstGeom prst="rect">
            <a:avLst/>
          </a:prstGeom>
          <a:noFill/>
          <a:ln/>
        </p:spPr>
        <p:txBody>
          <a:bodyPr wrap="square" lIns="0" tIns="0" rIns="0" bIns="0" rtlCol="0" anchor="ctr"/>
          <a:lstStyle/>
          <a:p>
            <a:pPr marL="0" indent="0">
              <a:spcAft>
                <a:spcPts val="400"/>
              </a:spcAft>
              <a:buNone/>
            </a:pPr>
            <a:r>
              <a:rPr lang="en-US" sz="1700" b="1" dirty="0">
                <a:solidFill>
                  <a:srgbClr val="00E5FF"/>
                </a:solidFill>
                <a:latin typeface="Cambria" pitchFamily="34" charset="0"/>
                <a:ea typeface="Cambria" pitchFamily="34" charset="-122"/>
                <a:cs typeface="Cambria" pitchFamily="34" charset="-120"/>
              </a:rPr>
              <a:t>Biometric monitoring is the default, and students treat the webcam as a breach. Coghlan et al., 2021; Kharbat and Abu Daabes, 2021; Mutimukwe et al., 2025.</a:t>
            </a:r>
            <a:endParaRPr lang="en-US" sz="1700" dirty="0"/>
          </a:p>
        </p:txBody>
      </p:sp>
      <p:sp>
        <p:nvSpPr>
          <p:cNvPr id="12" name="Shape 9"/>
          <p:cNvSpPr/>
          <p:nvPr/>
        </p:nvSpPr>
        <p:spPr>
          <a:xfrm>
            <a:off x="548640" y="207637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13" name="Shape 10"/>
          <p:cNvSpPr/>
          <p:nvPr/>
        </p:nvSpPr>
        <p:spPr>
          <a:xfrm>
            <a:off x="822960" y="2282118"/>
            <a:ext cx="548640" cy="548640"/>
          </a:xfrm>
          <a:prstGeom prst="ellipse">
            <a:avLst/>
          </a:prstGeom>
          <a:solidFill>
            <a:srgbClr val="FF2D95"/>
          </a:solidFill>
          <a:ln w="12700">
            <a:noFill/>
            <a:prstDash val="solid"/>
          </a:ln>
        </p:spPr>
        <p:txBody>
          <a:bodyPr/>
          <a:lstStyle/>
          <a:p>
            <a:endParaRPr/>
          </a:p>
        </p:txBody>
      </p:sp>
      <p:sp>
        <p:nvSpPr>
          <p:cNvPr id="14" name="Text 11"/>
          <p:cNvSpPr txBox="1"/>
          <p:nvPr/>
        </p:nvSpPr>
        <p:spPr>
          <a:xfrm>
            <a:off x="822960" y="228211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G2</a:t>
            </a:r>
            <a:endParaRPr lang="en-US" sz="1500" dirty="0"/>
          </a:p>
        </p:txBody>
      </p:sp>
      <p:sp>
        <p:nvSpPr>
          <p:cNvPr id="15" name="Text 12"/>
          <p:cNvSpPr txBox="1"/>
          <p:nvPr/>
        </p:nvSpPr>
        <p:spPr>
          <a:xfrm>
            <a:off x="1600199" y="216781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Browser focus detects leaving the page, not the other app or a chatbot. Diedenhofen and Musch, 2016; Ibrahim et al., 2023; Scarfe et al., 2024.</a:t>
            </a:r>
            <a:endParaRPr lang="en-US" sz="1700" dirty="0"/>
          </a:p>
        </p:txBody>
      </p:sp>
      <p:sp>
        <p:nvSpPr>
          <p:cNvPr id="17" name="Shape 14"/>
          <p:cNvSpPr/>
          <p:nvPr/>
        </p:nvSpPr>
        <p:spPr>
          <a:xfrm>
            <a:off x="548640" y="317365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18" name="Shape 15"/>
          <p:cNvSpPr/>
          <p:nvPr/>
        </p:nvSpPr>
        <p:spPr>
          <a:xfrm>
            <a:off x="822960" y="3379398"/>
            <a:ext cx="548640" cy="548640"/>
          </a:xfrm>
          <a:prstGeom prst="ellipse">
            <a:avLst/>
          </a:prstGeom>
          <a:solidFill>
            <a:srgbClr val="FF2D95"/>
          </a:solidFill>
          <a:ln w="12700">
            <a:noFill/>
            <a:prstDash val="solid"/>
          </a:ln>
        </p:spPr>
        <p:txBody>
          <a:bodyPr/>
          <a:lstStyle/>
          <a:p>
            <a:endParaRPr/>
          </a:p>
        </p:txBody>
      </p:sp>
      <p:sp>
        <p:nvSpPr>
          <p:cNvPr id="19" name="Text 16"/>
          <p:cNvSpPr txBox="1"/>
          <p:nvPr/>
        </p:nvSpPr>
        <p:spPr>
          <a:xfrm>
            <a:off x="822960" y="337939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G3</a:t>
            </a:r>
            <a:endParaRPr lang="en-US" sz="1500" dirty="0"/>
          </a:p>
        </p:txBody>
      </p:sp>
      <p:sp>
        <p:nvSpPr>
          <p:cNvPr id="20" name="Text 17"/>
          <p:cNvSpPr txBox="1"/>
          <p:nvPr/>
        </p:nvSpPr>
        <p:spPr>
          <a:xfrm>
            <a:off x="1600199" y="326509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Commercial flags are opaque. Explainable detectors still depend on gaze and pose. Heinrich, 2025; Özseven and Esin Özseven, 2026.</a:t>
            </a:r>
            <a:endParaRPr lang="en-US" sz="1700" dirty="0"/>
          </a:p>
        </p:txBody>
      </p:sp>
      <p:sp>
        <p:nvSpPr>
          <p:cNvPr id="22" name="Shape 19"/>
          <p:cNvSpPr/>
          <p:nvPr/>
        </p:nvSpPr>
        <p:spPr>
          <a:xfrm>
            <a:off x="548640" y="427093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23" name="Shape 20"/>
          <p:cNvSpPr/>
          <p:nvPr/>
        </p:nvSpPr>
        <p:spPr>
          <a:xfrm>
            <a:off x="822960" y="4476678"/>
            <a:ext cx="548640" cy="548640"/>
          </a:xfrm>
          <a:prstGeom prst="ellipse">
            <a:avLst/>
          </a:prstGeom>
          <a:solidFill>
            <a:srgbClr val="FF2D95"/>
          </a:solidFill>
          <a:ln w="12700">
            <a:noFill/>
            <a:prstDash val="solid"/>
          </a:ln>
        </p:spPr>
        <p:txBody>
          <a:bodyPr/>
          <a:lstStyle/>
          <a:p>
            <a:endParaRPr/>
          </a:p>
        </p:txBody>
      </p:sp>
      <p:sp>
        <p:nvSpPr>
          <p:cNvPr id="24" name="Text 21"/>
          <p:cNvSpPr txBox="1"/>
          <p:nvPr/>
        </p:nvSpPr>
        <p:spPr>
          <a:xfrm>
            <a:off x="822960" y="447667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G4</a:t>
            </a:r>
            <a:endParaRPr lang="en-US" sz="1500" dirty="0"/>
          </a:p>
        </p:txBody>
      </p:sp>
      <p:sp>
        <p:nvSpPr>
          <p:cNvPr id="25" name="Text 22"/>
          <p:cNvSpPr txBox="1"/>
          <p:nvPr/>
        </p:nvSpPr>
        <p:spPr>
          <a:xfrm>
            <a:off x="1600199" y="436237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Lockdown browsers are privileged and bypassable. Burgess et al., 2022; Mohammed and Ali, 2022.</a:t>
            </a:r>
            <a:endParaRPr lang="en-US" sz="1700" dirty="0"/>
          </a:p>
        </p:txBody>
      </p:sp>
      <p:sp>
        <p:nvSpPr>
          <p:cNvPr id="27" name="Text 24"/>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28" name="Text 25"/>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19</a:t>
            </a:r>
            <a:endParaRPr lang="en-US" sz="1000" dirty="0"/>
          </a:p>
        </p:txBody>
      </p:sp>
      <p:sp>
        <p:nvSpPr>
          <p:cNvPr id="31" name="Shape 19">
            <a:extLst>
              <a:ext uri="{FF2B5EF4-FFF2-40B4-BE49-F238E27FC236}">
                <a16:creationId xmlns:a16="http://schemas.microsoft.com/office/drawing/2014/main" id="{02ECC144-5625-5604-E978-11EB7E3EFC80}"/>
              </a:ext>
            </a:extLst>
          </p:cNvPr>
          <p:cNvSpPr/>
          <p:nvPr/>
        </p:nvSpPr>
        <p:spPr>
          <a:xfrm>
            <a:off x="535585" y="5303520"/>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33" name="Shape 20">
            <a:extLst>
              <a:ext uri="{FF2B5EF4-FFF2-40B4-BE49-F238E27FC236}">
                <a16:creationId xmlns:a16="http://schemas.microsoft.com/office/drawing/2014/main" id="{D0FB0C59-3ACA-5A3B-417F-28A38DAEE96E}"/>
              </a:ext>
            </a:extLst>
          </p:cNvPr>
          <p:cNvSpPr/>
          <p:nvPr/>
        </p:nvSpPr>
        <p:spPr>
          <a:xfrm>
            <a:off x="809905" y="5509260"/>
            <a:ext cx="548640" cy="548640"/>
          </a:xfrm>
          <a:prstGeom prst="ellipse">
            <a:avLst/>
          </a:prstGeom>
          <a:solidFill>
            <a:srgbClr val="FF2D95"/>
          </a:solidFill>
          <a:ln w="12700">
            <a:noFill/>
            <a:prstDash val="solid"/>
          </a:ln>
        </p:spPr>
        <p:txBody>
          <a:bodyPr/>
          <a:lstStyle/>
          <a:p>
            <a:endParaRPr/>
          </a:p>
        </p:txBody>
      </p:sp>
      <p:sp>
        <p:nvSpPr>
          <p:cNvPr id="35" name="Text 21">
            <a:extLst>
              <a:ext uri="{FF2B5EF4-FFF2-40B4-BE49-F238E27FC236}">
                <a16:creationId xmlns:a16="http://schemas.microsoft.com/office/drawing/2014/main" id="{E55DBEEF-0FA4-3775-9470-A8B92537D958}"/>
              </a:ext>
            </a:extLst>
          </p:cNvPr>
          <p:cNvSpPr txBox="1"/>
          <p:nvPr/>
        </p:nvSpPr>
        <p:spPr>
          <a:xfrm>
            <a:off x="809905" y="55092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G5</a:t>
            </a:r>
            <a:endParaRPr lang="en-US" sz="1500" dirty="0"/>
          </a:p>
        </p:txBody>
      </p:sp>
      <p:sp>
        <p:nvSpPr>
          <p:cNvPr id="37" name="Text 22">
            <a:extLst>
              <a:ext uri="{FF2B5EF4-FFF2-40B4-BE49-F238E27FC236}">
                <a16:creationId xmlns:a16="http://schemas.microsoft.com/office/drawing/2014/main" id="{7BF38115-2397-1EF2-32FD-17ADBE531B30}"/>
              </a:ext>
            </a:extLst>
          </p:cNvPr>
          <p:cNvSpPr txBox="1"/>
          <p:nvPr/>
        </p:nvSpPr>
        <p:spPr>
          <a:xfrm>
            <a:off x="1587145" y="5394960"/>
            <a:ext cx="9954998"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Proctoring’s effect on cheating is not settled, so an automatic fail is not justified. Newton and Essex, 2024.</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a:extLst>
            <a:ext uri="{FF2B5EF4-FFF2-40B4-BE49-F238E27FC236}">
              <a16:creationId xmlns:a16="http://schemas.microsoft.com/office/drawing/2014/main" id="{A69E618E-9E74-992D-0F3E-FC22FA2970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466F24-EE8A-DE5F-34F7-A342653EA5A3}"/>
              </a:ext>
            </a:extLst>
          </p:cNvPr>
          <p:cNvSpPr txBox="1"/>
          <p:nvPr/>
        </p:nvSpPr>
        <p:spPr>
          <a:xfrm>
            <a:off x="548640" y="142767"/>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Objectives</a:t>
            </a:r>
            <a:endParaRPr lang="en-US" sz="3400" dirty="0"/>
          </a:p>
        </p:txBody>
      </p:sp>
      <p:sp>
        <p:nvSpPr>
          <p:cNvPr id="7" name="Shape 4">
            <a:extLst>
              <a:ext uri="{FF2B5EF4-FFF2-40B4-BE49-F238E27FC236}">
                <a16:creationId xmlns:a16="http://schemas.microsoft.com/office/drawing/2014/main" id="{0B6F638E-064E-B85B-CD83-6C14AEDBF61F}"/>
              </a:ext>
            </a:extLst>
          </p:cNvPr>
          <p:cNvSpPr/>
          <p:nvPr/>
        </p:nvSpPr>
        <p:spPr>
          <a:xfrm>
            <a:off x="450470" y="1720000"/>
            <a:ext cx="11091672" cy="78000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 name="Shape 5">
            <a:extLst>
              <a:ext uri="{FF2B5EF4-FFF2-40B4-BE49-F238E27FC236}">
                <a16:creationId xmlns:a16="http://schemas.microsoft.com/office/drawing/2014/main" id="{562C0FA2-F4AE-5FEF-430B-FCB508AD89BB}"/>
              </a:ext>
            </a:extLst>
          </p:cNvPr>
          <p:cNvSpPr/>
          <p:nvPr/>
        </p:nvSpPr>
        <p:spPr>
          <a:xfrm>
            <a:off x="724790" y="1894879"/>
            <a:ext cx="548640" cy="548640"/>
          </a:xfrm>
          <a:prstGeom prst="ellipse">
            <a:avLst/>
          </a:prstGeom>
          <a:solidFill>
            <a:srgbClr val="B6FF00"/>
          </a:solidFill>
          <a:ln w="12700">
            <a:noFill/>
            <a:prstDash val="solid"/>
          </a:ln>
        </p:spPr>
        <p:txBody>
          <a:bodyPr/>
          <a:lstStyle/>
          <a:p>
            <a:endParaRPr/>
          </a:p>
        </p:txBody>
      </p:sp>
      <p:sp>
        <p:nvSpPr>
          <p:cNvPr id="9" name="Text 6">
            <a:extLst>
              <a:ext uri="{FF2B5EF4-FFF2-40B4-BE49-F238E27FC236}">
                <a16:creationId xmlns:a16="http://schemas.microsoft.com/office/drawing/2014/main" id="{5D1CB346-23BF-D90D-311C-D07FFD2DF743}"/>
              </a:ext>
            </a:extLst>
          </p:cNvPr>
          <p:cNvSpPr txBox="1"/>
          <p:nvPr/>
        </p:nvSpPr>
        <p:spPr>
          <a:xfrm>
            <a:off x="724790" y="1894879"/>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O1</a:t>
            </a:r>
            <a:endParaRPr lang="en-US" sz="1500" dirty="0"/>
          </a:p>
        </p:txBody>
      </p:sp>
      <p:sp>
        <p:nvSpPr>
          <p:cNvPr id="10" name="Text 7">
            <a:extLst>
              <a:ext uri="{FF2B5EF4-FFF2-40B4-BE49-F238E27FC236}">
                <a16:creationId xmlns:a16="http://schemas.microsoft.com/office/drawing/2014/main" id="{9BE13F45-288B-3A9C-0E9F-2EC77B001708}"/>
              </a:ext>
            </a:extLst>
          </p:cNvPr>
          <p:cNvSpPr txBox="1"/>
          <p:nvPr/>
        </p:nvSpPr>
        <p:spPr>
          <a:xfrm>
            <a:off x="1502030" y="1797724"/>
            <a:ext cx="9941942" cy="680000"/>
          </a:xfrm>
          <a:prstGeom prst="rect">
            <a:avLst/>
          </a:prstGeom>
          <a:noFill/>
          <a:ln/>
        </p:spPr>
        <p:txBody>
          <a:bodyPr wrap="square" lIns="0" tIns="0" rIns="0" bIns="0" rtlCol="0" anchor="ctr"/>
          <a:lstStyle/>
          <a:p>
            <a:pPr marL="0" indent="0">
              <a:spcAft>
                <a:spcPts val="400"/>
              </a:spcAft>
              <a:buNone/>
            </a:pPr>
            <a:r>
              <a:rPr lang="en-US" sz="1700" b="1" dirty="0">
                <a:solidFill>
                  <a:srgbClr val="00E5FF"/>
                </a:solidFill>
                <a:latin typeface="Cambria" pitchFamily="34" charset="0"/>
                <a:ea typeface="Cambria" pitchFamily="34" charset="-122"/>
                <a:cs typeface="Cambria" pitchFamily="34" charset="-120"/>
              </a:rPr>
              <a:t>Develop a privacy-bounded online examination integrity platform with a shared exam website and visible endpoint monitor.</a:t>
            </a:r>
            <a:endParaRPr lang="en-US" sz="1700" dirty="0"/>
          </a:p>
        </p:txBody>
      </p:sp>
      <p:sp>
        <p:nvSpPr>
          <p:cNvPr id="12" name="Shape 9">
            <a:extLst>
              <a:ext uri="{FF2B5EF4-FFF2-40B4-BE49-F238E27FC236}">
                <a16:creationId xmlns:a16="http://schemas.microsoft.com/office/drawing/2014/main" id="{10B792A6-D196-BF64-E3D0-36267B7711B3}"/>
              </a:ext>
            </a:extLst>
          </p:cNvPr>
          <p:cNvSpPr/>
          <p:nvPr/>
        </p:nvSpPr>
        <p:spPr>
          <a:xfrm>
            <a:off x="450470" y="2600000"/>
            <a:ext cx="11091672" cy="78000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13" name="Shape 10">
            <a:extLst>
              <a:ext uri="{FF2B5EF4-FFF2-40B4-BE49-F238E27FC236}">
                <a16:creationId xmlns:a16="http://schemas.microsoft.com/office/drawing/2014/main" id="{F9A6196D-F94E-86FC-37E2-0D83BECCA86E}"/>
              </a:ext>
            </a:extLst>
          </p:cNvPr>
          <p:cNvSpPr/>
          <p:nvPr/>
        </p:nvSpPr>
        <p:spPr>
          <a:xfrm>
            <a:off x="724790" y="2774879"/>
            <a:ext cx="548640" cy="548640"/>
          </a:xfrm>
          <a:prstGeom prst="ellipse">
            <a:avLst/>
          </a:prstGeom>
          <a:solidFill>
            <a:srgbClr val="B6FF00"/>
          </a:solidFill>
          <a:ln w="12700">
            <a:noFill/>
            <a:prstDash val="solid"/>
          </a:ln>
        </p:spPr>
        <p:txBody>
          <a:bodyPr/>
          <a:lstStyle/>
          <a:p>
            <a:endParaRPr/>
          </a:p>
        </p:txBody>
      </p:sp>
      <p:sp>
        <p:nvSpPr>
          <p:cNvPr id="14" name="Text 11">
            <a:extLst>
              <a:ext uri="{FF2B5EF4-FFF2-40B4-BE49-F238E27FC236}">
                <a16:creationId xmlns:a16="http://schemas.microsoft.com/office/drawing/2014/main" id="{EBA2C221-3084-8681-5A60-9ECEE93F9285}"/>
              </a:ext>
            </a:extLst>
          </p:cNvPr>
          <p:cNvSpPr txBox="1"/>
          <p:nvPr/>
        </p:nvSpPr>
        <p:spPr>
          <a:xfrm>
            <a:off x="724790" y="2774879"/>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O2</a:t>
            </a:r>
            <a:endParaRPr lang="en-US" sz="1500" dirty="0"/>
          </a:p>
        </p:txBody>
      </p:sp>
      <p:sp>
        <p:nvSpPr>
          <p:cNvPr id="15" name="Text 12">
            <a:extLst>
              <a:ext uri="{FF2B5EF4-FFF2-40B4-BE49-F238E27FC236}">
                <a16:creationId xmlns:a16="http://schemas.microsoft.com/office/drawing/2014/main" id="{DBEB953D-E052-2CEF-E1C8-E2B5F66DEC9D}"/>
              </a:ext>
            </a:extLst>
          </p:cNvPr>
          <p:cNvSpPr txBox="1"/>
          <p:nvPr/>
        </p:nvSpPr>
        <p:spPr>
          <a:xfrm>
            <a:off x="1502029" y="2677724"/>
            <a:ext cx="9941943" cy="68000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Ensure transparency by clearly disclosing what information is monitored and what information is not collected.</a:t>
            </a:r>
            <a:endParaRPr lang="en-US" sz="1700" dirty="0"/>
          </a:p>
        </p:txBody>
      </p:sp>
      <p:sp>
        <p:nvSpPr>
          <p:cNvPr id="17" name="Shape 14">
            <a:extLst>
              <a:ext uri="{FF2B5EF4-FFF2-40B4-BE49-F238E27FC236}">
                <a16:creationId xmlns:a16="http://schemas.microsoft.com/office/drawing/2014/main" id="{16629E03-795F-2887-5167-C9843988E138}"/>
              </a:ext>
            </a:extLst>
          </p:cNvPr>
          <p:cNvSpPr/>
          <p:nvPr/>
        </p:nvSpPr>
        <p:spPr>
          <a:xfrm>
            <a:off x="450470" y="3480000"/>
            <a:ext cx="11091672" cy="78000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18" name="Shape 15">
            <a:extLst>
              <a:ext uri="{FF2B5EF4-FFF2-40B4-BE49-F238E27FC236}">
                <a16:creationId xmlns:a16="http://schemas.microsoft.com/office/drawing/2014/main" id="{35B7D005-A9D2-C5A4-4D91-089BA2612B2E}"/>
              </a:ext>
            </a:extLst>
          </p:cNvPr>
          <p:cNvSpPr/>
          <p:nvPr/>
        </p:nvSpPr>
        <p:spPr>
          <a:xfrm>
            <a:off x="724790" y="3654879"/>
            <a:ext cx="548640" cy="548640"/>
          </a:xfrm>
          <a:prstGeom prst="ellipse">
            <a:avLst/>
          </a:prstGeom>
          <a:solidFill>
            <a:srgbClr val="B6FF00"/>
          </a:solidFill>
          <a:ln w="12700">
            <a:noFill/>
            <a:prstDash val="solid"/>
          </a:ln>
        </p:spPr>
        <p:txBody>
          <a:bodyPr/>
          <a:lstStyle/>
          <a:p>
            <a:endParaRPr/>
          </a:p>
        </p:txBody>
      </p:sp>
      <p:sp>
        <p:nvSpPr>
          <p:cNvPr id="19" name="Text 16">
            <a:extLst>
              <a:ext uri="{FF2B5EF4-FFF2-40B4-BE49-F238E27FC236}">
                <a16:creationId xmlns:a16="http://schemas.microsoft.com/office/drawing/2014/main" id="{1F8A8706-5940-BE16-EB73-A8685B03241E}"/>
              </a:ext>
            </a:extLst>
          </p:cNvPr>
          <p:cNvSpPr txBox="1"/>
          <p:nvPr/>
        </p:nvSpPr>
        <p:spPr>
          <a:xfrm>
            <a:off x="724790" y="3654879"/>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O3</a:t>
            </a:r>
            <a:endParaRPr lang="en-US" sz="1500" dirty="0"/>
          </a:p>
        </p:txBody>
      </p:sp>
      <p:sp>
        <p:nvSpPr>
          <p:cNvPr id="20" name="Text 17">
            <a:extLst>
              <a:ext uri="{FF2B5EF4-FFF2-40B4-BE49-F238E27FC236}">
                <a16:creationId xmlns:a16="http://schemas.microsoft.com/office/drawing/2014/main" id="{81C28385-44D0-D4A5-E0B9-A325922CB7E1}"/>
              </a:ext>
            </a:extLst>
          </p:cNvPr>
          <p:cNvSpPr txBox="1"/>
          <p:nvPr/>
        </p:nvSpPr>
        <p:spPr>
          <a:xfrm>
            <a:off x="1502029" y="3557724"/>
            <a:ext cx="9941943" cy="68000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Detect and evaluate common suspicious activities using an adversarial catalog of honest and cheating scenarios.</a:t>
            </a:r>
            <a:endParaRPr lang="en-US" sz="1700" dirty="0"/>
          </a:p>
        </p:txBody>
      </p:sp>
      <p:sp>
        <p:nvSpPr>
          <p:cNvPr id="27" name="Text 24">
            <a:extLst>
              <a:ext uri="{FF2B5EF4-FFF2-40B4-BE49-F238E27FC236}">
                <a16:creationId xmlns:a16="http://schemas.microsoft.com/office/drawing/2014/main" id="{203A6001-B32D-0692-985C-EDD2EC0E8967}"/>
              </a:ext>
            </a:extLst>
          </p:cNvPr>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28" name="Text 25">
            <a:extLst>
              <a:ext uri="{FF2B5EF4-FFF2-40B4-BE49-F238E27FC236}">
                <a16:creationId xmlns:a16="http://schemas.microsoft.com/office/drawing/2014/main" id="{407488F8-4E92-2031-CB98-6697FA41A884}"/>
              </a:ext>
            </a:extLst>
          </p:cNvPr>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20</a:t>
            </a:r>
            <a:endParaRPr lang="en-US" sz="1000" dirty="0"/>
          </a:p>
        </p:txBody>
      </p:sp>
      <p:sp>
        <p:nvSpPr>
          <p:cNvPr id="4" name="Shape 4">
            <a:extLst>
              <a:ext uri="{FF2B5EF4-FFF2-40B4-BE49-F238E27FC236}">
                <a16:creationId xmlns:a16="http://schemas.microsoft.com/office/drawing/2014/main" id="{5F98A206-720C-98E9-B232-619CA4E01241}"/>
              </a:ext>
            </a:extLst>
          </p:cNvPr>
          <p:cNvSpPr/>
          <p:nvPr/>
        </p:nvSpPr>
        <p:spPr>
          <a:xfrm>
            <a:off x="450470" y="864798"/>
            <a:ext cx="11091672" cy="755202"/>
          </a:xfrm>
          <a:prstGeom prst="roundRect">
            <a:avLst>
              <a:gd name="adj" fmla="val 9600"/>
            </a:avLst>
          </a:prstGeom>
          <a:solidFill>
            <a:srgbClr val="121820"/>
          </a:solidFill>
          <a:ln w="15875">
            <a:solidFill>
              <a:srgbClr val="00E5FF"/>
            </a:solidFill>
            <a:prstDash val="solid"/>
          </a:ln>
        </p:spPr>
        <p:txBody>
          <a:bodyPr/>
          <a:lstStyle/>
          <a:p>
            <a:endParaRPr/>
          </a:p>
        </p:txBody>
      </p:sp>
      <p:sp>
        <p:nvSpPr>
          <p:cNvPr id="6" name="Text 5">
            <a:extLst>
              <a:ext uri="{FF2B5EF4-FFF2-40B4-BE49-F238E27FC236}">
                <a16:creationId xmlns:a16="http://schemas.microsoft.com/office/drawing/2014/main" id="{31488074-FA35-7C6F-534E-91E6D5860F4C}"/>
              </a:ext>
            </a:extLst>
          </p:cNvPr>
          <p:cNvSpPr txBox="1"/>
          <p:nvPr/>
        </p:nvSpPr>
        <p:spPr>
          <a:xfrm>
            <a:off x="816230" y="910518"/>
            <a:ext cx="10360152" cy="620000"/>
          </a:xfrm>
          <a:prstGeom prst="rect">
            <a:avLst/>
          </a:prstGeom>
          <a:noFill/>
          <a:ln/>
        </p:spPr>
        <p:txBody>
          <a:bodyPr wrap="square" lIns="0" tIns="0" rIns="0" bIns="0" rtlCol="0" anchor="ctr"/>
          <a:lstStyle/>
          <a:p>
            <a:pPr marL="0" indent="0">
              <a:spcAft>
                <a:spcPts val="400"/>
              </a:spcAft>
              <a:buNone/>
            </a:pPr>
            <a:r>
              <a:rPr lang="en-US" sz="1300" b="1" kern="0" spc="200" dirty="0">
                <a:solidFill>
                  <a:srgbClr val="F2C46D"/>
                </a:solidFill>
                <a:latin typeface="Calibri" pitchFamily="34" charset="0"/>
                <a:ea typeface="Calibri" pitchFamily="34" charset="-122"/>
                <a:cs typeface="Calibri" pitchFamily="34" charset="-120"/>
              </a:rPr>
              <a:t>OBJECTIVES</a:t>
            </a:r>
            <a:endParaRPr lang="en-US" sz="1300" dirty="0"/>
          </a:p>
          <a:p>
            <a:pPr marL="0" indent="0">
              <a:spcAft>
                <a:spcPts val="400"/>
              </a:spcAft>
              <a:buNone/>
            </a:pPr>
            <a:r>
              <a:rPr lang="en-US" sz="2000" b="1" dirty="0">
                <a:solidFill>
                  <a:srgbClr val="FFFFFF"/>
                </a:solidFill>
                <a:latin typeface="Cambria" pitchFamily="34" charset="0"/>
                <a:ea typeface="Cambria" pitchFamily="34" charset="-122"/>
                <a:cs typeface="Cambria" pitchFamily="34" charset="-120"/>
              </a:rPr>
              <a:t>What this project will deliver.</a:t>
            </a:r>
            <a:endParaRPr lang="en-US" sz="1300" dirty="0"/>
          </a:p>
        </p:txBody>
      </p:sp>
      <p:sp>
        <p:nvSpPr>
          <p:cNvPr id="80" name="Shape 14">
            <a:extLst>
              <a:ext uri="{FF2B5EF4-FFF2-40B4-BE49-F238E27FC236}">
                <a16:creationId xmlns:a16="http://schemas.microsoft.com/office/drawing/2014/main" id="{16629E03-795F-2887-5167-C9843988E138}"/>
              </a:ext>
            </a:extLst>
          </p:cNvPr>
          <p:cNvSpPr/>
          <p:nvPr/>
        </p:nvSpPr>
        <p:spPr>
          <a:xfrm>
            <a:off x="450470" y="4360000"/>
            <a:ext cx="11091672" cy="78000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1" name="Shape 15">
            <a:extLst>
              <a:ext uri="{FF2B5EF4-FFF2-40B4-BE49-F238E27FC236}">
                <a16:creationId xmlns:a16="http://schemas.microsoft.com/office/drawing/2014/main" id="{35B7D005-A9D2-C5A4-4D91-089BA2612B2E}"/>
              </a:ext>
            </a:extLst>
          </p:cNvPr>
          <p:cNvSpPr/>
          <p:nvPr/>
        </p:nvSpPr>
        <p:spPr>
          <a:xfrm>
            <a:off x="724790" y="4534879"/>
            <a:ext cx="548640" cy="548640"/>
          </a:xfrm>
          <a:prstGeom prst="ellipse">
            <a:avLst/>
          </a:prstGeom>
          <a:solidFill>
            <a:srgbClr val="B6FF00"/>
          </a:solidFill>
          <a:ln w="12700">
            <a:noFill/>
            <a:prstDash val="solid"/>
          </a:ln>
        </p:spPr>
        <p:txBody>
          <a:bodyPr/>
          <a:lstStyle/>
          <a:p>
            <a:endParaRPr/>
          </a:p>
        </p:txBody>
      </p:sp>
      <p:sp>
        <p:nvSpPr>
          <p:cNvPr id="82" name="Text 16">
            <a:extLst>
              <a:ext uri="{FF2B5EF4-FFF2-40B4-BE49-F238E27FC236}">
                <a16:creationId xmlns:a16="http://schemas.microsoft.com/office/drawing/2014/main" id="{1F8A8706-5940-BE16-EB73-A8685B03241E}"/>
              </a:ext>
            </a:extLst>
          </p:cNvPr>
          <p:cNvSpPr txBox="1"/>
          <p:nvPr/>
        </p:nvSpPr>
        <p:spPr>
          <a:xfrm>
            <a:off x="724790" y="4534879"/>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O4</a:t>
            </a:r>
            <a:endParaRPr lang="en-US" sz="1500" dirty="0"/>
          </a:p>
        </p:txBody>
      </p:sp>
      <p:sp>
        <p:nvSpPr>
          <p:cNvPr id="83" name="Text 17">
            <a:extLst>
              <a:ext uri="{FF2B5EF4-FFF2-40B4-BE49-F238E27FC236}">
                <a16:creationId xmlns:a16="http://schemas.microsoft.com/office/drawing/2014/main" id="{81C28385-44D0-D4A5-E0B9-A325922CB7E1}"/>
              </a:ext>
            </a:extLst>
          </p:cNvPr>
          <p:cNvSpPr txBox="1"/>
          <p:nvPr/>
        </p:nvSpPr>
        <p:spPr>
          <a:xfrm>
            <a:off x="1502029" y="4437724"/>
            <a:ext cx="9941943" cy="68000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Provide an auditable scoring system where risk scores are explainable, rule-based, and reviewable by a person.</a:t>
            </a:r>
            <a:endParaRPr lang="en-US" sz="1700" dirty="0"/>
          </a:p>
        </p:txBody>
      </p:sp>
      <p:sp>
        <p:nvSpPr>
          <p:cNvPr id="200" name="Shape 14">
            <a:extLst>
              <a:ext uri="{FF2B5EF4-FFF2-40B4-BE49-F238E27FC236}">
                <a16:creationId xmlns:a16="http://schemas.microsoft.com/office/drawing/2014/main" id="{16629E03-795F-2887-5167-C9843988E138}"/>
              </a:ext>
            </a:extLst>
          </p:cNvPr>
          <p:cNvSpPr/>
          <p:nvPr/>
        </p:nvSpPr>
        <p:spPr>
          <a:xfrm>
            <a:off x="450470" y="5240000"/>
            <a:ext cx="11091672" cy="78000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201" name="Text 17">
            <a:extLst>
              <a:ext uri="{FF2B5EF4-FFF2-40B4-BE49-F238E27FC236}">
                <a16:creationId xmlns:a16="http://schemas.microsoft.com/office/drawing/2014/main" id="{81C28385-44D0-D4A5-E0B9-A325922CB7E1}"/>
              </a:ext>
            </a:extLst>
          </p:cNvPr>
          <p:cNvSpPr txBox="1"/>
          <p:nvPr/>
        </p:nvSpPr>
        <p:spPr>
          <a:xfrm>
            <a:off x="1502029" y="5317724"/>
            <a:ext cx="9941943" cy="68000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Compare and validate browser-only monitoring with agent-based monitoring and provide an auditable export of the results.</a:t>
            </a:r>
            <a:endParaRPr lang="en-US" sz="1700" dirty="0"/>
          </a:p>
        </p:txBody>
      </p:sp>
      <p:sp>
        <p:nvSpPr>
          <p:cNvPr id="202" name="Shape 15">
            <a:extLst>
              <a:ext uri="{FF2B5EF4-FFF2-40B4-BE49-F238E27FC236}">
                <a16:creationId xmlns:a16="http://schemas.microsoft.com/office/drawing/2014/main" id="{35B7D005-A9D2-C5A4-4D91-089BA2612B2E}"/>
              </a:ext>
            </a:extLst>
          </p:cNvPr>
          <p:cNvSpPr/>
          <p:nvPr/>
        </p:nvSpPr>
        <p:spPr>
          <a:xfrm>
            <a:off x="724790" y="5414879"/>
            <a:ext cx="548640" cy="548640"/>
          </a:xfrm>
          <a:prstGeom prst="ellipse">
            <a:avLst/>
          </a:prstGeom>
          <a:solidFill>
            <a:srgbClr val="B6FF00"/>
          </a:solidFill>
          <a:ln w="12700">
            <a:noFill/>
            <a:prstDash val="solid"/>
          </a:ln>
        </p:spPr>
        <p:txBody>
          <a:bodyPr/>
          <a:lstStyle/>
          <a:p>
            <a:endParaRPr/>
          </a:p>
        </p:txBody>
      </p:sp>
      <p:sp>
        <p:nvSpPr>
          <p:cNvPr id="203" name="Text 16">
            <a:extLst>
              <a:ext uri="{FF2B5EF4-FFF2-40B4-BE49-F238E27FC236}">
                <a16:creationId xmlns:a16="http://schemas.microsoft.com/office/drawing/2014/main" id="{1F8A8706-5940-BE16-EB73-A8685B03241E}"/>
              </a:ext>
            </a:extLst>
          </p:cNvPr>
          <p:cNvSpPr txBox="1"/>
          <p:nvPr/>
        </p:nvSpPr>
        <p:spPr>
          <a:xfrm>
            <a:off x="724790" y="5414879"/>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O5</a:t>
            </a:r>
            <a:endParaRPr lang="en-US" sz="1500" dirty="0"/>
          </a:p>
        </p:txBody>
      </p:sp>
    </p:spTree>
    <p:extLst>
      <p:ext uri="{BB962C8B-B14F-4D97-AF65-F5344CB8AC3E}">
        <p14:creationId xmlns:p14="http://schemas.microsoft.com/office/powerpoint/2010/main" val="531438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466F24-EE8A-DE5F-34F7-A342653EA5A3}"/>
              </a:ext>
            </a:extLst>
          </p:cNvPr>
          <p:cNvSpPr txBox="1"/>
          <p:nvPr/>
        </p:nvSpPr>
        <p:spPr>
          <a:xfrm>
            <a:off x="548640" y="142767"/>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Plan</a:t>
            </a:r>
            <a:endParaRPr lang="en-US" sz="3400" dirty="0"/>
          </a:p>
        </p:txBody>
      </p:sp>
      <p:sp>
        <p:nvSpPr>
          <p:cNvPr id="3" name="Shape 4">
            <a:extLst>
              <a:ext uri="{FF2B5EF4-FFF2-40B4-BE49-F238E27FC236}">
                <a16:creationId xmlns:a16="http://schemas.microsoft.com/office/drawing/2014/main" id="{0B6F638E-064E-B85B-CD83-6C14AEDBF61F}"/>
              </a:ext>
            </a:extLst>
          </p:cNvPr>
          <p:cNvSpPr/>
          <p:nvPr/>
        </p:nvSpPr>
        <p:spPr>
          <a:xfrm>
            <a:off x="450470" y="216781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4" name="Shape 5">
            <a:extLst>
              <a:ext uri="{FF2B5EF4-FFF2-40B4-BE49-F238E27FC236}">
                <a16:creationId xmlns:a16="http://schemas.microsoft.com/office/drawing/2014/main" id="{562C0FA2-F4AE-5FEF-430B-FCB508AD89BB}"/>
              </a:ext>
            </a:extLst>
          </p:cNvPr>
          <p:cNvSpPr/>
          <p:nvPr/>
        </p:nvSpPr>
        <p:spPr>
          <a:xfrm>
            <a:off x="724790" y="2373558"/>
            <a:ext cx="548640" cy="548640"/>
          </a:xfrm>
          <a:prstGeom prst="ellipse">
            <a:avLst/>
          </a:prstGeom>
          <a:solidFill>
            <a:srgbClr val="B6FF00"/>
          </a:solidFill>
          <a:ln w="12700">
            <a:noFill/>
            <a:prstDash val="solid"/>
          </a:ln>
        </p:spPr>
        <p:txBody>
          <a:bodyPr/>
          <a:lstStyle/>
          <a:p>
            <a:endParaRPr/>
          </a:p>
        </p:txBody>
      </p:sp>
      <p:sp>
        <p:nvSpPr>
          <p:cNvPr id="5" name="Text 6">
            <a:extLst>
              <a:ext uri="{FF2B5EF4-FFF2-40B4-BE49-F238E27FC236}">
                <a16:creationId xmlns:a16="http://schemas.microsoft.com/office/drawing/2014/main" id="{5D1CB346-23BF-D90D-311C-D07FFD2DF743}"/>
              </a:ext>
            </a:extLst>
          </p:cNvPr>
          <p:cNvSpPr txBox="1"/>
          <p:nvPr/>
        </p:nvSpPr>
        <p:spPr>
          <a:xfrm>
            <a:off x="724790" y="237355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O1</a:t>
            </a:r>
            <a:endParaRPr lang="en-US" sz="1500" dirty="0"/>
          </a:p>
        </p:txBody>
      </p:sp>
      <p:sp>
        <p:nvSpPr>
          <p:cNvPr id="6" name="Text 7">
            <a:extLst>
              <a:ext uri="{FF2B5EF4-FFF2-40B4-BE49-F238E27FC236}">
                <a16:creationId xmlns:a16="http://schemas.microsoft.com/office/drawing/2014/main" id="{9BE13F45-288B-3A9C-0E9F-2EC77B001708}"/>
              </a:ext>
            </a:extLst>
          </p:cNvPr>
          <p:cNvSpPr txBox="1"/>
          <p:nvPr/>
        </p:nvSpPr>
        <p:spPr>
          <a:xfrm>
            <a:off x="1502030" y="2259258"/>
            <a:ext cx="9941942" cy="777240"/>
          </a:xfrm>
          <a:prstGeom prst="rect">
            <a:avLst/>
          </a:prstGeom>
          <a:noFill/>
          <a:ln/>
        </p:spPr>
        <p:txBody>
          <a:bodyPr wrap="square" lIns="0" tIns="0" rIns="0" bIns="0" rtlCol="0" anchor="ctr"/>
          <a:lstStyle/>
          <a:p>
            <a:pPr marL="0" indent="0">
              <a:spcAft>
                <a:spcPts val="400"/>
              </a:spcAft>
              <a:buNone/>
            </a:pPr>
            <a:r>
              <a:rPr lang="en-US" sz="1700" b="1" dirty="0">
                <a:solidFill>
                  <a:srgbClr val="00E5FF"/>
                </a:solidFill>
                <a:latin typeface="Cambria" pitchFamily="34" charset="0"/>
                <a:ea typeface="Cambria" pitchFamily="34" charset="-122"/>
                <a:cs typeface="Cambria" pitchFamily="34" charset="-120"/>
              </a:rPr>
              <a:t>On a catalog of 24 scripted actions, the monitor records the matching event in at least 95 percent of trials.</a:t>
            </a:r>
            <a:endParaRPr lang="en-US" sz="1700" dirty="0"/>
          </a:p>
        </p:txBody>
      </p:sp>
      <p:sp>
        <p:nvSpPr>
          <p:cNvPr id="7" name="Shape 9">
            <a:extLst>
              <a:ext uri="{FF2B5EF4-FFF2-40B4-BE49-F238E27FC236}">
                <a16:creationId xmlns:a16="http://schemas.microsoft.com/office/drawing/2014/main" id="{10B792A6-D196-BF64-E3D0-36267B7711B3}"/>
              </a:ext>
            </a:extLst>
          </p:cNvPr>
          <p:cNvSpPr/>
          <p:nvPr/>
        </p:nvSpPr>
        <p:spPr>
          <a:xfrm>
            <a:off x="450470" y="326509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 name="Shape 10">
            <a:extLst>
              <a:ext uri="{FF2B5EF4-FFF2-40B4-BE49-F238E27FC236}">
                <a16:creationId xmlns:a16="http://schemas.microsoft.com/office/drawing/2014/main" id="{F9A6196D-F94E-86FC-37E2-0D83BECCA86E}"/>
              </a:ext>
            </a:extLst>
          </p:cNvPr>
          <p:cNvSpPr/>
          <p:nvPr/>
        </p:nvSpPr>
        <p:spPr>
          <a:xfrm>
            <a:off x="724790" y="3470838"/>
            <a:ext cx="548640" cy="548640"/>
          </a:xfrm>
          <a:prstGeom prst="ellipse">
            <a:avLst/>
          </a:prstGeom>
          <a:solidFill>
            <a:srgbClr val="B6FF00"/>
          </a:solidFill>
          <a:ln w="12700">
            <a:noFill/>
            <a:prstDash val="solid"/>
          </a:ln>
        </p:spPr>
        <p:txBody>
          <a:bodyPr/>
          <a:lstStyle/>
          <a:p>
            <a:endParaRPr/>
          </a:p>
        </p:txBody>
      </p:sp>
      <p:sp>
        <p:nvSpPr>
          <p:cNvPr id="9" name="Text 11">
            <a:extLst>
              <a:ext uri="{FF2B5EF4-FFF2-40B4-BE49-F238E27FC236}">
                <a16:creationId xmlns:a16="http://schemas.microsoft.com/office/drawing/2014/main" id="{EBA2C221-3084-8681-5A60-9ECEE93F9285}"/>
              </a:ext>
            </a:extLst>
          </p:cNvPr>
          <p:cNvSpPr txBox="1"/>
          <p:nvPr/>
        </p:nvSpPr>
        <p:spPr>
          <a:xfrm>
            <a:off x="724790" y="347083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O2</a:t>
            </a:r>
            <a:endParaRPr lang="en-US" sz="1500" dirty="0"/>
          </a:p>
        </p:txBody>
      </p:sp>
      <p:sp>
        <p:nvSpPr>
          <p:cNvPr id="10" name="Text 12">
            <a:extLst>
              <a:ext uri="{FF2B5EF4-FFF2-40B4-BE49-F238E27FC236}">
                <a16:creationId xmlns:a16="http://schemas.microsoft.com/office/drawing/2014/main" id="{DBEB953D-E052-2CEF-E1C8-E2B5F66DEC9D}"/>
              </a:ext>
            </a:extLst>
          </p:cNvPr>
          <p:cNvSpPr txBox="1"/>
          <p:nvPr/>
        </p:nvSpPr>
        <p:spPr>
          <a:xfrm>
            <a:off x="1502029" y="335653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Two written scoring rules, applied to the same event log, produce the two scores those rules publish. Running one rule again produces the same score and the same breakdown.</a:t>
            </a:r>
            <a:endParaRPr lang="en-US" sz="1700" dirty="0"/>
          </a:p>
        </p:txBody>
      </p:sp>
      <p:sp>
        <p:nvSpPr>
          <p:cNvPr id="11" name="Shape 14">
            <a:extLst>
              <a:ext uri="{FF2B5EF4-FFF2-40B4-BE49-F238E27FC236}">
                <a16:creationId xmlns:a16="http://schemas.microsoft.com/office/drawing/2014/main" id="{16629E03-795F-2887-5167-C9843988E138}"/>
              </a:ext>
            </a:extLst>
          </p:cNvPr>
          <p:cNvSpPr/>
          <p:nvPr/>
        </p:nvSpPr>
        <p:spPr>
          <a:xfrm>
            <a:off x="450470" y="436237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12" name="Shape 15">
            <a:extLst>
              <a:ext uri="{FF2B5EF4-FFF2-40B4-BE49-F238E27FC236}">
                <a16:creationId xmlns:a16="http://schemas.microsoft.com/office/drawing/2014/main" id="{35B7D005-A9D2-C5A4-4D91-089BA2612B2E}"/>
              </a:ext>
            </a:extLst>
          </p:cNvPr>
          <p:cNvSpPr/>
          <p:nvPr/>
        </p:nvSpPr>
        <p:spPr>
          <a:xfrm>
            <a:off x="724790" y="4568118"/>
            <a:ext cx="548640" cy="548640"/>
          </a:xfrm>
          <a:prstGeom prst="ellipse">
            <a:avLst/>
          </a:prstGeom>
          <a:solidFill>
            <a:srgbClr val="B6FF00"/>
          </a:solidFill>
          <a:ln w="12700">
            <a:noFill/>
            <a:prstDash val="solid"/>
          </a:ln>
        </p:spPr>
        <p:txBody>
          <a:bodyPr/>
          <a:lstStyle/>
          <a:p>
            <a:endParaRPr/>
          </a:p>
        </p:txBody>
      </p:sp>
      <p:sp>
        <p:nvSpPr>
          <p:cNvPr id="13" name="Text 16">
            <a:extLst>
              <a:ext uri="{FF2B5EF4-FFF2-40B4-BE49-F238E27FC236}">
                <a16:creationId xmlns:a16="http://schemas.microsoft.com/office/drawing/2014/main" id="{1F8A8706-5940-BE16-EB73-A8685B03241E}"/>
              </a:ext>
            </a:extLst>
          </p:cNvPr>
          <p:cNvSpPr txBox="1"/>
          <p:nvPr/>
        </p:nvSpPr>
        <p:spPr>
          <a:xfrm>
            <a:off x="724790" y="456811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O3</a:t>
            </a:r>
            <a:endParaRPr lang="en-US" sz="1500" dirty="0"/>
          </a:p>
        </p:txBody>
      </p:sp>
      <p:sp>
        <p:nvSpPr>
          <p:cNvPr id="14" name="Text 17">
            <a:extLst>
              <a:ext uri="{FF2B5EF4-FFF2-40B4-BE49-F238E27FC236}">
                <a16:creationId xmlns:a16="http://schemas.microsoft.com/office/drawing/2014/main" id="{81C28385-44D0-D4A5-E0B9-A325922CB7E1}"/>
              </a:ext>
            </a:extLst>
          </p:cNvPr>
          <p:cNvSpPr txBox="1"/>
          <p:nvPr/>
        </p:nvSpPr>
        <p:spPr>
          <a:xfrm>
            <a:off x="1502029" y="445381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The agent’s stored event contains only the foreground executable name, the display count, and whether the network is up. The browser may also store tab leave, focus, fullscreen, clipboard actions, and a DevTools signal. An audit finds no window title, URL, keystroke, screenshot, or image.</a:t>
            </a:r>
            <a:endParaRPr lang="en-US" sz="1700" dirty="0"/>
          </a:p>
        </p:txBody>
      </p:sp>
      <p:sp>
        <p:nvSpPr>
          <p:cNvPr id="15" name="Text 24">
            <a:extLst>
              <a:ext uri="{FF2B5EF4-FFF2-40B4-BE49-F238E27FC236}">
                <a16:creationId xmlns:a16="http://schemas.microsoft.com/office/drawing/2014/main" id="{203A6001-B32D-0692-985C-EDD2EC0E8967}"/>
              </a:ext>
            </a:extLst>
          </p:cNvPr>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16" name="Text 25">
            <a:extLst>
              <a:ext uri="{FF2B5EF4-FFF2-40B4-BE49-F238E27FC236}">
                <a16:creationId xmlns:a16="http://schemas.microsoft.com/office/drawing/2014/main" id="{407488F8-4E92-2031-CB98-6697FA41A884}"/>
              </a:ext>
            </a:extLst>
          </p:cNvPr>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21</a:t>
            </a:r>
            <a:endParaRPr lang="en-US" sz="1000" dirty="0"/>
          </a:p>
        </p:txBody>
      </p:sp>
      <p:sp>
        <p:nvSpPr>
          <p:cNvPr id="17" name="Shape 4">
            <a:extLst>
              <a:ext uri="{FF2B5EF4-FFF2-40B4-BE49-F238E27FC236}">
                <a16:creationId xmlns:a16="http://schemas.microsoft.com/office/drawing/2014/main" id="{5F98A206-720C-98E9-B232-619CA4E01241}"/>
              </a:ext>
            </a:extLst>
          </p:cNvPr>
          <p:cNvSpPr/>
          <p:nvPr/>
        </p:nvSpPr>
        <p:spPr>
          <a:xfrm>
            <a:off x="450470" y="864798"/>
            <a:ext cx="11091672" cy="1143000"/>
          </a:xfrm>
          <a:prstGeom prst="roundRect">
            <a:avLst>
              <a:gd name="adj" fmla="val 9600"/>
            </a:avLst>
          </a:prstGeom>
          <a:solidFill>
            <a:srgbClr val="121820"/>
          </a:solidFill>
          <a:ln w="15875">
            <a:solidFill>
              <a:srgbClr val="00E5FF"/>
            </a:solidFill>
            <a:prstDash val="solid"/>
          </a:ln>
        </p:spPr>
        <p:txBody>
          <a:bodyPr/>
          <a:lstStyle/>
          <a:p>
            <a:endParaRPr/>
          </a:p>
        </p:txBody>
      </p:sp>
      <p:sp>
        <p:nvSpPr>
          <p:cNvPr id="18" name="Text 5">
            <a:extLst>
              <a:ext uri="{FF2B5EF4-FFF2-40B4-BE49-F238E27FC236}">
                <a16:creationId xmlns:a16="http://schemas.microsoft.com/office/drawing/2014/main" id="{31488074-FA35-7C6F-534E-91E6D5860F4C}"/>
              </a:ext>
            </a:extLst>
          </p:cNvPr>
          <p:cNvSpPr txBox="1"/>
          <p:nvPr/>
        </p:nvSpPr>
        <p:spPr>
          <a:xfrm>
            <a:off x="816230" y="910518"/>
            <a:ext cx="10360152" cy="1051560"/>
          </a:xfrm>
          <a:prstGeom prst="rect">
            <a:avLst/>
          </a:prstGeom>
          <a:noFill/>
          <a:ln/>
        </p:spPr>
        <p:txBody>
          <a:bodyPr wrap="square" lIns="0" tIns="0" rIns="0" bIns="0" rtlCol="0" anchor="ctr"/>
          <a:lstStyle/>
          <a:p>
            <a:pPr marL="0" indent="0">
              <a:spcAft>
                <a:spcPts val="400"/>
              </a:spcAft>
              <a:buNone/>
            </a:pPr>
            <a:r>
              <a:rPr lang="en-US" sz="1300" b="1" kern="0" spc="200" dirty="0">
                <a:solidFill>
                  <a:srgbClr val="F2C46D"/>
                </a:solidFill>
                <a:latin typeface="Calibri" pitchFamily="34" charset="0"/>
                <a:ea typeface="Calibri" pitchFamily="34" charset="-122"/>
                <a:cs typeface="Calibri" pitchFamily="34" charset="-120"/>
              </a:rPr>
              <a:t>PLAN</a:t>
            </a:r>
            <a:endParaRPr lang="en-US" sz="1300" dirty="0"/>
          </a:p>
          <a:p>
            <a:pPr marL="0" indent="0">
              <a:spcAft>
                <a:spcPts val="400"/>
              </a:spcAft>
              <a:buNone/>
            </a:pPr>
            <a:r>
              <a:rPr lang="en-US" sz="2000" b="1" dirty="0">
                <a:solidFill>
                  <a:srgbClr val="FFFFFF"/>
                </a:solidFill>
                <a:latin typeface="Cambria" pitchFamily="34" charset="0"/>
                <a:ea typeface="Cambria" pitchFamily="34" charset="-122"/>
                <a:cs typeface="Cambria" pitchFamily="34" charset="-120"/>
              </a:rPr>
              <a:t>How these objectives will be shown: a scripted catalog, a stable score, a privacy check, and one exam across devices.</a:t>
            </a:r>
            <a:endParaRPr lang="en-US" sz="1300" dirty="0"/>
          </a:p>
        </p:txBody>
      </p:sp>
      <p:sp>
        <p:nvSpPr>
          <p:cNvPr id="80" name="Shape 14">
            <a:extLst>
              <a:ext uri="{FF2B5EF4-FFF2-40B4-BE49-F238E27FC236}">
                <a16:creationId xmlns:a16="http://schemas.microsoft.com/office/drawing/2014/main" id="{16629E03-795F-2887-5167-C9843988E138}"/>
              </a:ext>
            </a:extLst>
          </p:cNvPr>
          <p:cNvSpPr/>
          <p:nvPr/>
        </p:nvSpPr>
        <p:spPr>
          <a:xfrm>
            <a:off x="450470" y="540237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1" name="Shape 15">
            <a:extLst>
              <a:ext uri="{FF2B5EF4-FFF2-40B4-BE49-F238E27FC236}">
                <a16:creationId xmlns:a16="http://schemas.microsoft.com/office/drawing/2014/main" id="{35B7D005-A9D2-C5A4-4D91-089BA2612B2E}"/>
              </a:ext>
            </a:extLst>
          </p:cNvPr>
          <p:cNvSpPr/>
          <p:nvPr/>
        </p:nvSpPr>
        <p:spPr>
          <a:xfrm>
            <a:off x="724790" y="5608118"/>
            <a:ext cx="548640" cy="548640"/>
          </a:xfrm>
          <a:prstGeom prst="ellipse">
            <a:avLst/>
          </a:prstGeom>
          <a:solidFill>
            <a:srgbClr val="B6FF00"/>
          </a:solidFill>
          <a:ln w="12700">
            <a:noFill/>
            <a:prstDash val="solid"/>
          </a:ln>
        </p:spPr>
        <p:txBody>
          <a:bodyPr/>
          <a:lstStyle/>
          <a:p>
            <a:endParaRPr/>
          </a:p>
        </p:txBody>
      </p:sp>
      <p:sp>
        <p:nvSpPr>
          <p:cNvPr id="82" name="Text 16">
            <a:extLst>
              <a:ext uri="{FF2B5EF4-FFF2-40B4-BE49-F238E27FC236}">
                <a16:creationId xmlns:a16="http://schemas.microsoft.com/office/drawing/2014/main" id="{1F8A8706-5940-BE16-EB73-A8685B03241E}"/>
              </a:ext>
            </a:extLst>
          </p:cNvPr>
          <p:cNvSpPr txBox="1"/>
          <p:nvPr/>
        </p:nvSpPr>
        <p:spPr>
          <a:xfrm>
            <a:off x="724790" y="560811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O4</a:t>
            </a:r>
            <a:endParaRPr lang="en-US" sz="1500" dirty="0"/>
          </a:p>
        </p:txBody>
      </p:sp>
      <p:sp>
        <p:nvSpPr>
          <p:cNvPr id="83" name="Text 17">
            <a:extLst>
              <a:ext uri="{FF2B5EF4-FFF2-40B4-BE49-F238E27FC236}">
                <a16:creationId xmlns:a16="http://schemas.microsoft.com/office/drawing/2014/main" id="{81C28385-44D0-D4A5-E0B9-A325922CB7E1}"/>
              </a:ext>
            </a:extLst>
          </p:cNvPr>
          <p:cNvSpPr txBox="1"/>
          <p:nvPr/>
        </p:nvSpPr>
        <p:spPr>
          <a:xfrm>
            <a:off x="1502029" y="549381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Faculty publish one exam. Two student devices sit it. A high-risk session can be marked Flagged or Cleared, and the exported file matches the score on the screen.</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466F24-EE8A-DE5F-34F7-A342653EA5A3}"/>
              </a:ext>
            </a:extLst>
          </p:cNvPr>
          <p:cNvSpPr txBox="1"/>
          <p:nvPr/>
        </p:nvSpPr>
        <p:spPr>
          <a:xfrm>
            <a:off x="548640" y="142767"/>
            <a:ext cx="7498080" cy="685800"/>
          </a:xfrm>
          <a:prstGeom prst="rect">
            <a:avLst/>
          </a:prstGeom>
          <a:noFill/>
          <a:ln/>
        </p:spPr>
        <p:txBody>
          <a:bodyPr wrap="square" lIns="0" tIns="0" rIns="0" bIns="0" rtlCol="0" anchor="ctr"/>
          <a:lstStyle/>
          <a:p>
            <a:pPr marL="0" indent="0">
              <a:buNone/>
            </a:pPr>
            <a:r>
              <a:rPr lang="en-US" sz="3400" b="1" dirty="0">
                <a:solidFill>
                  <a:srgbClr val="00E5FF"/>
                </a:solidFill>
                <a:latin typeface="Cambria" pitchFamily="34" charset="0"/>
                <a:ea typeface="Cambria" pitchFamily="34" charset="-122"/>
                <a:cs typeface="Cambria" pitchFamily="34" charset="-120"/>
              </a:rPr>
              <a:t>Plan</a:t>
            </a:r>
            <a:endParaRPr lang="en-US" sz="3400" dirty="0"/>
          </a:p>
        </p:txBody>
      </p:sp>
      <p:sp>
        <p:nvSpPr>
          <p:cNvPr id="3" name="Shape 4">
            <a:extLst>
              <a:ext uri="{FF2B5EF4-FFF2-40B4-BE49-F238E27FC236}">
                <a16:creationId xmlns:a16="http://schemas.microsoft.com/office/drawing/2014/main" id="{0B6F638E-064E-B85B-CD83-6C14AEDBF61F}"/>
              </a:ext>
            </a:extLst>
          </p:cNvPr>
          <p:cNvSpPr/>
          <p:nvPr/>
        </p:nvSpPr>
        <p:spPr>
          <a:xfrm>
            <a:off x="450470" y="216781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4" name="Shape 5">
            <a:extLst>
              <a:ext uri="{FF2B5EF4-FFF2-40B4-BE49-F238E27FC236}">
                <a16:creationId xmlns:a16="http://schemas.microsoft.com/office/drawing/2014/main" id="{562C0FA2-F4AE-5FEF-430B-FCB508AD89BB}"/>
              </a:ext>
            </a:extLst>
          </p:cNvPr>
          <p:cNvSpPr/>
          <p:nvPr/>
        </p:nvSpPr>
        <p:spPr>
          <a:xfrm>
            <a:off x="724790" y="2373558"/>
            <a:ext cx="548640" cy="548640"/>
          </a:xfrm>
          <a:prstGeom prst="ellipse">
            <a:avLst/>
          </a:prstGeom>
          <a:solidFill>
            <a:srgbClr val="B6FF00"/>
          </a:solidFill>
          <a:ln w="12700">
            <a:noFill/>
            <a:prstDash val="solid"/>
          </a:ln>
        </p:spPr>
        <p:txBody>
          <a:bodyPr/>
          <a:lstStyle/>
          <a:p>
            <a:endParaRPr/>
          </a:p>
        </p:txBody>
      </p:sp>
      <p:sp>
        <p:nvSpPr>
          <p:cNvPr id="5" name="Text 6">
            <a:extLst>
              <a:ext uri="{FF2B5EF4-FFF2-40B4-BE49-F238E27FC236}">
                <a16:creationId xmlns:a16="http://schemas.microsoft.com/office/drawing/2014/main" id="{5D1CB346-23BF-D90D-311C-D07FFD2DF743}"/>
              </a:ext>
            </a:extLst>
          </p:cNvPr>
          <p:cNvSpPr txBox="1"/>
          <p:nvPr/>
        </p:nvSpPr>
        <p:spPr>
          <a:xfrm>
            <a:off x="724790" y="237355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O5</a:t>
            </a:r>
            <a:endParaRPr lang="en-US" sz="1500" dirty="0"/>
          </a:p>
        </p:txBody>
      </p:sp>
      <p:sp>
        <p:nvSpPr>
          <p:cNvPr id="6" name="Text 7">
            <a:extLst>
              <a:ext uri="{FF2B5EF4-FFF2-40B4-BE49-F238E27FC236}">
                <a16:creationId xmlns:a16="http://schemas.microsoft.com/office/drawing/2014/main" id="{9BE13F45-288B-3A9C-0E9F-2EC77B001708}"/>
              </a:ext>
            </a:extLst>
          </p:cNvPr>
          <p:cNvSpPr txBox="1"/>
          <p:nvPr/>
        </p:nvSpPr>
        <p:spPr>
          <a:xfrm>
            <a:off x="1502030" y="2259258"/>
            <a:ext cx="9941942" cy="777240"/>
          </a:xfrm>
          <a:prstGeom prst="rect">
            <a:avLst/>
          </a:prstGeom>
          <a:noFill/>
          <a:ln/>
        </p:spPr>
        <p:txBody>
          <a:bodyPr wrap="square" lIns="0" tIns="0" rIns="0" bIns="0" rtlCol="0" anchor="ctr"/>
          <a:lstStyle/>
          <a:p>
            <a:pPr marL="0" indent="0">
              <a:spcAft>
                <a:spcPts val="400"/>
              </a:spcAft>
              <a:buNone/>
            </a:pPr>
            <a:r>
              <a:rPr lang="en-US" sz="1700" b="1" dirty="0">
                <a:solidFill>
                  <a:srgbClr val="00E5FF"/>
                </a:solidFill>
                <a:latin typeface="Cambria" pitchFamily="34" charset="0"/>
                <a:ea typeface="Cambria" pitchFamily="34" charset="-122"/>
                <a:cs typeface="Cambria" pitchFamily="34" charset="-120"/>
              </a:rPr>
              <a:t>The attempt cannot start until the student has seen a screen that states what is recorded and what is refused.</a:t>
            </a:r>
            <a:endParaRPr lang="en-US" sz="1700" dirty="0"/>
          </a:p>
        </p:txBody>
      </p:sp>
      <p:sp>
        <p:nvSpPr>
          <p:cNvPr id="7" name="Shape 9">
            <a:extLst>
              <a:ext uri="{FF2B5EF4-FFF2-40B4-BE49-F238E27FC236}">
                <a16:creationId xmlns:a16="http://schemas.microsoft.com/office/drawing/2014/main" id="{10B792A6-D196-BF64-E3D0-36267B7711B3}"/>
              </a:ext>
            </a:extLst>
          </p:cNvPr>
          <p:cNvSpPr/>
          <p:nvPr/>
        </p:nvSpPr>
        <p:spPr>
          <a:xfrm>
            <a:off x="450470" y="326509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 name="Shape 10">
            <a:extLst>
              <a:ext uri="{FF2B5EF4-FFF2-40B4-BE49-F238E27FC236}">
                <a16:creationId xmlns:a16="http://schemas.microsoft.com/office/drawing/2014/main" id="{F9A6196D-F94E-86FC-37E2-0D83BECCA86E}"/>
              </a:ext>
            </a:extLst>
          </p:cNvPr>
          <p:cNvSpPr/>
          <p:nvPr/>
        </p:nvSpPr>
        <p:spPr>
          <a:xfrm>
            <a:off x="724790" y="3470838"/>
            <a:ext cx="548640" cy="548640"/>
          </a:xfrm>
          <a:prstGeom prst="ellipse">
            <a:avLst/>
          </a:prstGeom>
          <a:solidFill>
            <a:srgbClr val="B6FF00"/>
          </a:solidFill>
          <a:ln w="12700">
            <a:noFill/>
            <a:prstDash val="solid"/>
          </a:ln>
        </p:spPr>
        <p:txBody>
          <a:bodyPr/>
          <a:lstStyle/>
          <a:p>
            <a:endParaRPr/>
          </a:p>
        </p:txBody>
      </p:sp>
      <p:sp>
        <p:nvSpPr>
          <p:cNvPr id="9" name="Text 11">
            <a:extLst>
              <a:ext uri="{FF2B5EF4-FFF2-40B4-BE49-F238E27FC236}">
                <a16:creationId xmlns:a16="http://schemas.microsoft.com/office/drawing/2014/main" id="{EBA2C221-3084-8681-5A60-9ECEE93F9285}"/>
              </a:ext>
            </a:extLst>
          </p:cNvPr>
          <p:cNvSpPr txBox="1"/>
          <p:nvPr/>
        </p:nvSpPr>
        <p:spPr>
          <a:xfrm>
            <a:off x="724790" y="347083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O6</a:t>
            </a:r>
            <a:endParaRPr lang="en-US" sz="1500" dirty="0"/>
          </a:p>
        </p:txBody>
      </p:sp>
      <p:sp>
        <p:nvSpPr>
          <p:cNvPr id="10" name="Text 12">
            <a:extLst>
              <a:ext uri="{FF2B5EF4-FFF2-40B4-BE49-F238E27FC236}">
                <a16:creationId xmlns:a16="http://schemas.microsoft.com/office/drawing/2014/main" id="{DBEB953D-E052-2CEF-E1C8-E2B5F66DEC9D}"/>
              </a:ext>
            </a:extLst>
          </p:cNvPr>
          <p:cNvSpPr txBox="1"/>
          <p:nvPr/>
        </p:nvSpPr>
        <p:spPr>
          <a:xfrm>
            <a:off x="1502029" y="335653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A renamed prohibited app, a second display, and the exam hidden while another app is in front each score above an honest session. A second phone is out of scope and is not claimed.</a:t>
            </a:r>
            <a:endParaRPr lang="en-US" sz="1700" dirty="0"/>
          </a:p>
        </p:txBody>
      </p:sp>
      <p:sp>
        <p:nvSpPr>
          <p:cNvPr id="11" name="Shape 14">
            <a:extLst>
              <a:ext uri="{FF2B5EF4-FFF2-40B4-BE49-F238E27FC236}">
                <a16:creationId xmlns:a16="http://schemas.microsoft.com/office/drawing/2014/main" id="{16629E03-795F-2887-5167-C9843988E138}"/>
              </a:ext>
            </a:extLst>
          </p:cNvPr>
          <p:cNvSpPr/>
          <p:nvPr/>
        </p:nvSpPr>
        <p:spPr>
          <a:xfrm>
            <a:off x="450470" y="436237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12" name="Shape 15">
            <a:extLst>
              <a:ext uri="{FF2B5EF4-FFF2-40B4-BE49-F238E27FC236}">
                <a16:creationId xmlns:a16="http://schemas.microsoft.com/office/drawing/2014/main" id="{35B7D005-A9D2-C5A4-4D91-089BA2612B2E}"/>
              </a:ext>
            </a:extLst>
          </p:cNvPr>
          <p:cNvSpPr/>
          <p:nvPr/>
        </p:nvSpPr>
        <p:spPr>
          <a:xfrm>
            <a:off x="724790" y="4568118"/>
            <a:ext cx="548640" cy="548640"/>
          </a:xfrm>
          <a:prstGeom prst="ellipse">
            <a:avLst/>
          </a:prstGeom>
          <a:solidFill>
            <a:srgbClr val="B6FF00"/>
          </a:solidFill>
          <a:ln w="12700">
            <a:noFill/>
            <a:prstDash val="solid"/>
          </a:ln>
        </p:spPr>
        <p:txBody>
          <a:bodyPr/>
          <a:lstStyle/>
          <a:p>
            <a:endParaRPr/>
          </a:p>
        </p:txBody>
      </p:sp>
      <p:sp>
        <p:nvSpPr>
          <p:cNvPr id="13" name="Text 16">
            <a:extLst>
              <a:ext uri="{FF2B5EF4-FFF2-40B4-BE49-F238E27FC236}">
                <a16:creationId xmlns:a16="http://schemas.microsoft.com/office/drawing/2014/main" id="{1F8A8706-5940-BE16-EB73-A8685B03241E}"/>
              </a:ext>
            </a:extLst>
          </p:cNvPr>
          <p:cNvSpPr txBox="1"/>
          <p:nvPr/>
        </p:nvSpPr>
        <p:spPr>
          <a:xfrm>
            <a:off x="724790" y="456811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O7</a:t>
            </a:r>
            <a:endParaRPr lang="en-US" sz="1500" dirty="0"/>
          </a:p>
        </p:txBody>
      </p:sp>
      <p:sp>
        <p:nvSpPr>
          <p:cNvPr id="14" name="Text 17">
            <a:extLst>
              <a:ext uri="{FF2B5EF4-FFF2-40B4-BE49-F238E27FC236}">
                <a16:creationId xmlns:a16="http://schemas.microsoft.com/office/drawing/2014/main" id="{81C28385-44D0-D4A5-E0B9-A325922CB7E1}"/>
              </a:ext>
            </a:extLst>
          </p:cNvPr>
          <p:cNvSpPr txBox="1"/>
          <p:nvPr/>
        </p:nvSpPr>
        <p:spPr>
          <a:xfrm>
            <a:off x="1502029" y="445381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Every High score exports three things in one file: the scoring-rule version, the events that fired, and the person’s Flagged or Cleared decision.</a:t>
            </a:r>
            <a:endParaRPr lang="en-US" sz="1700" dirty="0"/>
          </a:p>
        </p:txBody>
      </p:sp>
      <p:sp>
        <p:nvSpPr>
          <p:cNvPr id="15" name="Text 24">
            <a:extLst>
              <a:ext uri="{FF2B5EF4-FFF2-40B4-BE49-F238E27FC236}">
                <a16:creationId xmlns:a16="http://schemas.microsoft.com/office/drawing/2014/main" id="{203A6001-B32D-0692-985C-EDD2EC0E8967}"/>
              </a:ext>
            </a:extLst>
          </p:cNvPr>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16" name="Text 25">
            <a:extLst>
              <a:ext uri="{FF2B5EF4-FFF2-40B4-BE49-F238E27FC236}">
                <a16:creationId xmlns:a16="http://schemas.microsoft.com/office/drawing/2014/main" id="{407488F8-4E92-2031-CB98-6697FA41A884}"/>
              </a:ext>
            </a:extLst>
          </p:cNvPr>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22</a:t>
            </a:r>
            <a:endParaRPr lang="en-US" sz="1000" dirty="0"/>
          </a:p>
        </p:txBody>
      </p:sp>
      <p:sp>
        <p:nvSpPr>
          <p:cNvPr id="17" name="Shape 4">
            <a:extLst>
              <a:ext uri="{FF2B5EF4-FFF2-40B4-BE49-F238E27FC236}">
                <a16:creationId xmlns:a16="http://schemas.microsoft.com/office/drawing/2014/main" id="{5F98A206-720C-98E9-B232-619CA4E01241}"/>
              </a:ext>
            </a:extLst>
          </p:cNvPr>
          <p:cNvSpPr/>
          <p:nvPr/>
        </p:nvSpPr>
        <p:spPr>
          <a:xfrm>
            <a:off x="450470" y="864798"/>
            <a:ext cx="11091672" cy="1143000"/>
          </a:xfrm>
          <a:prstGeom prst="roundRect">
            <a:avLst>
              <a:gd name="adj" fmla="val 9600"/>
            </a:avLst>
          </a:prstGeom>
          <a:solidFill>
            <a:srgbClr val="121820"/>
          </a:solidFill>
          <a:ln w="15875">
            <a:solidFill>
              <a:srgbClr val="00E5FF"/>
            </a:solidFill>
            <a:prstDash val="solid"/>
          </a:ln>
        </p:spPr>
        <p:txBody>
          <a:bodyPr/>
          <a:lstStyle/>
          <a:p>
            <a:endParaRPr/>
          </a:p>
        </p:txBody>
      </p:sp>
      <p:sp>
        <p:nvSpPr>
          <p:cNvPr id="18" name="Text 5">
            <a:extLst>
              <a:ext uri="{FF2B5EF4-FFF2-40B4-BE49-F238E27FC236}">
                <a16:creationId xmlns:a16="http://schemas.microsoft.com/office/drawing/2014/main" id="{31488074-FA35-7C6F-534E-91E6D5860F4C}"/>
              </a:ext>
            </a:extLst>
          </p:cNvPr>
          <p:cNvSpPr txBox="1"/>
          <p:nvPr/>
        </p:nvSpPr>
        <p:spPr>
          <a:xfrm>
            <a:off x="816230" y="910518"/>
            <a:ext cx="10360152" cy="1051560"/>
          </a:xfrm>
          <a:prstGeom prst="rect">
            <a:avLst/>
          </a:prstGeom>
          <a:noFill/>
          <a:ln/>
        </p:spPr>
        <p:txBody>
          <a:bodyPr wrap="square" lIns="0" tIns="0" rIns="0" bIns="0" rtlCol="0" anchor="ctr"/>
          <a:lstStyle/>
          <a:p>
            <a:pPr marL="0" indent="0">
              <a:spcAft>
                <a:spcPts val="400"/>
              </a:spcAft>
              <a:buNone/>
            </a:pPr>
            <a:r>
              <a:rPr lang="en-US" sz="1300" b="1" kern="0" spc="200" dirty="0">
                <a:solidFill>
                  <a:srgbClr val="F2C46D"/>
                </a:solidFill>
                <a:latin typeface="Calibri" pitchFamily="34" charset="0"/>
                <a:ea typeface="Calibri" pitchFamily="34" charset="-122"/>
                <a:cs typeface="Calibri" pitchFamily="34" charset="-120"/>
              </a:rPr>
              <a:t>PLAN, CONTINUED</a:t>
            </a:r>
            <a:endParaRPr lang="en-US" sz="1300" dirty="0"/>
          </a:p>
          <a:p>
            <a:pPr marL="0" indent="0">
              <a:spcAft>
                <a:spcPts val="400"/>
              </a:spcAft>
              <a:buNone/>
            </a:pPr>
            <a:r>
              <a:rPr lang="en-US" sz="2000" b="1" dirty="0">
                <a:solidFill>
                  <a:srgbClr val="FFFFFF"/>
                </a:solidFill>
                <a:latin typeface="Cambria" pitchFamily="34" charset="0"/>
                <a:ea typeface="Cambria" pitchFamily="34" charset="-122"/>
                <a:cs typeface="Cambria" pitchFamily="34" charset="-120"/>
              </a:rPr>
              <a:t>Disclosure, an adversarial catalog, an auditable export, and a browser-versus-agent comparison.</a:t>
            </a:r>
            <a:endParaRPr lang="en-US" sz="1300" dirty="0"/>
          </a:p>
        </p:txBody>
      </p:sp>
      <p:sp>
        <p:nvSpPr>
          <p:cNvPr id="80" name="Shape 14">
            <a:extLst>
              <a:ext uri="{FF2B5EF4-FFF2-40B4-BE49-F238E27FC236}">
                <a16:creationId xmlns:a16="http://schemas.microsoft.com/office/drawing/2014/main" id="{16629E03-795F-2887-5167-C9843988E138}"/>
              </a:ext>
            </a:extLst>
          </p:cNvPr>
          <p:cNvSpPr/>
          <p:nvPr/>
        </p:nvSpPr>
        <p:spPr>
          <a:xfrm>
            <a:off x="450470" y="5402378"/>
            <a:ext cx="11091672" cy="960120"/>
          </a:xfrm>
          <a:prstGeom prst="roundRect">
            <a:avLst>
              <a:gd name="adj" fmla="val 11429"/>
            </a:avLst>
          </a:prstGeom>
          <a:solidFill>
            <a:srgbClr val="121820"/>
          </a:solidFill>
          <a:ln w="15875">
            <a:solidFill>
              <a:srgbClr val="00E5FF"/>
            </a:solidFill>
            <a:prstDash val="solid"/>
          </a:ln>
        </p:spPr>
        <p:txBody>
          <a:bodyPr/>
          <a:lstStyle/>
          <a:p>
            <a:endParaRPr/>
          </a:p>
        </p:txBody>
      </p:sp>
      <p:sp>
        <p:nvSpPr>
          <p:cNvPr id="81" name="Shape 15">
            <a:extLst>
              <a:ext uri="{FF2B5EF4-FFF2-40B4-BE49-F238E27FC236}">
                <a16:creationId xmlns:a16="http://schemas.microsoft.com/office/drawing/2014/main" id="{35B7D005-A9D2-C5A4-4D91-089BA2612B2E}"/>
              </a:ext>
            </a:extLst>
          </p:cNvPr>
          <p:cNvSpPr/>
          <p:nvPr/>
        </p:nvSpPr>
        <p:spPr>
          <a:xfrm>
            <a:off x="724790" y="5608118"/>
            <a:ext cx="548640" cy="548640"/>
          </a:xfrm>
          <a:prstGeom prst="ellipse">
            <a:avLst/>
          </a:prstGeom>
          <a:solidFill>
            <a:srgbClr val="B6FF00"/>
          </a:solidFill>
          <a:ln w="12700">
            <a:noFill/>
            <a:prstDash val="solid"/>
          </a:ln>
        </p:spPr>
        <p:txBody>
          <a:bodyPr/>
          <a:lstStyle/>
          <a:p>
            <a:endParaRPr/>
          </a:p>
        </p:txBody>
      </p:sp>
      <p:sp>
        <p:nvSpPr>
          <p:cNvPr id="82" name="Text 16">
            <a:extLst>
              <a:ext uri="{FF2B5EF4-FFF2-40B4-BE49-F238E27FC236}">
                <a16:creationId xmlns:a16="http://schemas.microsoft.com/office/drawing/2014/main" id="{1F8A8706-5940-BE16-EB73-A8685B03241E}"/>
              </a:ext>
            </a:extLst>
          </p:cNvPr>
          <p:cNvSpPr txBox="1"/>
          <p:nvPr/>
        </p:nvSpPr>
        <p:spPr>
          <a:xfrm>
            <a:off x="724790" y="5608118"/>
            <a:ext cx="548640" cy="548640"/>
          </a:xfrm>
          <a:prstGeom prst="rect">
            <a:avLst/>
          </a:prstGeom>
          <a:noFill/>
          <a:ln/>
        </p:spPr>
        <p:txBody>
          <a:bodyPr wrap="square" lIns="0" tIns="0" rIns="0" bIns="0" rtlCol="0" anchor="ctr"/>
          <a:lstStyle/>
          <a:p>
            <a:pPr marL="0" indent="0" algn="ctr">
              <a:buNone/>
            </a:pPr>
            <a:r>
              <a:rPr lang="en-US" sz="1500" b="1" dirty="0">
                <a:solidFill>
                  <a:srgbClr val="0B0F14"/>
                </a:solidFill>
                <a:latin typeface="Calibri" pitchFamily="34" charset="0"/>
                <a:ea typeface="Calibri" pitchFamily="34" charset="-122"/>
                <a:cs typeface="Calibri" pitchFamily="34" charset="-120"/>
              </a:rPr>
              <a:t>O8</a:t>
            </a:r>
            <a:endParaRPr lang="en-US" sz="1500" dirty="0"/>
          </a:p>
        </p:txBody>
      </p:sp>
      <p:sp>
        <p:nvSpPr>
          <p:cNvPr id="83" name="Text 17">
            <a:extLst>
              <a:ext uri="{FF2B5EF4-FFF2-40B4-BE49-F238E27FC236}">
                <a16:creationId xmlns:a16="http://schemas.microsoft.com/office/drawing/2014/main" id="{81C28385-44D0-D4A5-E0B9-A325922CB7E1}"/>
              </a:ext>
            </a:extLst>
          </p:cNvPr>
          <p:cNvSpPr txBox="1"/>
          <p:nvPr/>
        </p:nvSpPr>
        <p:spPr>
          <a:xfrm>
            <a:off x="1502029" y="5493818"/>
            <a:ext cx="9941943" cy="777240"/>
          </a:xfrm>
          <a:prstGeom prst="rect">
            <a:avLst/>
          </a:prstGeom>
          <a:noFill/>
          <a:ln/>
        </p:spPr>
        <p:txBody>
          <a:bodyPr wrap="square" lIns="0" tIns="0" rIns="0" bIns="0" rtlCol="0" anchor="ctr"/>
          <a:lstStyle/>
          <a:p>
            <a:pPr>
              <a:spcAft>
                <a:spcPts val="400"/>
              </a:spcAft>
            </a:pPr>
            <a:r>
              <a:rPr lang="en-US" sz="1700" b="1" dirty="0">
                <a:solidFill>
                  <a:srgbClr val="00E5FF"/>
                </a:solidFill>
                <a:latin typeface="Cambria" pitchFamily="34" charset="0"/>
                <a:ea typeface="Cambria" pitchFamily="34" charset="-122"/>
                <a:cs typeface="Cambria" pitchFamily="34" charset="-120"/>
              </a:rPr>
              <a:t>The same hidden-exam session is scored once from the browser alone and once with the agent connected. The agent score is higher. Scoring either case again leaves that score unchanged.</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177272"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References (in APA format)</a:t>
            </a:r>
            <a:endParaRPr lang="en-US" sz="3400" dirty="0"/>
          </a:p>
        </p:txBody>
      </p:sp>
      <p:sp>
        <p:nvSpPr>
          <p:cNvPr id="5" name="Shape 2"/>
          <p:cNvSpPr/>
          <p:nvPr/>
        </p:nvSpPr>
        <p:spPr>
          <a:xfrm>
            <a:off x="548640" y="1600200"/>
            <a:ext cx="11091672" cy="4526280"/>
          </a:xfrm>
          <a:prstGeom prst="roundRect">
            <a:avLst>
              <a:gd name="adj" fmla="val 2424"/>
            </a:avLst>
          </a:prstGeom>
          <a:solidFill>
            <a:srgbClr val="121820"/>
          </a:solidFill>
          <a:ln w="15875">
            <a:solidFill>
              <a:srgbClr val="00E5FF"/>
            </a:solidFill>
            <a:prstDash val="solid"/>
          </a:ln>
        </p:spPr>
        <p:txBody>
          <a:bodyPr/>
          <a:lstStyle/>
          <a:p>
            <a:endParaRPr/>
          </a:p>
        </p:txBody>
      </p:sp>
      <p:sp>
        <p:nvSpPr>
          <p:cNvPr id="6" name="Text 3"/>
          <p:cNvSpPr txBox="1"/>
          <p:nvPr/>
        </p:nvSpPr>
        <p:spPr>
          <a:xfrm>
            <a:off x="621101" y="1783080"/>
            <a:ext cx="10946921" cy="4160520"/>
          </a:xfrm>
          <a:prstGeom prst="rect">
            <a:avLst/>
          </a:prstGeom>
          <a:noFill/>
          <a:ln/>
        </p:spPr>
        <p:txBody>
          <a:bodyPr wrap="square" lIns="0" tIns="0" rIns="0" bIns="0" rtlCol="0" anchor="t"/>
          <a:lstStyle/>
          <a:p>
            <a:pPr marL="274320" indent="-274320">
              <a:lnSpc>
                <a:spcPct val="100000"/>
              </a:lnSpc>
              <a:spcBef>
                <a:spcPts val="400"/>
              </a:spcBef>
              <a:spcAft>
                <a:spcPts val="1200"/>
              </a:spcAft>
              <a:buNone/>
            </a:pPr>
            <a:r>
              <a:rPr sz="1400">
                <a:solidFill>
                  <a:srgbClr val="E8EAED"/>
                </a:solidFill>
                <a:latin typeface="Segoe UI"/>
              </a:rPr>
              <a:t>Coghlan, Miller and Paterson (2021). Good proctor or 'Big Brother'? Ethics of online exam supervision technologies. Philosophy &amp; Technology, 34(4), 1581–1606. https://doi.org/10.1007/s13347-021-00476-1</a:t>
            </a:r>
            <a:endParaRPr lang="en-US" sz="1400" dirty="0"/>
          </a:p>
          <a:p>
            <a:pPr marL="274320" indent="-274320">
              <a:lnSpc>
                <a:spcPct val="100000"/>
              </a:lnSpc>
              <a:spcBef>
                <a:spcPts val="400"/>
              </a:spcBef>
              <a:spcAft>
                <a:spcPts val="1200"/>
              </a:spcAft>
            </a:pPr>
            <a:r>
              <a:rPr sz="1400">
                <a:solidFill>
                  <a:srgbClr val="E8EAED"/>
                </a:solidFill>
                <a:latin typeface="Segoe UI"/>
              </a:rPr>
              <a:t>Kharbat and Abu Daabes (2021). E-proctored exams during the COVID-19 pandemic: A close understanding. Education and Information Technologies. https://doi.org/10.1007/s10639-021-10458-7</a:t>
            </a:r>
          </a:p>
          <a:p>
            <a:pPr marL="274320" indent="-274320">
              <a:lnSpc>
                <a:spcPct val="100000"/>
              </a:lnSpc>
              <a:spcBef>
                <a:spcPts val="400"/>
              </a:spcBef>
              <a:spcAft>
                <a:spcPts val="1200"/>
              </a:spcAft>
            </a:pPr>
            <a:r>
              <a:rPr sz="1400">
                <a:solidFill>
                  <a:srgbClr val="E8EAED"/>
                </a:solidFill>
                <a:latin typeface="Segoe UI"/>
              </a:rPr>
              <a:t>Mutimukwe, Viberg, McGrath and Cerratto-Pargman (2025). Privacy in online proctoring systems in higher education: Stakeholders' perceptions, awareness and responsibility. Journal of Computing in Higher Education. https://doi.org/10.1007/s12528-025-09461-5</a:t>
            </a:r>
          </a:p>
          <a:p>
            <a:pPr marL="274320" indent="-274320">
              <a:lnSpc>
                <a:spcPct val="100000"/>
              </a:lnSpc>
              <a:spcBef>
                <a:spcPts val="400"/>
              </a:spcBef>
              <a:spcAft>
                <a:spcPts val="1200"/>
              </a:spcAft>
            </a:pPr>
            <a:r>
              <a:rPr sz="1400">
                <a:solidFill>
                  <a:srgbClr val="E8EAED"/>
                </a:solidFill>
                <a:latin typeface="Segoe UI"/>
              </a:rPr>
              <a:t>Diedenhofen and Musch (2016). PageFocus: Using paradata to detect and prevent cheating on online achievement tests. Behavior Research Methods. https://doi.org/10.3758/s13428-016-0800-7</a:t>
            </a:r>
          </a:p>
          <a:p>
            <a:pPr marL="274320" indent="-274320">
              <a:lnSpc>
                <a:spcPct val="100000"/>
              </a:lnSpc>
              <a:spcBef>
                <a:spcPts val="400"/>
              </a:spcBef>
              <a:spcAft>
                <a:spcPts val="1200"/>
              </a:spcAft>
            </a:pPr>
            <a:r>
              <a:rPr sz="1400">
                <a:solidFill>
                  <a:srgbClr val="E8EAED"/>
                </a:solidFill>
                <a:latin typeface="Segoe UI"/>
              </a:rPr>
              <a:t>Ibrahim, Liu, Asim, Battu, Benabderrahmane, Alhafni, Adnan et al. (2023). Perception, performance, and detectability of conversational artificial intelligence across 32 university courses. Scientific Reports. https://doi.org/10.1038/s41598-023-38964-3</a:t>
            </a:r>
          </a:p>
          <a:p>
            <a:pPr marL="274320" indent="-274320">
              <a:lnSpc>
                <a:spcPct val="100000"/>
              </a:lnSpc>
              <a:spcBef>
                <a:spcPts val="400"/>
              </a:spcBef>
              <a:spcAft>
                <a:spcPts val="1200"/>
              </a:spcAft>
            </a:pPr>
            <a:r>
              <a:rPr sz="1400">
                <a:solidFill>
                  <a:srgbClr val="E8EAED"/>
                </a:solidFill>
                <a:latin typeface="Segoe UI"/>
              </a:rPr>
              <a:t>Scarfe, Watcham, Clarke and Roesch (2024). A real-world test of artificial intelligence infiltration of a university examinations system: A Turing Test case study. PLOS ONE. https://doi.org/10.1371/journal.pone.0305354</a:t>
            </a:r>
          </a:p>
        </p:txBody>
      </p:sp>
      <p:sp>
        <p:nvSpPr>
          <p:cNvPr id="7" name="Text 4"/>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8" name="Text 5"/>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177272" cy="685800"/>
          </a:xfrm>
          <a:prstGeom prst="rect">
            <a:avLst/>
          </a:prstGeom>
          <a:noFill/>
          <a:ln/>
        </p:spPr>
        <p:txBody>
          <a:bodyPr wrap="square" lIns="0" tIns="0" rIns="0" bIns="0" rtlCol="0" anchor="ctr"/>
          <a:lstStyle/>
          <a:p>
            <a:r>
              <a:rPr lang="en-US" sz="3400" b="1" dirty="0">
                <a:solidFill>
                  <a:srgbClr val="00E5FF"/>
                </a:solidFill>
                <a:latin typeface="Cambria" pitchFamily="34" charset="0"/>
                <a:ea typeface="Cambria" pitchFamily="34" charset="-122"/>
                <a:cs typeface="Cambria" pitchFamily="34" charset="-120"/>
              </a:rPr>
              <a:t>References (in APA format)</a:t>
            </a:r>
            <a:endParaRPr lang="en-US" sz="3400" dirty="0"/>
          </a:p>
        </p:txBody>
      </p:sp>
      <p:sp>
        <p:nvSpPr>
          <p:cNvPr id="3" name="Shape 2"/>
          <p:cNvSpPr/>
          <p:nvPr/>
        </p:nvSpPr>
        <p:spPr>
          <a:xfrm>
            <a:off x="548640" y="1600200"/>
            <a:ext cx="11091672" cy="4526280"/>
          </a:xfrm>
          <a:prstGeom prst="roundRect">
            <a:avLst>
              <a:gd name="adj" fmla="val 2424"/>
            </a:avLst>
          </a:prstGeom>
          <a:solidFill>
            <a:srgbClr val="121820"/>
          </a:solidFill>
          <a:ln w="15875">
            <a:solidFill>
              <a:srgbClr val="00E5FF"/>
            </a:solidFill>
            <a:prstDash val="solid"/>
          </a:ln>
        </p:spPr>
        <p:txBody>
          <a:bodyPr/>
          <a:lstStyle/>
          <a:p>
            <a:endParaRPr/>
          </a:p>
        </p:txBody>
      </p:sp>
      <p:sp>
        <p:nvSpPr>
          <p:cNvPr id="4" name="Text 3"/>
          <p:cNvSpPr txBox="1"/>
          <p:nvPr/>
        </p:nvSpPr>
        <p:spPr>
          <a:xfrm>
            <a:off x="621101" y="1783080"/>
            <a:ext cx="10946921" cy="4160520"/>
          </a:xfrm>
          <a:prstGeom prst="rect">
            <a:avLst/>
          </a:prstGeom>
          <a:noFill/>
          <a:ln/>
        </p:spPr>
        <p:txBody>
          <a:bodyPr wrap="square" lIns="0" tIns="0" rIns="0" bIns="0" rtlCol="0" anchor="t"/>
          <a:lstStyle/>
          <a:p>
            <a:pPr marL="274320" indent="-274320">
              <a:lnSpc>
                <a:spcPct val="100000"/>
              </a:lnSpc>
              <a:spcBef>
                <a:spcPts val="400"/>
              </a:spcBef>
              <a:spcAft>
                <a:spcPts val="1200"/>
              </a:spcAft>
              <a:buNone/>
            </a:pPr>
            <a:r>
              <a:rPr sz="1400">
                <a:solidFill>
                  <a:srgbClr val="E8EAED"/>
                </a:solidFill>
                <a:latin typeface="Segoe UI"/>
              </a:rPr>
              <a:t>Heinrich (2025). A systematic-narrative review of online proctoring systems and a case for open standards. Open Praxis. https://doi.org/10.55982/openpraxis.17.3.836</a:t>
            </a:r>
            <a:endParaRPr lang="en-US" sz="1400" dirty="0"/>
          </a:p>
          <a:p>
            <a:pPr marL="274320" indent="-274320">
              <a:lnSpc>
                <a:spcPct val="100000"/>
              </a:lnSpc>
              <a:spcBef>
                <a:spcPts val="400"/>
              </a:spcBef>
              <a:spcAft>
                <a:spcPts val="1200"/>
              </a:spcAft>
            </a:pPr>
            <a:r>
              <a:rPr sz="1400">
                <a:solidFill>
                  <a:srgbClr val="E8EAED"/>
                </a:solidFill>
                <a:latin typeface="Segoe UI"/>
              </a:rPr>
              <a:t>Özseven and Esin Özseven (2026). An explainable neuro-symbolic approach for cheating detection in online exams. Applied Sciences, 16(6), 2884. https://doi.org/10.3390/app16062884</a:t>
            </a:r>
          </a:p>
          <a:p>
            <a:pPr marL="274320" indent="-274320">
              <a:lnSpc>
                <a:spcPct val="100000"/>
              </a:lnSpc>
              <a:spcBef>
                <a:spcPts val="400"/>
              </a:spcBef>
              <a:spcAft>
                <a:spcPts val="1200"/>
              </a:spcAft>
            </a:pPr>
            <a:r>
              <a:rPr sz="1400">
                <a:solidFill>
                  <a:srgbClr val="E8EAED"/>
                </a:solidFill>
                <a:latin typeface="Segoe UI"/>
              </a:rPr>
              <a:t>Burgess, Ginsberg, Felten and Cohney (2022). Watching the watchers: Bias and vulnerability in remote proctoring software. USENIX Security 2022. https://www.usenix.org/conference/usenixsecurity22/presentation/burgess</a:t>
            </a:r>
          </a:p>
          <a:p>
            <a:pPr marL="274320" indent="-274320">
              <a:lnSpc>
                <a:spcPct val="100000"/>
              </a:lnSpc>
              <a:spcBef>
                <a:spcPts val="400"/>
              </a:spcBef>
              <a:spcAft>
                <a:spcPts val="1200"/>
              </a:spcAft>
            </a:pPr>
            <a:r>
              <a:rPr sz="1400">
                <a:solidFill>
                  <a:srgbClr val="E8EAED"/>
                </a:solidFill>
                <a:latin typeface="Segoe UI"/>
              </a:rPr>
              <a:t>Mohammed and Ali (2022). Cheating prevention in e-proctoring systems using secure exam browsers: A case study. JITEKI, 8(4), 634–648. https://doi.org/10.26555/jiteki.v8i4.25094</a:t>
            </a:r>
          </a:p>
          <a:p>
            <a:pPr marL="274320" indent="-274320">
              <a:lnSpc>
                <a:spcPct val="100000"/>
              </a:lnSpc>
              <a:spcBef>
                <a:spcPts val="400"/>
              </a:spcBef>
              <a:spcAft>
                <a:spcPts val="1200"/>
              </a:spcAft>
            </a:pPr>
            <a:r>
              <a:rPr sz="1400">
                <a:solidFill>
                  <a:srgbClr val="E8EAED"/>
                </a:solidFill>
                <a:latin typeface="Segoe UI"/>
              </a:rPr>
              <a:t>Newton and Essex (2024). How common is cheating in online exams and did it increase during the COVID-19 pandemic? A systematic review. Journal of Academic Ethics, 22, 323–343. https://doi.org/10.1007/s10805-023-09485-5</a:t>
            </a:r>
          </a:p>
        </p:txBody>
      </p:sp>
      <p:sp>
        <p:nvSpPr>
          <p:cNvPr id="5" name="Text 4"/>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BACSE291 – Innovative Design Project  |  First Review  |  Fall Semester 2026</a:t>
            </a:r>
            <a:endParaRPr lang="en-US" sz="1000" dirty="0"/>
          </a:p>
        </p:txBody>
      </p:sp>
      <p:sp>
        <p:nvSpPr>
          <p:cNvPr id="6" name="Text 5"/>
          <p:cNvSpPr txBox="1"/>
          <p:nvPr/>
        </p:nvSpPr>
        <p:spPr>
          <a:xfrm>
            <a:off x="10725912" y="6400800"/>
            <a:ext cx="914400" cy="274320"/>
          </a:xfrm>
          <a:prstGeom prst="rect">
            <a:avLst/>
          </a:prstGeom>
          <a:noFill/>
          <a:ln/>
        </p:spPr>
        <p:txBody>
          <a:bodyPr wrap="square" lIns="0" tIns="0" rIns="0" bIns="0" rtlCol="0" anchor="ctr"/>
          <a:lstStyle/>
          <a:p>
            <a:pPr marL="0" indent="0" algn="r">
              <a:buNone/>
            </a:pPr>
            <a:r>
              <a:rPr lang="en-US" sz="1000" dirty="0">
                <a:solidFill>
                  <a:srgbClr val="0B0F1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4505</Words>
  <Application>Microsoft Office PowerPoint</Application>
  <PresentationFormat>Widescreen</PresentationFormat>
  <Paragraphs>716</Paragraphs>
  <Slides>24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Cambria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BACSE291 – Innovative Design Project – Review 1</dc:title>
  <dc:subject>PptxGenJS Presentation</dc:subject>
  <dc:creator>School of Computer Science and Engineering, VIT</dc:creator>
  <cp:lastModifiedBy>Rudransh Mishra</cp:lastModifiedBy>
  <cp:revision>5</cp:revision>
  <dcterms:created xsi:type="dcterms:W3CDTF">2026-09-30T09:02:27Z</dcterms:created>
  <dcterms:modified xsi:type="dcterms:W3CDTF">2026-10-06T15:50:41Z</dcterms:modified>
</cp:coreProperties>
</file>