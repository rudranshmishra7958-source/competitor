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dransh Mishra" userId="666c3e26f861577a" providerId="LiveId" clId="{65CC0542-D492-4D79-B71F-65C3C5559D44}"/>
    <pc:docChg chg="modSld">
      <pc:chgData name="Rudransh Mishra" userId="666c3e26f861577a" providerId="LiveId" clId="{65CC0542-D492-4D79-B71F-65C3C5559D44}" dt="2026-10-03T18:05:55.903" v="1" actId="1076"/>
      <pc:docMkLst>
        <pc:docMk/>
      </pc:docMkLst>
      <pc:sldChg chg="modSp mod">
        <pc:chgData name="Rudransh Mishra" userId="666c3e26f861577a" providerId="LiveId" clId="{65CC0542-D492-4D79-B71F-65C3C5559D44}" dt="2026-10-03T18:05:55.903" v="1" actId="1076"/>
        <pc:sldMkLst>
          <pc:docMk/>
          <pc:sldMk cId="0" sldId="256"/>
        </pc:sldMkLst>
        <pc:spChg chg="mod">
          <ac:chgData name="Rudransh Mishra" userId="666c3e26f861577a" providerId="LiveId" clId="{65CC0542-D492-4D79-B71F-65C3C5559D44}" dt="2026-10-03T18:05:55.903" v="1" actId="1076"/>
          <ac:spMkLst>
            <pc:docMk/>
            <pc:sldMk cId="0" sldId="256"/>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8CAE40-A0F2-4EA0-952E-E10572FCA436}" type="datetimeFigureOut">
              <a:rPr lang="en-IN" smtClean="0"/>
              <a:t>03-10-2026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24534F-21BA-4DF9-8605-DAAC4AC30A57}" type="slidenum">
              <a:rPr lang="en-IN" smtClean="0"/>
              <a:t>‹#›</a:t>
            </a:fld>
            <a:endParaRPr lang="en-IN"/>
          </a:p>
        </p:txBody>
      </p:sp>
    </p:spTree>
    <p:extLst>
      <p:ext uri="{BB962C8B-B14F-4D97-AF65-F5344CB8AC3E}">
        <p14:creationId xmlns:p14="http://schemas.microsoft.com/office/powerpoint/2010/main" val="3880502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sit in the third column: an integrity monitor, not a lockdown browser and not an automated proctor. The website is the shared exam; the agent only names the foreground program, and a person still decides.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record page and process events that a reviewer can read. We do not record face, voice, keystrokes, titles, URLs, screenshots, or file contents, and a second phone is outside this threat model.</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gap is a paper result. Students reject the webcam, the browser cannot see the other app, commercial flags hide the rule, lockdown can be renamed around, and proctoring has not been shown to stop cheating.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pass conditions for the build. Detection rate, a reproducible score, a higher score only when the agent adds a name, and one exam shared by two students and one faculty device.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0116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 y="1234440"/>
            <a:ext cx="2377440" cy="1270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058400" cy="292608"/>
          </a:xfrm>
          <a:prstGeom prst="rect">
            <a:avLst/>
          </a:prstGeom>
          <a:noFill/>
        </p:spPr>
        <p:txBody>
          <a:bodyPr wrap="square"/>
          <a:lstStyle/>
          <a:p>
            <a:pPr algn="l"/>
            <a:r>
              <a:rPr sz="1300" b="1">
                <a:solidFill>
                  <a:srgbClr val="B08968"/>
                </a:solidFill>
                <a:latin typeface="Segoe UI"/>
              </a:rPr>
              <a:t>BACSE291    ·    INNOVATIVE DESIGN PROJECT    ·    REVIEW I</a:t>
            </a:r>
          </a:p>
        </p:txBody>
      </p:sp>
      <p:sp>
        <p:nvSpPr>
          <p:cNvPr id="6" name="TextBox 5"/>
          <p:cNvSpPr txBox="1"/>
          <p:nvPr/>
        </p:nvSpPr>
        <p:spPr>
          <a:xfrm>
            <a:off x="640080" y="1463040"/>
            <a:ext cx="10789920" cy="1325880"/>
          </a:xfrm>
          <a:prstGeom prst="rect">
            <a:avLst/>
          </a:prstGeom>
          <a:noFill/>
        </p:spPr>
        <p:txBody>
          <a:bodyPr wrap="square"/>
          <a:lstStyle/>
          <a:p>
            <a:pPr algn="l"/>
            <a:r>
              <a:rPr sz="3600" b="1">
                <a:solidFill>
                  <a:srgbClr val="12263A"/>
                </a:solidFill>
                <a:latin typeface="Palatino Linotype"/>
              </a:rPr>
              <a:t>Privacy-bounded integrity
for online examinations</a:t>
            </a:r>
          </a:p>
        </p:txBody>
      </p:sp>
      <p:sp>
        <p:nvSpPr>
          <p:cNvPr id="7" name="TextBox 6"/>
          <p:cNvSpPr txBox="1"/>
          <p:nvPr/>
        </p:nvSpPr>
        <p:spPr>
          <a:xfrm>
            <a:off x="640080" y="2926080"/>
            <a:ext cx="10058400" cy="329184"/>
          </a:xfrm>
          <a:prstGeom prst="rect">
            <a:avLst/>
          </a:prstGeom>
          <a:noFill/>
        </p:spPr>
        <p:txBody>
          <a:bodyPr wrap="square"/>
          <a:lstStyle/>
          <a:p>
            <a:pPr algn="l"/>
            <a:r>
              <a:rPr sz="1800" b="0">
                <a:solidFill>
                  <a:srgbClr val="0F6E6B"/>
                </a:solidFill>
                <a:latin typeface="Segoe UI"/>
              </a:rPr>
              <a:t>Review I  —  literature and gap analysis</a:t>
            </a:r>
          </a:p>
        </p:txBody>
      </p:sp>
      <p:sp>
        <p:nvSpPr>
          <p:cNvPr id="8" name="TextBox 7"/>
          <p:cNvSpPr txBox="1"/>
          <p:nvPr/>
        </p:nvSpPr>
        <p:spPr>
          <a:xfrm>
            <a:off x="640080" y="3337560"/>
            <a:ext cx="10058400" cy="329184"/>
          </a:xfrm>
          <a:prstGeom prst="rect">
            <a:avLst/>
          </a:prstGeom>
          <a:noFill/>
        </p:spPr>
        <p:txBody>
          <a:bodyPr wrap="square"/>
          <a:lstStyle/>
          <a:p>
            <a:pPr algn="l"/>
            <a:r>
              <a:rPr sz="1800" b="0">
                <a:solidFill>
                  <a:srgbClr val="1C1917"/>
                </a:solidFill>
                <a:latin typeface="Segoe UI"/>
              </a:rPr>
              <a:t>A full examination website and a visible endpoint monitor.</a:t>
            </a:r>
          </a:p>
        </p:txBody>
      </p:sp>
      <p:sp>
        <p:nvSpPr>
          <p:cNvPr id="9" name="TextBox 8"/>
          <p:cNvSpPr txBox="1"/>
          <p:nvPr/>
        </p:nvSpPr>
        <p:spPr>
          <a:xfrm>
            <a:off x="640080" y="4023360"/>
            <a:ext cx="5486400" cy="960120"/>
          </a:xfrm>
          <a:prstGeom prst="rect">
            <a:avLst/>
          </a:prstGeom>
          <a:noFill/>
        </p:spPr>
        <p:txBody>
          <a:bodyPr wrap="square"/>
          <a:lstStyle/>
          <a:p>
            <a:pPr algn="l"/>
            <a:r>
              <a:rPr sz="1600" b="0">
                <a:solidFill>
                  <a:srgbClr val="5C564E"/>
                </a:solidFill>
                <a:latin typeface="Segoe UI"/>
              </a:rPr>
              <a:t>Team
Guide
College</a:t>
            </a:r>
          </a:p>
        </p:txBody>
      </p:sp>
      <p:sp>
        <p:nvSpPr>
          <p:cNvPr id="10" name="TextBox 9"/>
          <p:cNvSpPr txBox="1"/>
          <p:nvPr/>
        </p:nvSpPr>
        <p:spPr>
          <a:xfrm>
            <a:off x="640080" y="6309360"/>
            <a:ext cx="7315200" cy="274320"/>
          </a:xfrm>
          <a:prstGeom prst="rect">
            <a:avLst/>
          </a:prstGeom>
          <a:noFill/>
        </p:spPr>
        <p:txBody>
          <a:bodyPr wrap="square"/>
          <a:lstStyle/>
          <a:p>
            <a:pPr algn="l"/>
            <a:r>
              <a:rPr sz="1200" b="0">
                <a:solidFill>
                  <a:srgbClr val="5C564E"/>
                </a:solidFill>
                <a:latin typeface="Segoe UI"/>
              </a:rPr>
              <a:t>Review I   ·   BACSE291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2</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The decision</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The decision this review supports</a:t>
            </a:r>
          </a:p>
        </p:txBody>
      </p:sp>
      <p:sp>
        <p:nvSpPr>
          <p:cNvPr id="9" name="TextBox 8"/>
          <p:cNvSpPr txBox="1"/>
          <p:nvPr/>
        </p:nvSpPr>
        <p:spPr>
          <a:xfrm>
            <a:off x="502920" y="1143000"/>
            <a:ext cx="10972800" cy="411480"/>
          </a:xfrm>
          <a:prstGeom prst="rect">
            <a:avLst/>
          </a:prstGeom>
          <a:noFill/>
        </p:spPr>
        <p:txBody>
          <a:bodyPr wrap="square"/>
          <a:lstStyle/>
          <a:p>
            <a:pPr algn="l"/>
            <a:r>
              <a:rPr sz="2000" b="0">
                <a:solidFill>
                  <a:srgbClr val="12263A"/>
                </a:solidFill>
                <a:latin typeface="Palatino Linotype"/>
              </a:rPr>
              <a:t>Colleges need integrity without turning the webcam into the default.</a:t>
            </a:r>
          </a:p>
        </p:txBody>
      </p:sp>
      <p:sp>
        <p:nvSpPr>
          <p:cNvPr id="10" name="TextBox 9"/>
          <p:cNvSpPr txBox="1"/>
          <p:nvPr/>
        </p:nvSpPr>
        <p:spPr>
          <a:xfrm>
            <a:off x="502920" y="1737360"/>
            <a:ext cx="10972800" cy="2011680"/>
          </a:xfrm>
          <a:prstGeom prst="rect">
            <a:avLst/>
          </a:prstGeom>
          <a:noFill/>
        </p:spPr>
        <p:txBody>
          <a:bodyPr wrap="square">
            <a:spAutoFit/>
          </a:bodyPr>
          <a:lstStyle/>
          <a:p>
            <a:pPr algn="l">
              <a:spcAft>
                <a:spcPts val="1000"/>
              </a:spcAft>
            </a:pPr>
            <a:r>
              <a:rPr sz="1800" b="0">
                <a:solidFill>
                  <a:srgbClr val="1C1917"/>
                </a:solidFill>
                <a:latin typeface="Segoe UI"/>
              </a:rPr>
              <a:t>One shared website. Faculty publish an exam. Students on other devices sit it.</a:t>
            </a:r>
          </a:p>
          <a:p>
            <a:pPr algn="l">
              <a:spcAft>
                <a:spcPts val="1000"/>
              </a:spcAft>
            </a:pPr>
            <a:r>
              <a:rPr sz="1800" b="0">
                <a:solidFill>
                  <a:srgbClr val="1C1917"/>
                </a:solidFill>
                <a:latin typeface="Segoe UI"/>
              </a:rPr>
              <a:t>Events are scored by a written policy. The same log always yields the same score.</a:t>
            </a:r>
          </a:p>
          <a:p>
            <a:pPr algn="l">
              <a:spcAft>
                <a:spcPts val="1000"/>
              </a:spcAft>
            </a:pPr>
            <a:r>
              <a:rPr sz="1800" b="0">
                <a:solidFill>
                  <a:srgbClr val="1C1917"/>
                </a:solidFill>
                <a:latin typeface="Segoe UI"/>
              </a:rPr>
              <a:t>A person chooses Flagged or Cleared. The system does not accuse.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3</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Domain</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Domain map</a:t>
            </a:r>
          </a:p>
        </p:txBody>
      </p:sp>
      <p:sp>
        <p:nvSpPr>
          <p:cNvPr id="9" name="TextBox 8"/>
          <p:cNvSpPr txBox="1"/>
          <p:nvPr/>
        </p:nvSpPr>
        <p:spPr>
          <a:xfrm>
            <a:off x="502920" y="1115568"/>
            <a:ext cx="10972800" cy="292608"/>
          </a:xfrm>
          <a:prstGeom prst="rect">
            <a:avLst/>
          </a:prstGeom>
          <a:noFill/>
        </p:spPr>
        <p:txBody>
          <a:bodyPr wrap="square"/>
          <a:lstStyle/>
          <a:p>
            <a:pPr algn="l"/>
            <a:r>
              <a:rPr sz="1600" b="1">
                <a:solidFill>
                  <a:srgbClr val="0F6E6B"/>
                </a:solidFill>
                <a:latin typeface="Segoe UI"/>
              </a:rPr>
              <a:t>Three approaches. This project is the third.</a:t>
            </a:r>
          </a:p>
        </p:txBody>
      </p:sp>
      <p:sp>
        <p:nvSpPr>
          <p:cNvPr id="10" name="Rectangle 9"/>
          <p:cNvSpPr/>
          <p:nvPr/>
        </p:nvSpPr>
        <p:spPr>
          <a:xfrm>
            <a:off x="502920" y="1554480"/>
            <a:ext cx="3611880" cy="233172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1554480"/>
            <a:ext cx="3611880" cy="54864"/>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1719072"/>
            <a:ext cx="3291840" cy="502920"/>
          </a:xfrm>
          <a:prstGeom prst="rect">
            <a:avLst/>
          </a:prstGeom>
          <a:noFill/>
        </p:spPr>
        <p:txBody>
          <a:bodyPr wrap="square"/>
          <a:lstStyle/>
          <a:p>
            <a:pPr algn="l"/>
            <a:r>
              <a:rPr sz="1800" b="1">
                <a:solidFill>
                  <a:srgbClr val="12263A"/>
                </a:solidFill>
                <a:latin typeface="Palatino Linotype"/>
              </a:rPr>
              <a:t>01   Lockdown browser</a:t>
            </a:r>
          </a:p>
        </p:txBody>
      </p:sp>
      <p:sp>
        <p:nvSpPr>
          <p:cNvPr id="13" name="TextBox 12"/>
          <p:cNvSpPr txBox="1"/>
          <p:nvPr/>
        </p:nvSpPr>
        <p:spPr>
          <a:xfrm>
            <a:off x="667512" y="2286000"/>
            <a:ext cx="3291840" cy="1417320"/>
          </a:xfrm>
          <a:prstGeom prst="rect">
            <a:avLst/>
          </a:prstGeom>
          <a:noFill/>
        </p:spPr>
        <p:txBody>
          <a:bodyPr wrap="square"/>
          <a:lstStyle/>
          <a:p>
            <a:pPr algn="l"/>
            <a:r>
              <a:rPr sz="1400" b="0">
                <a:solidFill>
                  <a:srgbClr val="1C1917"/>
                </a:solidFill>
                <a:latin typeface="Segoe UI"/>
              </a:rPr>
              <a:t>Safe Exam Browser, Respondus. The software locks the machine. It is privileged, and a renamed process can walk around the list.</a:t>
            </a:r>
          </a:p>
        </p:txBody>
      </p:sp>
      <p:sp>
        <p:nvSpPr>
          <p:cNvPr id="14" name="Rectangle 13"/>
          <p:cNvSpPr/>
          <p:nvPr/>
        </p:nvSpPr>
        <p:spPr>
          <a:xfrm>
            <a:off x="4297680" y="1554480"/>
            <a:ext cx="3611880" cy="233172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97680" y="1554480"/>
            <a:ext cx="3611880" cy="54864"/>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62272" y="1719072"/>
            <a:ext cx="3291840" cy="502920"/>
          </a:xfrm>
          <a:prstGeom prst="rect">
            <a:avLst/>
          </a:prstGeom>
          <a:noFill/>
        </p:spPr>
        <p:txBody>
          <a:bodyPr wrap="square"/>
          <a:lstStyle/>
          <a:p>
            <a:pPr algn="l"/>
            <a:r>
              <a:rPr sz="1800" b="1">
                <a:solidFill>
                  <a:srgbClr val="12263A"/>
                </a:solidFill>
                <a:latin typeface="Palatino Linotype"/>
              </a:rPr>
              <a:t>02   Automated proctor</a:t>
            </a:r>
          </a:p>
        </p:txBody>
      </p:sp>
      <p:sp>
        <p:nvSpPr>
          <p:cNvPr id="17" name="TextBox 16"/>
          <p:cNvSpPr txBox="1"/>
          <p:nvPr/>
        </p:nvSpPr>
        <p:spPr>
          <a:xfrm>
            <a:off x="4462272" y="2286000"/>
            <a:ext cx="3291840" cy="1417320"/>
          </a:xfrm>
          <a:prstGeom prst="rect">
            <a:avLst/>
          </a:prstGeom>
          <a:noFill/>
        </p:spPr>
        <p:txBody>
          <a:bodyPr wrap="square"/>
          <a:lstStyle/>
          <a:p>
            <a:pPr algn="l"/>
            <a:r>
              <a:rPr sz="1400" b="0">
                <a:solidFill>
                  <a:srgbClr val="1C1917"/>
                </a:solidFill>
                <a:latin typeface="Segoe UI"/>
              </a:rPr>
              <a:t>Webcam, gaze, voice, and screen. The body is the evidence. The flag is often a score without a published rule.</a:t>
            </a:r>
          </a:p>
        </p:txBody>
      </p:sp>
      <p:sp>
        <p:nvSpPr>
          <p:cNvPr id="18" name="Rectangle 17"/>
          <p:cNvSpPr/>
          <p:nvPr/>
        </p:nvSpPr>
        <p:spPr>
          <a:xfrm>
            <a:off x="8092440" y="1554480"/>
            <a:ext cx="3611880" cy="233172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92440" y="1554480"/>
            <a:ext cx="3611880" cy="54864"/>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57032" y="1719072"/>
            <a:ext cx="3291840" cy="502920"/>
          </a:xfrm>
          <a:prstGeom prst="rect">
            <a:avLst/>
          </a:prstGeom>
          <a:noFill/>
        </p:spPr>
        <p:txBody>
          <a:bodyPr wrap="square"/>
          <a:lstStyle/>
          <a:p>
            <a:pPr algn="l"/>
            <a:r>
              <a:rPr sz="1800" b="1">
                <a:solidFill>
                  <a:srgbClr val="12263A"/>
                </a:solidFill>
                <a:latin typeface="Palatino Linotype"/>
              </a:rPr>
              <a:t>03   Integrity monitor</a:t>
            </a:r>
          </a:p>
        </p:txBody>
      </p:sp>
      <p:sp>
        <p:nvSpPr>
          <p:cNvPr id="21" name="TextBox 20"/>
          <p:cNvSpPr txBox="1"/>
          <p:nvPr/>
        </p:nvSpPr>
        <p:spPr>
          <a:xfrm>
            <a:off x="8257032" y="2286000"/>
            <a:ext cx="3291840" cy="1417320"/>
          </a:xfrm>
          <a:prstGeom prst="rect">
            <a:avLst/>
          </a:prstGeom>
          <a:noFill/>
        </p:spPr>
        <p:txBody>
          <a:bodyPr wrap="square"/>
          <a:lstStyle/>
          <a:p>
            <a:pPr algn="l"/>
            <a:r>
              <a:rPr sz="1400" b="0">
                <a:solidFill>
                  <a:srgbClr val="1C1917"/>
                </a:solidFill>
                <a:latin typeface="Segoe UI"/>
              </a:rPr>
              <a:t>This project. A shared exam website, browser events, and a visible agent that reports an executable name. A reviewer decides.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4</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Terms</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Terms you will use out loud</a:t>
            </a:r>
          </a:p>
        </p:txBody>
      </p:sp>
      <p:sp>
        <p:nvSpPr>
          <p:cNvPr id="9" name="Rectangle 8"/>
          <p:cNvSpPr/>
          <p:nvPr/>
        </p:nvSpPr>
        <p:spPr>
          <a:xfrm>
            <a:off x="502920" y="1170432"/>
            <a:ext cx="11155680" cy="64008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 y="1207008"/>
            <a:ext cx="10789920" cy="292608"/>
          </a:xfrm>
          <a:prstGeom prst="rect">
            <a:avLst/>
          </a:prstGeom>
          <a:noFill/>
        </p:spPr>
        <p:txBody>
          <a:bodyPr wrap="square"/>
          <a:lstStyle/>
          <a:p>
            <a:pPr algn="l"/>
            <a:r>
              <a:rPr sz="1600" b="1">
                <a:solidFill>
                  <a:srgbClr val="12263A"/>
                </a:solidFill>
                <a:latin typeface="Palatino Linotype"/>
              </a:rPr>
              <a:t>Credential is not identity.</a:t>
            </a:r>
          </a:p>
        </p:txBody>
      </p:sp>
      <p:sp>
        <p:nvSpPr>
          <p:cNvPr id="11" name="TextBox 10"/>
          <p:cNvSpPr txBox="1"/>
          <p:nvPr/>
        </p:nvSpPr>
        <p:spPr>
          <a:xfrm>
            <a:off x="658368" y="1481328"/>
            <a:ext cx="10789920" cy="292608"/>
          </a:xfrm>
          <a:prstGeom prst="rect">
            <a:avLst/>
          </a:prstGeom>
          <a:noFill/>
        </p:spPr>
        <p:txBody>
          <a:bodyPr wrap="square"/>
          <a:lstStyle/>
          <a:p>
            <a:pPr algn="l"/>
            <a:r>
              <a:rPr sz="1400" b="0">
                <a:solidFill>
                  <a:srgbClr val="1C1917"/>
                </a:solidFill>
                <a:latin typeface="Segoe UI"/>
              </a:rPr>
              <a:t>A login proves an account. It does not prove a face.</a:t>
            </a:r>
          </a:p>
        </p:txBody>
      </p:sp>
      <p:sp>
        <p:nvSpPr>
          <p:cNvPr id="12" name="Rectangle 11"/>
          <p:cNvSpPr/>
          <p:nvPr/>
        </p:nvSpPr>
        <p:spPr>
          <a:xfrm>
            <a:off x="502920" y="1883664"/>
            <a:ext cx="11155680" cy="64008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 y="1920240"/>
            <a:ext cx="10789920" cy="292608"/>
          </a:xfrm>
          <a:prstGeom prst="rect">
            <a:avLst/>
          </a:prstGeom>
          <a:noFill/>
        </p:spPr>
        <p:txBody>
          <a:bodyPr wrap="square"/>
          <a:lstStyle/>
          <a:p>
            <a:pPr algn="l"/>
            <a:r>
              <a:rPr sz="1600" b="1">
                <a:solidFill>
                  <a:srgbClr val="12263A"/>
                </a:solidFill>
                <a:latin typeface="Palatino Linotype"/>
              </a:rPr>
              <a:t>Enforce versus allow-but-log.</a:t>
            </a:r>
          </a:p>
        </p:txBody>
      </p:sp>
      <p:sp>
        <p:nvSpPr>
          <p:cNvPr id="14" name="TextBox 13"/>
          <p:cNvSpPr txBox="1"/>
          <p:nvPr/>
        </p:nvSpPr>
        <p:spPr>
          <a:xfrm>
            <a:off x="658368" y="2194560"/>
            <a:ext cx="10789920" cy="292608"/>
          </a:xfrm>
          <a:prstGeom prst="rect">
            <a:avLst/>
          </a:prstGeom>
          <a:noFill/>
        </p:spPr>
        <p:txBody>
          <a:bodyPr wrap="square"/>
          <a:lstStyle/>
          <a:p>
            <a:pPr algn="l"/>
            <a:r>
              <a:rPr sz="1400" b="0">
                <a:solidFill>
                  <a:srgbClr val="1C1917"/>
                </a:solidFill>
                <a:latin typeface="Segoe UI"/>
              </a:rPr>
              <a:t>We record the event. We do not kill the other program.</a:t>
            </a:r>
          </a:p>
        </p:txBody>
      </p:sp>
      <p:sp>
        <p:nvSpPr>
          <p:cNvPr id="15" name="Rectangle 14"/>
          <p:cNvSpPr/>
          <p:nvPr/>
        </p:nvSpPr>
        <p:spPr>
          <a:xfrm>
            <a:off x="502920" y="2596896"/>
            <a:ext cx="11155680" cy="64008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2633472"/>
            <a:ext cx="10789920" cy="292608"/>
          </a:xfrm>
          <a:prstGeom prst="rect">
            <a:avLst/>
          </a:prstGeom>
          <a:noFill/>
        </p:spPr>
        <p:txBody>
          <a:bodyPr wrap="square"/>
          <a:lstStyle/>
          <a:p>
            <a:pPr algn="l"/>
            <a:r>
              <a:rPr sz="1600" b="1">
                <a:solidFill>
                  <a:srgbClr val="12263A"/>
                </a:solidFill>
                <a:latin typeface="Palatino Linotype"/>
              </a:rPr>
              <a:t>Browser signal versus endpoint signal.</a:t>
            </a:r>
          </a:p>
        </p:txBody>
      </p:sp>
      <p:sp>
        <p:nvSpPr>
          <p:cNvPr id="17" name="TextBox 16"/>
          <p:cNvSpPr txBox="1"/>
          <p:nvPr/>
        </p:nvSpPr>
        <p:spPr>
          <a:xfrm>
            <a:off x="658368" y="2907792"/>
            <a:ext cx="10789920" cy="292608"/>
          </a:xfrm>
          <a:prstGeom prst="rect">
            <a:avLst/>
          </a:prstGeom>
          <a:noFill/>
        </p:spPr>
        <p:txBody>
          <a:bodyPr wrap="square"/>
          <a:lstStyle/>
          <a:p>
            <a:pPr algn="l"/>
            <a:r>
              <a:rPr sz="1400" b="0">
                <a:solidFill>
                  <a:srgbClr val="1C1917"/>
                </a:solidFill>
                <a:latin typeface="Segoe UI"/>
              </a:rPr>
              <a:t>The page can see focus. Only the agent can name the executable.</a:t>
            </a:r>
          </a:p>
        </p:txBody>
      </p:sp>
      <p:sp>
        <p:nvSpPr>
          <p:cNvPr id="18" name="Rectangle 17"/>
          <p:cNvSpPr/>
          <p:nvPr/>
        </p:nvSpPr>
        <p:spPr>
          <a:xfrm>
            <a:off x="502920" y="3310128"/>
            <a:ext cx="11155680" cy="64008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8368" y="3346704"/>
            <a:ext cx="10789920" cy="292608"/>
          </a:xfrm>
          <a:prstGeom prst="rect">
            <a:avLst/>
          </a:prstGeom>
          <a:noFill/>
        </p:spPr>
        <p:txBody>
          <a:bodyPr wrap="square"/>
          <a:lstStyle/>
          <a:p>
            <a:pPr algn="l"/>
            <a:r>
              <a:rPr sz="1600" b="1">
                <a:solidFill>
                  <a:srgbClr val="12263A"/>
                </a:solidFill>
                <a:latin typeface="Palatino Linotype"/>
              </a:rPr>
              <a:t>Risk score versus reviewer decision.</a:t>
            </a:r>
          </a:p>
        </p:txBody>
      </p:sp>
      <p:sp>
        <p:nvSpPr>
          <p:cNvPr id="20" name="TextBox 19"/>
          <p:cNvSpPr txBox="1"/>
          <p:nvPr/>
        </p:nvSpPr>
        <p:spPr>
          <a:xfrm>
            <a:off x="658368" y="3621024"/>
            <a:ext cx="10789920" cy="292608"/>
          </a:xfrm>
          <a:prstGeom prst="rect">
            <a:avLst/>
          </a:prstGeom>
          <a:noFill/>
        </p:spPr>
        <p:txBody>
          <a:bodyPr wrap="square"/>
          <a:lstStyle/>
          <a:p>
            <a:pPr algn="l"/>
            <a:r>
              <a:rPr sz="1400" b="0">
                <a:solidFill>
                  <a:srgbClr val="1C1917"/>
                </a:solidFill>
                <a:latin typeface="Segoe UI"/>
              </a:rPr>
              <a:t>Low, Medium, or High is a rule. Flagged or Cleared is a person.</a:t>
            </a:r>
          </a:p>
        </p:txBody>
      </p:sp>
      <p:sp>
        <p:nvSpPr>
          <p:cNvPr id="21" name="Rectangle 20"/>
          <p:cNvSpPr/>
          <p:nvPr/>
        </p:nvSpPr>
        <p:spPr>
          <a:xfrm>
            <a:off x="502920" y="4023360"/>
            <a:ext cx="11155680" cy="64008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 y="4059936"/>
            <a:ext cx="10789920" cy="292608"/>
          </a:xfrm>
          <a:prstGeom prst="rect">
            <a:avLst/>
          </a:prstGeom>
          <a:noFill/>
        </p:spPr>
        <p:txBody>
          <a:bodyPr wrap="square"/>
          <a:lstStyle/>
          <a:p>
            <a:pPr algn="l"/>
            <a:r>
              <a:rPr sz="1600" b="1">
                <a:solidFill>
                  <a:srgbClr val="12263A"/>
                </a:solidFill>
                <a:latin typeface="Palatino Linotype"/>
              </a:rPr>
              <a:t>Data minimization.</a:t>
            </a:r>
          </a:p>
        </p:txBody>
      </p:sp>
      <p:sp>
        <p:nvSpPr>
          <p:cNvPr id="23" name="TextBox 22"/>
          <p:cNvSpPr txBox="1"/>
          <p:nvPr/>
        </p:nvSpPr>
        <p:spPr>
          <a:xfrm>
            <a:off x="658368" y="4334256"/>
            <a:ext cx="10789920" cy="292608"/>
          </a:xfrm>
          <a:prstGeom prst="rect">
            <a:avLst/>
          </a:prstGeom>
          <a:noFill/>
        </p:spPr>
        <p:txBody>
          <a:bodyPr wrap="square"/>
          <a:lstStyle/>
          <a:p>
            <a:pPr algn="l"/>
            <a:r>
              <a:rPr sz="1400" b="0">
                <a:solidFill>
                  <a:srgbClr val="1C1917"/>
                </a:solidFill>
                <a:latin typeface="Segoe UI"/>
              </a:rPr>
              <a:t>If the review does not need it, the system does not collect 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5</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Threat model</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Threat model</a:t>
            </a:r>
          </a:p>
        </p:txBody>
      </p:sp>
      <p:sp>
        <p:nvSpPr>
          <p:cNvPr id="9" name="Rectangle 8"/>
          <p:cNvSpPr/>
          <p:nvPr/>
        </p:nvSpPr>
        <p:spPr>
          <a:xfrm>
            <a:off x="502920" y="1170432"/>
            <a:ext cx="5486400" cy="288036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72200" y="1170432"/>
            <a:ext cx="5486400" cy="288036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1170432"/>
            <a:ext cx="5486400" cy="54864"/>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1170432"/>
            <a:ext cx="54864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1298448"/>
            <a:ext cx="5120640" cy="329184"/>
          </a:xfrm>
          <a:prstGeom prst="rect">
            <a:avLst/>
          </a:prstGeom>
          <a:noFill/>
        </p:spPr>
        <p:txBody>
          <a:bodyPr wrap="square"/>
          <a:lstStyle/>
          <a:p>
            <a:pPr algn="l"/>
            <a:r>
              <a:rPr sz="2000" b="1">
                <a:solidFill>
                  <a:srgbClr val="0F6E6B"/>
                </a:solidFill>
                <a:latin typeface="Palatino Linotype"/>
              </a:rPr>
              <a:t>Will record</a:t>
            </a:r>
          </a:p>
        </p:txBody>
      </p:sp>
      <p:sp>
        <p:nvSpPr>
          <p:cNvPr id="14" name="TextBox 13"/>
          <p:cNvSpPr txBox="1"/>
          <p:nvPr/>
        </p:nvSpPr>
        <p:spPr>
          <a:xfrm>
            <a:off x="6355080" y="1298448"/>
            <a:ext cx="5120640" cy="329184"/>
          </a:xfrm>
          <a:prstGeom prst="rect">
            <a:avLst/>
          </a:prstGeom>
          <a:noFill/>
        </p:spPr>
        <p:txBody>
          <a:bodyPr wrap="square"/>
          <a:lstStyle/>
          <a:p>
            <a:pPr algn="l"/>
            <a:r>
              <a:rPr sz="2000" b="1">
                <a:solidFill>
                  <a:srgbClr val="C45C26"/>
                </a:solidFill>
                <a:latin typeface="Palatino Linotype"/>
              </a:rPr>
              <a:t>Will not record</a:t>
            </a:r>
          </a:p>
        </p:txBody>
      </p:sp>
      <p:sp>
        <p:nvSpPr>
          <p:cNvPr id="15" name="TextBox 14"/>
          <p:cNvSpPr txBox="1"/>
          <p:nvPr/>
        </p:nvSpPr>
        <p:spPr>
          <a:xfrm>
            <a:off x="685800" y="1719072"/>
            <a:ext cx="5120640" cy="2194560"/>
          </a:xfrm>
          <a:prstGeom prst="rect">
            <a:avLst/>
          </a:prstGeom>
          <a:noFill/>
        </p:spPr>
        <p:txBody>
          <a:bodyPr wrap="square">
            <a:spAutoFit/>
          </a:bodyPr>
          <a:lstStyle/>
          <a:p>
            <a:pPr algn="l">
              <a:spcAft>
                <a:spcPts val="200"/>
              </a:spcAft>
            </a:pPr>
            <a:r>
              <a:rPr sz="1500" b="0">
                <a:solidFill>
                  <a:srgbClr val="1C1917"/>
                </a:solidFill>
                <a:latin typeface="Segoe UI"/>
              </a:rPr>
              <a:t>Tab hide, focus, fullscreen</a:t>
            </a:r>
          </a:p>
          <a:p>
            <a:pPr algn="l">
              <a:spcAft>
                <a:spcPts val="200"/>
              </a:spcAft>
            </a:pPr>
            <a:r>
              <a:rPr sz="1500" b="0">
                <a:solidFill>
                  <a:srgbClr val="1C1917"/>
                </a:solidFill>
                <a:latin typeface="Segoe UI"/>
              </a:rPr>
              <a:t>Clipboard</a:t>
            </a:r>
          </a:p>
          <a:p>
            <a:pPr algn="l">
              <a:spcAft>
                <a:spcPts val="200"/>
              </a:spcAft>
            </a:pPr>
            <a:r>
              <a:rPr sz="1500" b="0">
                <a:solidFill>
                  <a:srgbClr val="1C1917"/>
                </a:solidFill>
                <a:latin typeface="Segoe UI"/>
              </a:rPr>
              <a:t>DevTools heuristic</a:t>
            </a:r>
          </a:p>
          <a:p>
            <a:pPr algn="l">
              <a:spcAft>
                <a:spcPts val="200"/>
              </a:spcAft>
            </a:pPr>
            <a:r>
              <a:rPr sz="1500" b="0">
                <a:solidFill>
                  <a:srgbClr val="1C1917"/>
                </a:solidFill>
                <a:latin typeface="Segoe UI"/>
              </a:rPr>
              <a:t>Foreground executable name</a:t>
            </a:r>
          </a:p>
          <a:p>
            <a:pPr algn="l">
              <a:spcAft>
                <a:spcPts val="200"/>
              </a:spcAft>
            </a:pPr>
            <a:r>
              <a:rPr sz="1500" b="0">
                <a:solidFill>
                  <a:srgbClr val="1C1917"/>
                </a:solidFill>
                <a:latin typeface="Segoe UI"/>
              </a:rPr>
              <a:t>Display count</a:t>
            </a:r>
          </a:p>
          <a:p>
            <a:pPr algn="l">
              <a:spcAft>
                <a:spcPts val="200"/>
              </a:spcAft>
            </a:pPr>
            <a:r>
              <a:rPr sz="1500" b="0">
                <a:solidFill>
                  <a:srgbClr val="1C1917"/>
                </a:solidFill>
                <a:latin typeface="Segoe UI"/>
              </a:rPr>
              <a:t>Network up or down</a:t>
            </a:r>
          </a:p>
        </p:txBody>
      </p:sp>
      <p:sp>
        <p:nvSpPr>
          <p:cNvPr id="16" name="TextBox 15"/>
          <p:cNvSpPr txBox="1"/>
          <p:nvPr/>
        </p:nvSpPr>
        <p:spPr>
          <a:xfrm>
            <a:off x="6355080" y="1719072"/>
            <a:ext cx="5120640" cy="2194560"/>
          </a:xfrm>
          <a:prstGeom prst="rect">
            <a:avLst/>
          </a:prstGeom>
          <a:noFill/>
        </p:spPr>
        <p:txBody>
          <a:bodyPr wrap="square">
            <a:spAutoFit/>
          </a:bodyPr>
          <a:lstStyle/>
          <a:p>
            <a:pPr algn="l">
              <a:spcAft>
                <a:spcPts val="200"/>
              </a:spcAft>
            </a:pPr>
            <a:r>
              <a:rPr sz="1500" b="0">
                <a:solidFill>
                  <a:srgbClr val="1C1917"/>
                </a:solidFill>
                <a:latin typeface="Segoe UI"/>
              </a:rPr>
              <a:t>Face, voice, keystrokes</a:t>
            </a:r>
          </a:p>
          <a:p>
            <a:pPr algn="l">
              <a:spcAft>
                <a:spcPts val="200"/>
              </a:spcAft>
            </a:pPr>
            <a:r>
              <a:rPr sz="1500" b="0">
                <a:solidFill>
                  <a:srgbClr val="1C1917"/>
                </a:solidFill>
                <a:latin typeface="Segoe UI"/>
              </a:rPr>
              <a:t>Window titles</a:t>
            </a:r>
          </a:p>
          <a:p>
            <a:pPr algn="l">
              <a:spcAft>
                <a:spcPts val="200"/>
              </a:spcAft>
            </a:pPr>
            <a:r>
              <a:rPr sz="1500" b="0">
                <a:solidFill>
                  <a:srgbClr val="1C1917"/>
                </a:solidFill>
                <a:latin typeface="Segoe UI"/>
              </a:rPr>
              <a:t>URLs</a:t>
            </a:r>
          </a:p>
          <a:p>
            <a:pPr algn="l">
              <a:spcAft>
                <a:spcPts val="200"/>
              </a:spcAft>
            </a:pPr>
            <a:r>
              <a:rPr sz="1500" b="0">
                <a:solidFill>
                  <a:srgbClr val="1C1917"/>
                </a:solidFill>
                <a:latin typeface="Segoe UI"/>
              </a:rPr>
              <a:t>Screenshots</a:t>
            </a:r>
          </a:p>
          <a:p>
            <a:pPr algn="l">
              <a:spcAft>
                <a:spcPts val="200"/>
              </a:spcAft>
            </a:pPr>
            <a:r>
              <a:rPr sz="1500" b="0">
                <a:solidFill>
                  <a:srgbClr val="1C1917"/>
                </a:solidFill>
                <a:latin typeface="Segoe UI"/>
              </a:rPr>
              <a:t>File contents</a:t>
            </a:r>
          </a:p>
          <a:p>
            <a:pPr algn="l">
              <a:spcAft>
                <a:spcPts val="200"/>
              </a:spcAft>
            </a:pPr>
            <a:r>
              <a:rPr sz="1500" b="0">
                <a:solidFill>
                  <a:srgbClr val="1C1917"/>
                </a:solidFill>
                <a:latin typeface="Segoe UI"/>
              </a:rPr>
              <a:t>A second phone — out of scope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6</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Method</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How the literature was read</a:t>
            </a:r>
          </a:p>
        </p:txBody>
      </p:sp>
      <p:sp>
        <p:nvSpPr>
          <p:cNvPr id="9" name="TextBox 8"/>
          <p:cNvSpPr txBox="1"/>
          <p:nvPr/>
        </p:nvSpPr>
        <p:spPr>
          <a:xfrm>
            <a:off x="502920" y="1170432"/>
            <a:ext cx="11155680" cy="3291840"/>
          </a:xfrm>
          <a:prstGeom prst="rect">
            <a:avLst/>
          </a:prstGeom>
          <a:noFill/>
        </p:spPr>
        <p:txBody>
          <a:bodyPr wrap="square">
            <a:spAutoFit/>
          </a:bodyPr>
          <a:lstStyle/>
          <a:p>
            <a:pPr algn="l">
              <a:spcAft>
                <a:spcPts val="800"/>
              </a:spcAft>
            </a:pPr>
            <a:r>
              <a:rPr sz="1800" b="0">
                <a:solidFill>
                  <a:srgbClr val="1C1917"/>
                </a:solidFill>
                <a:latin typeface="Segoe UI"/>
              </a:rPr>
              <a:t>Inclusion: peer-reviewed journal or full conference paper; English; online exams, proctoring, lockdown browsers, or generative-AI cheating.</a:t>
            </a:r>
          </a:p>
          <a:p>
            <a:pPr algn="l">
              <a:spcAft>
                <a:spcPts val="800"/>
              </a:spcAft>
            </a:pPr>
            <a:r>
              <a:rPr sz="1800" b="0">
                <a:solidFill>
                  <a:srgbClr val="1C1917"/>
                </a:solidFill>
                <a:latin typeface="Segoe UI"/>
              </a:rPr>
              <a:t>52 papers. 38 are from 2021–2026, which is 73 percent. The bar in the brief is 70 percent.</a:t>
            </a:r>
          </a:p>
          <a:p>
            <a:pPr algn="l">
              <a:spcAft>
                <a:spcPts val="800"/>
              </a:spcAft>
            </a:pPr>
            <a:r>
              <a:rPr sz="1800" b="0">
                <a:solidFill>
                  <a:srgbClr val="1C1917"/>
                </a:solidFill>
                <a:latin typeface="Segoe UI"/>
              </a:rPr>
              <a:t>14 papers from before 2021 are labeled foundational. The cap is 15.</a:t>
            </a:r>
          </a:p>
          <a:p>
            <a:pPr algn="l">
              <a:spcAft>
                <a:spcPts val="800"/>
              </a:spcAft>
            </a:pPr>
            <a:r>
              <a:rPr sz="1800" b="0">
                <a:solidFill>
                  <a:srgbClr val="1C1917"/>
                </a:solidFill>
                <a:latin typeface="Segoe UI"/>
              </a:rPr>
              <a:t>Each row has five columns: author and year, method, dataset or testbed, key parameters, limitation.</a:t>
            </a:r>
          </a:p>
          <a:p>
            <a:pPr algn="l">
              <a:spcAft>
                <a:spcPts val="800"/>
              </a:spcAft>
            </a:pPr>
            <a:r>
              <a:rPr sz="1800" b="0">
                <a:solidFill>
                  <a:srgbClr val="1C1917"/>
                </a:solidFill>
                <a:latin typeface="Segoe UI"/>
              </a:rPr>
              <a:t>Theses, arXiv-only preprints, blogs, and vendor pages are not in the 52.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7</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Clusters</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Six clusters, not 52 summaries</a:t>
            </a:r>
          </a:p>
        </p:txBody>
      </p:sp>
      <p:sp>
        <p:nvSpPr>
          <p:cNvPr id="9" name="TextBox 8"/>
          <p:cNvSpPr txBox="1"/>
          <p:nvPr/>
        </p:nvSpPr>
        <p:spPr>
          <a:xfrm>
            <a:off x="502920" y="1170432"/>
            <a:ext cx="11155680" cy="3840480"/>
          </a:xfrm>
          <a:prstGeom prst="rect">
            <a:avLst/>
          </a:prstGeom>
          <a:noFill/>
        </p:spPr>
        <p:txBody>
          <a:bodyPr wrap="square">
            <a:spAutoFit/>
          </a:bodyPr>
          <a:lstStyle/>
          <a:p>
            <a:pPr algn="l">
              <a:spcAft>
                <a:spcPts val="800"/>
              </a:spcAft>
            </a:pPr>
            <a:r>
              <a:rPr sz="1800" b="0">
                <a:solidFill>
                  <a:srgbClr val="1C1917"/>
                </a:solidFill>
                <a:latin typeface="Segoe UI"/>
              </a:rPr>
              <a:t>1   Surveys of proctoring. They map tools. They do not publish a scoring rule.</a:t>
            </a:r>
          </a:p>
          <a:p>
            <a:pPr algn="l">
              <a:spcAft>
                <a:spcPts val="800"/>
              </a:spcAft>
            </a:pPr>
            <a:r>
              <a:rPr sz="1800" b="0">
                <a:solidFill>
                  <a:srgbClr val="1C1917"/>
                </a:solidFill>
                <a:latin typeface="Segoe UI"/>
              </a:rPr>
              <a:t>2   Lockdown browsers. They restrict the machine. A renamed process walks around the list.</a:t>
            </a:r>
          </a:p>
          <a:p>
            <a:pPr algn="l">
              <a:spcAft>
                <a:spcPts val="800"/>
              </a:spcAft>
            </a:pPr>
            <a:r>
              <a:rPr sz="1800" b="0">
                <a:solidFill>
                  <a:srgbClr val="1C1917"/>
                </a:solidFill>
                <a:latin typeface="Segoe UI"/>
              </a:rPr>
              <a:t>3   Browser-only signals. They know the page was left. They do not know which program opened.</a:t>
            </a:r>
          </a:p>
          <a:p>
            <a:pPr algn="l">
              <a:spcAft>
                <a:spcPts val="800"/>
              </a:spcAft>
            </a:pPr>
            <a:r>
              <a:rPr sz="1800" b="0">
                <a:solidFill>
                  <a:srgbClr val="1C1917"/>
                </a:solidFill>
                <a:latin typeface="Segoe UI"/>
              </a:rPr>
              <a:t>4   Webcam and AI proctors. The cue is the body. The flag is often unexplained.</a:t>
            </a:r>
          </a:p>
          <a:p>
            <a:pPr algn="l">
              <a:spcAft>
                <a:spcPts val="800"/>
              </a:spcAft>
            </a:pPr>
            <a:r>
              <a:rPr sz="1800" b="0">
                <a:solidFill>
                  <a:srgbClr val="1C1917"/>
                </a:solidFill>
                <a:latin typeface="Segoe UI"/>
              </a:rPr>
              <a:t>5   Privacy and ethics. Students treat the webcam as a breach. The papers stop at the critique.</a:t>
            </a:r>
          </a:p>
          <a:p>
            <a:pPr algn="l">
              <a:spcAft>
                <a:spcPts val="800"/>
              </a:spcAft>
            </a:pPr>
            <a:r>
              <a:rPr sz="1800" b="0">
                <a:solidFill>
                  <a:srgbClr val="1C1917"/>
                </a:solidFill>
                <a:latin typeface="Segoe UI"/>
              </a:rPr>
              <a:t>6   Generative AI and answer patterns. Detectors miss scripts. A score jump is not a person.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8</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Comparison</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Comparison, spoken version</a:t>
            </a:r>
          </a:p>
        </p:txBody>
      </p:sp>
      <p:sp>
        <p:nvSpPr>
          <p:cNvPr id="9" name="TextBox 8"/>
          <p:cNvSpPr txBox="1"/>
          <p:nvPr/>
        </p:nvSpPr>
        <p:spPr>
          <a:xfrm>
            <a:off x="502920" y="1115568"/>
            <a:ext cx="10972800" cy="274320"/>
          </a:xfrm>
          <a:prstGeom prst="rect">
            <a:avLst/>
          </a:prstGeom>
          <a:noFill/>
        </p:spPr>
        <p:txBody>
          <a:bodyPr wrap="square"/>
          <a:lstStyle/>
          <a:p>
            <a:pPr algn="l"/>
            <a:r>
              <a:rPr sz="1400" b="0">
                <a:solidFill>
                  <a:srgbClr val="5C564E"/>
                </a:solidFill>
                <a:latin typeface="Segoe UI"/>
              </a:rPr>
              <a:t>One row from each of clusters 3 to 6. The full table is in the appendix.</a:t>
            </a:r>
          </a:p>
        </p:txBody>
      </p:sp>
      <p:graphicFrame>
        <p:nvGraphicFramePr>
          <p:cNvPr id="10" name="Table 9"/>
          <p:cNvGraphicFramePr>
            <a:graphicFrameLocks noGrp="1"/>
          </p:cNvGraphicFramePr>
          <p:nvPr/>
        </p:nvGraphicFramePr>
        <p:xfrm>
          <a:off x="457200" y="1508760"/>
          <a:ext cx="11247120" cy="2148840"/>
        </p:xfrm>
        <a:graphic>
          <a:graphicData uri="http://schemas.openxmlformats.org/drawingml/2006/table">
            <a:tbl>
              <a:tblPr firstRow="1" bandRow="1">
                <a:tableStyleId>{5C22544A-7EE6-4342-B048-85BDC9FD1C3A}</a:tableStyleId>
              </a:tblPr>
              <a:tblGrid>
                <a:gridCol w="2811780">
                  <a:extLst>
                    <a:ext uri="{9D8B030D-6E8A-4147-A177-3AD203B41FA5}">
                      <a16:colId xmlns:a16="http://schemas.microsoft.com/office/drawing/2014/main" val="20000"/>
                    </a:ext>
                  </a:extLst>
                </a:gridCol>
                <a:gridCol w="2811780">
                  <a:extLst>
                    <a:ext uri="{9D8B030D-6E8A-4147-A177-3AD203B41FA5}">
                      <a16:colId xmlns:a16="http://schemas.microsoft.com/office/drawing/2014/main" val="20001"/>
                    </a:ext>
                  </a:extLst>
                </a:gridCol>
                <a:gridCol w="2811780">
                  <a:extLst>
                    <a:ext uri="{9D8B030D-6E8A-4147-A177-3AD203B41FA5}">
                      <a16:colId xmlns:a16="http://schemas.microsoft.com/office/drawing/2014/main" val="20002"/>
                    </a:ext>
                  </a:extLst>
                </a:gridCol>
                <a:gridCol w="2811780">
                  <a:extLst>
                    <a:ext uri="{9D8B030D-6E8A-4147-A177-3AD203B41FA5}">
                      <a16:colId xmlns:a16="http://schemas.microsoft.com/office/drawing/2014/main" val="20003"/>
                    </a:ext>
                  </a:extLst>
                </a:gridCol>
              </a:tblGrid>
              <a:tr h="429768">
                <a:tc>
                  <a:txBody>
                    <a:bodyPr/>
                    <a:lstStyle/>
                    <a:p>
                      <a:r>
                        <a:rPr sz="1300" b="1">
                          <a:solidFill>
                            <a:srgbClr val="FFFFFF"/>
                          </a:solidFill>
                          <a:latin typeface="Segoe UI"/>
                        </a:rPr>
                        <a:t>Author, year</a:t>
                      </a:r>
                    </a:p>
                  </a:txBody>
                  <a:tcPr marL="54864" marR="54864" marT="36576">
                    <a:solidFill>
                      <a:srgbClr val="12263A"/>
                    </a:solidFill>
                  </a:tcPr>
                </a:tc>
                <a:tc>
                  <a:txBody>
                    <a:bodyPr/>
                    <a:lstStyle/>
                    <a:p>
                      <a:r>
                        <a:rPr sz="1300" b="1">
                          <a:solidFill>
                            <a:srgbClr val="FFFFFF"/>
                          </a:solidFill>
                          <a:latin typeface="Segoe UI"/>
                        </a:rPr>
                        <a:t>Method</a:t>
                      </a:r>
                    </a:p>
                  </a:txBody>
                  <a:tcPr marL="54864" marR="54864" marT="36576">
                    <a:solidFill>
                      <a:srgbClr val="12263A"/>
                    </a:solidFill>
                  </a:tcPr>
                </a:tc>
                <a:tc>
                  <a:txBody>
                    <a:bodyPr/>
                    <a:lstStyle/>
                    <a:p>
                      <a:r>
                        <a:rPr sz="1300" b="1">
                          <a:solidFill>
                            <a:srgbClr val="FFFFFF"/>
                          </a:solidFill>
                          <a:latin typeface="Segoe UI"/>
                        </a:rPr>
                        <a:t>Testbed</a:t>
                      </a:r>
                    </a:p>
                  </a:txBody>
                  <a:tcPr marL="54864" marR="54864" marT="36576">
                    <a:solidFill>
                      <a:srgbClr val="12263A"/>
                    </a:solidFill>
                  </a:tcPr>
                </a:tc>
                <a:tc>
                  <a:txBody>
                    <a:bodyPr/>
                    <a:lstStyle/>
                    <a:p>
                      <a:r>
                        <a:rPr sz="1300" b="1">
                          <a:solidFill>
                            <a:srgbClr val="FFFFFF"/>
                          </a:solidFill>
                          <a:latin typeface="Segoe UI"/>
                        </a:rPr>
                        <a:t>Limitation</a:t>
                      </a:r>
                    </a:p>
                  </a:txBody>
                  <a:tcPr marL="54864" marR="54864" marT="36576">
                    <a:solidFill>
                      <a:srgbClr val="12263A"/>
                    </a:solidFill>
                  </a:tcPr>
                </a:tc>
                <a:extLst>
                  <a:ext uri="{0D108BD9-81ED-4DB2-BD59-A6C34878D82A}">
                    <a16:rowId xmlns:a16="http://schemas.microsoft.com/office/drawing/2014/main" val="10000"/>
                  </a:ext>
                </a:extLst>
              </a:tr>
              <a:tr h="429768">
                <a:tc>
                  <a:txBody>
                    <a:bodyPr/>
                    <a:lstStyle/>
                    <a:p>
                      <a:r>
                        <a:rPr sz="1300" b="0">
                          <a:solidFill>
                            <a:srgbClr val="1C1917"/>
                          </a:solidFill>
                          <a:latin typeface="Segoe UI"/>
                        </a:rPr>
                        <a:t>Diedenhofen and Musch, 2016</a:t>
                      </a:r>
                    </a:p>
                  </a:txBody>
                  <a:tcPr marL="54864" marR="54864" marT="36576">
                    <a:solidFill>
                      <a:srgbClr val="FFFCF7"/>
                    </a:solidFill>
                  </a:tcPr>
                </a:tc>
                <a:tc>
                  <a:txBody>
                    <a:bodyPr/>
                    <a:lstStyle/>
                    <a:p>
                      <a:r>
                        <a:rPr sz="1300" b="0">
                          <a:solidFill>
                            <a:srgbClr val="1C1917"/>
                          </a:solidFill>
                          <a:latin typeface="Segoe UI"/>
                        </a:rPr>
                        <a:t>Page-focus script</a:t>
                      </a:r>
                    </a:p>
                  </a:txBody>
                  <a:tcPr marL="54864" marR="54864" marT="36576">
                    <a:solidFill>
                      <a:srgbClr val="FFFCF7"/>
                    </a:solidFill>
                  </a:tcPr>
                </a:tc>
                <a:tc>
                  <a:txBody>
                    <a:bodyPr/>
                    <a:lstStyle/>
                    <a:p>
                      <a:r>
                        <a:rPr sz="1300" b="0">
                          <a:solidFill>
                            <a:srgbClr val="1C1917"/>
                          </a:solidFill>
                          <a:latin typeface="Segoe UI"/>
                        </a:rPr>
                        <a:t>Lab and online samples</a:t>
                      </a:r>
                    </a:p>
                  </a:txBody>
                  <a:tcPr marL="54864" marR="54864" marT="36576">
                    <a:solidFill>
                      <a:srgbClr val="FFFCF7"/>
                    </a:solidFill>
                  </a:tcPr>
                </a:tc>
                <a:tc>
                  <a:txBody>
                    <a:bodyPr/>
                    <a:lstStyle/>
                    <a:p>
                      <a:r>
                        <a:rPr sz="1300" b="0">
                          <a:solidFill>
                            <a:srgbClr val="1C1917"/>
                          </a:solidFill>
                          <a:latin typeface="Segoe UI"/>
                        </a:rPr>
                        <a:t>Knows you left, not where you went</a:t>
                      </a:r>
                    </a:p>
                  </a:txBody>
                  <a:tcPr marL="54864" marR="54864" marT="36576">
                    <a:solidFill>
                      <a:srgbClr val="FFFCF7"/>
                    </a:solidFill>
                  </a:tcPr>
                </a:tc>
                <a:extLst>
                  <a:ext uri="{0D108BD9-81ED-4DB2-BD59-A6C34878D82A}">
                    <a16:rowId xmlns:a16="http://schemas.microsoft.com/office/drawing/2014/main" val="10001"/>
                  </a:ext>
                </a:extLst>
              </a:tr>
              <a:tr h="429768">
                <a:tc>
                  <a:txBody>
                    <a:bodyPr/>
                    <a:lstStyle/>
                    <a:p>
                      <a:r>
                        <a:rPr sz="1300" b="0">
                          <a:solidFill>
                            <a:srgbClr val="1C1917"/>
                          </a:solidFill>
                          <a:latin typeface="Segoe UI"/>
                        </a:rPr>
                        <a:t>Özseven and Esin Özseven, 2026</a:t>
                      </a:r>
                    </a:p>
                  </a:txBody>
                  <a:tcPr marL="54864" marR="54864" marT="36576">
                    <a:solidFill>
                      <a:srgbClr val="F4F0E6"/>
                    </a:solidFill>
                  </a:tcPr>
                </a:tc>
                <a:tc>
                  <a:txBody>
                    <a:bodyPr/>
                    <a:lstStyle/>
                    <a:p>
                      <a:r>
                        <a:rPr sz="1300" b="0">
                          <a:solidFill>
                            <a:srgbClr val="1C1917"/>
                          </a:solidFill>
                          <a:latin typeface="Segoe UI"/>
                        </a:rPr>
                        <a:t>Explainable detector</a:t>
                      </a:r>
                    </a:p>
                  </a:txBody>
                  <a:tcPr marL="54864" marR="54864" marT="36576">
                    <a:solidFill>
                      <a:srgbClr val="F4F0E6"/>
                    </a:solidFill>
                  </a:tcPr>
                </a:tc>
                <a:tc>
                  <a:txBody>
                    <a:bodyPr/>
                    <a:lstStyle/>
                    <a:p>
                      <a:r>
                        <a:rPr sz="1300" b="0">
                          <a:solidFill>
                            <a:srgbClr val="1C1917"/>
                          </a:solidFill>
                          <a:latin typeface="Segoe UI"/>
                        </a:rPr>
                        <a:t>Gaze, head, hands</a:t>
                      </a:r>
                    </a:p>
                  </a:txBody>
                  <a:tcPr marL="54864" marR="54864" marT="36576">
                    <a:solidFill>
                      <a:srgbClr val="F4F0E6"/>
                    </a:solidFill>
                  </a:tcPr>
                </a:tc>
                <a:tc>
                  <a:txBody>
                    <a:bodyPr/>
                    <a:lstStyle/>
                    <a:p>
                      <a:r>
                        <a:rPr sz="1300" b="0">
                          <a:solidFill>
                            <a:srgbClr val="1C1917"/>
                          </a:solidFill>
                          <a:latin typeface="Segoe UI"/>
                        </a:rPr>
                        <a:t>Still a camera</a:t>
                      </a:r>
                    </a:p>
                  </a:txBody>
                  <a:tcPr marL="54864" marR="54864" marT="36576">
                    <a:solidFill>
                      <a:srgbClr val="F4F0E6"/>
                    </a:solidFill>
                  </a:tcPr>
                </a:tc>
                <a:extLst>
                  <a:ext uri="{0D108BD9-81ED-4DB2-BD59-A6C34878D82A}">
                    <a16:rowId xmlns:a16="http://schemas.microsoft.com/office/drawing/2014/main" val="10002"/>
                  </a:ext>
                </a:extLst>
              </a:tr>
              <a:tr h="429768">
                <a:tc>
                  <a:txBody>
                    <a:bodyPr/>
                    <a:lstStyle/>
                    <a:p>
                      <a:r>
                        <a:rPr sz="1300" b="0">
                          <a:solidFill>
                            <a:srgbClr val="1C1917"/>
                          </a:solidFill>
                          <a:latin typeface="Segoe UI"/>
                        </a:rPr>
                        <a:t>Kharbat and Abu Daabes, 2021</a:t>
                      </a:r>
                    </a:p>
                  </a:txBody>
                  <a:tcPr marL="54864" marR="54864" marT="36576">
                    <a:solidFill>
                      <a:srgbClr val="FFFCF7"/>
                    </a:solidFill>
                  </a:tcPr>
                </a:tc>
                <a:tc>
                  <a:txBody>
                    <a:bodyPr/>
                    <a:lstStyle/>
                    <a:p>
                      <a:r>
                        <a:rPr sz="1300" b="0">
                          <a:solidFill>
                            <a:srgbClr val="1C1917"/>
                          </a:solidFill>
                          <a:latin typeface="Segoe UI"/>
                        </a:rPr>
                        <a:t>Student study</a:t>
                      </a:r>
                    </a:p>
                  </a:txBody>
                  <a:tcPr marL="54864" marR="54864" marT="36576">
                    <a:solidFill>
                      <a:srgbClr val="FFFCF7"/>
                    </a:solidFill>
                  </a:tcPr>
                </a:tc>
                <a:tc>
                  <a:txBody>
                    <a:bodyPr/>
                    <a:lstStyle/>
                    <a:p>
                      <a:r>
                        <a:rPr sz="1300" b="0">
                          <a:solidFill>
                            <a:srgbClr val="1C1917"/>
                          </a:solidFill>
                          <a:latin typeface="Segoe UI"/>
                        </a:rPr>
                        <a:t>About 100 students</a:t>
                      </a:r>
                    </a:p>
                  </a:txBody>
                  <a:tcPr marL="54864" marR="54864" marT="36576">
                    <a:solidFill>
                      <a:srgbClr val="FFFCF7"/>
                    </a:solidFill>
                  </a:tcPr>
                </a:tc>
                <a:tc>
                  <a:txBody>
                    <a:bodyPr/>
                    <a:lstStyle/>
                    <a:p>
                      <a:r>
                        <a:rPr sz="1300" b="0">
                          <a:solidFill>
                            <a:srgbClr val="1C1917"/>
                          </a:solidFill>
                          <a:latin typeface="Segoe UI"/>
                        </a:rPr>
                        <a:t>Webcam called a privacy breach</a:t>
                      </a:r>
                    </a:p>
                  </a:txBody>
                  <a:tcPr marL="54864" marR="54864" marT="36576">
                    <a:solidFill>
                      <a:srgbClr val="FFFCF7"/>
                    </a:solidFill>
                  </a:tcPr>
                </a:tc>
                <a:extLst>
                  <a:ext uri="{0D108BD9-81ED-4DB2-BD59-A6C34878D82A}">
                    <a16:rowId xmlns:a16="http://schemas.microsoft.com/office/drawing/2014/main" val="10003"/>
                  </a:ext>
                </a:extLst>
              </a:tr>
              <a:tr h="429768">
                <a:tc>
                  <a:txBody>
                    <a:bodyPr/>
                    <a:lstStyle/>
                    <a:p>
                      <a:r>
                        <a:rPr sz="1300" b="0">
                          <a:solidFill>
                            <a:srgbClr val="1C1917"/>
                          </a:solidFill>
                          <a:latin typeface="Segoe UI"/>
                        </a:rPr>
                        <a:t>Scarfe et al., 2024</a:t>
                      </a:r>
                    </a:p>
                  </a:txBody>
                  <a:tcPr marL="54864" marR="54864" marT="36576">
                    <a:solidFill>
                      <a:srgbClr val="F4F0E6"/>
                    </a:solidFill>
                  </a:tcPr>
                </a:tc>
                <a:tc>
                  <a:txBody>
                    <a:bodyPr/>
                    <a:lstStyle/>
                    <a:p>
                      <a:r>
                        <a:rPr sz="1300" b="0">
                          <a:solidFill>
                            <a:srgbClr val="1C1917"/>
                          </a:solidFill>
                          <a:latin typeface="Segoe UI"/>
                        </a:rPr>
                        <a:t>AI scripts in real exams</a:t>
                      </a:r>
                    </a:p>
                  </a:txBody>
                  <a:tcPr marL="54864" marR="54864" marT="36576">
                    <a:solidFill>
                      <a:srgbClr val="F4F0E6"/>
                    </a:solidFill>
                  </a:tcPr>
                </a:tc>
                <a:tc>
                  <a:txBody>
                    <a:bodyPr/>
                    <a:lstStyle/>
                    <a:p>
                      <a:r>
                        <a:rPr sz="1300" b="0">
                          <a:solidFill>
                            <a:srgbClr val="1C1917"/>
                          </a:solidFill>
                          <a:latin typeface="Segoe UI"/>
                        </a:rPr>
                        <a:t>Psychology modules</a:t>
                      </a:r>
                    </a:p>
                  </a:txBody>
                  <a:tcPr marL="54864" marR="54864" marT="36576">
                    <a:solidFill>
                      <a:srgbClr val="F4F0E6"/>
                    </a:solidFill>
                  </a:tcPr>
                </a:tc>
                <a:tc>
                  <a:txBody>
                    <a:bodyPr/>
                    <a:lstStyle/>
                    <a:p>
                      <a:r>
                        <a:rPr sz="1300" b="0">
                          <a:solidFill>
                            <a:srgbClr val="1C1917"/>
                          </a:solidFill>
                          <a:latin typeface="Segoe UI"/>
                        </a:rPr>
                        <a:t>94% undetected</a:t>
                      </a:r>
                    </a:p>
                  </a:txBody>
                  <a:tcPr marL="54864" marR="54864" marT="36576">
                    <a:solidFill>
                      <a:srgbClr val="F4F0E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9</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What they collect</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What the dominant systems collect</a:t>
            </a:r>
          </a:p>
        </p:txBody>
      </p:sp>
      <p:sp>
        <p:nvSpPr>
          <p:cNvPr id="9" name="TextBox 8"/>
          <p:cNvSpPr txBox="1"/>
          <p:nvPr/>
        </p:nvSpPr>
        <p:spPr>
          <a:xfrm>
            <a:off x="502920" y="1170432"/>
            <a:ext cx="11155680" cy="3840480"/>
          </a:xfrm>
          <a:prstGeom prst="rect">
            <a:avLst/>
          </a:prstGeom>
          <a:noFill/>
        </p:spPr>
        <p:txBody>
          <a:bodyPr wrap="square">
            <a:spAutoFit/>
          </a:bodyPr>
          <a:lstStyle/>
          <a:p>
            <a:pPr algn="l">
              <a:spcAft>
                <a:spcPts val="800"/>
              </a:spcAft>
            </a:pPr>
            <a:r>
              <a:rPr sz="1800" b="0">
                <a:solidFill>
                  <a:srgbClr val="1C1917"/>
                </a:solidFill>
                <a:latin typeface="Segoe UI"/>
              </a:rPr>
              <a:t>Heinrich (2025) reviewed 33 commercial systems. Image, video, and audio dominate. A flag often has no published rule.</a:t>
            </a:r>
          </a:p>
          <a:p>
            <a:pPr algn="l">
              <a:spcAft>
                <a:spcPts val="800"/>
              </a:spcAft>
            </a:pPr>
            <a:r>
              <a:rPr sz="1800" b="0">
                <a:solidFill>
                  <a:srgbClr val="1C1917"/>
                </a:solidFill>
                <a:latin typeface="Segoe UI"/>
              </a:rPr>
              <a:t>Burgess, Ginsberg, Felten and Cohney (2022) broke four suites. Process allow-lists fail when the program is renamed.</a:t>
            </a:r>
          </a:p>
          <a:p>
            <a:pPr algn="l">
              <a:spcAft>
                <a:spcPts val="800"/>
              </a:spcAft>
            </a:pPr>
            <a:r>
              <a:rPr sz="1800" b="0">
                <a:solidFill>
                  <a:srgbClr val="1C1917"/>
                </a:solidFill>
                <a:latin typeface="Segoe UI"/>
              </a:rPr>
              <a:t>Room scans and a second camera sit on the same biometric line (Atoum et al., 2017).</a:t>
            </a:r>
          </a:p>
          <a:p>
            <a:pPr algn="l">
              <a:spcAft>
                <a:spcPts val="800"/>
              </a:spcAft>
            </a:pPr>
            <a:r>
              <a:rPr sz="1800" b="0">
                <a:solidFill>
                  <a:srgbClr val="1C1917"/>
                </a:solidFill>
                <a:latin typeface="Segoe UI"/>
              </a:rPr>
              <a:t>Mohammed and Ali (2022) show Safe Exam Browser reduces local access and can still be bypassed.</a:t>
            </a:r>
          </a:p>
          <a:p>
            <a:pPr algn="l">
              <a:spcAft>
                <a:spcPts val="800"/>
              </a:spcAft>
            </a:pPr>
            <a:r>
              <a:rPr sz="1800" b="0">
                <a:solidFill>
                  <a:srgbClr val="1C1917"/>
                </a:solidFill>
                <a:latin typeface="Segoe UI"/>
              </a:rPr>
              <a:t>Our payload is the event plus an executable name. No title, no URL, no image.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10</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Gaps</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Five gaps</a:t>
            </a:r>
          </a:p>
        </p:txBody>
      </p:sp>
      <p:sp>
        <p:nvSpPr>
          <p:cNvPr id="9" name="TextBox 8"/>
          <p:cNvSpPr txBox="1"/>
          <p:nvPr/>
        </p:nvSpPr>
        <p:spPr>
          <a:xfrm>
            <a:off x="502920" y="1170432"/>
            <a:ext cx="11155680" cy="4754880"/>
          </a:xfrm>
          <a:prstGeom prst="rect">
            <a:avLst/>
          </a:prstGeom>
          <a:noFill/>
        </p:spPr>
        <p:txBody>
          <a:bodyPr wrap="square">
            <a:spAutoFit/>
          </a:bodyPr>
          <a:lstStyle/>
          <a:p>
            <a:pPr>
              <a:spcAft>
                <a:spcPts val="800"/>
              </a:spcAft>
            </a:pPr>
            <a:r>
              <a:rPr sz="1600" b="0">
                <a:solidFill>
                  <a:srgbClr val="1C1917"/>
                </a:solidFill>
                <a:latin typeface="Segoe UI"/>
              </a:rPr>
              <a:t>1    Biometric monitoring is the default, and students treat the webcam as a breach.  Coghlan, Miller and Paterson, 2021; Kharbat and Abu Daabes, 2021; Mutimukwe et al., 2025.</a:t>
            </a:r>
          </a:p>
          <a:p>
            <a:pPr>
              <a:spcAft>
                <a:spcPts val="800"/>
              </a:spcAft>
            </a:pPr>
            <a:r>
              <a:rPr sz="1600" b="0">
                <a:solidFill>
                  <a:srgbClr val="1C1917"/>
                </a:solidFill>
                <a:latin typeface="Segoe UI"/>
              </a:rPr>
              <a:t>2    Browser focus detects leaving the page, not the other app or a chatbot.  Diedenhofen and Musch, 2016; Ibrahim et al., 2023; Scarfe et al., 2024.</a:t>
            </a:r>
          </a:p>
          <a:p>
            <a:pPr>
              <a:spcAft>
                <a:spcPts val="800"/>
              </a:spcAft>
            </a:pPr>
            <a:r>
              <a:rPr sz="1600" b="0">
                <a:solidFill>
                  <a:srgbClr val="1C1917"/>
                </a:solidFill>
                <a:latin typeface="Segoe UI"/>
              </a:rPr>
              <a:t>3    Commercial flags are opaque. New explainable detectors still depend on gaze and pose.  Heinrich, 2025; Özseven and Esin Özseven, 2026.</a:t>
            </a:r>
          </a:p>
          <a:p>
            <a:pPr>
              <a:spcAft>
                <a:spcPts val="800"/>
              </a:spcAft>
            </a:pPr>
            <a:r>
              <a:rPr sz="1600" b="0">
                <a:solidFill>
                  <a:srgbClr val="1C1917"/>
                </a:solidFill>
                <a:latin typeface="Segoe UI"/>
              </a:rPr>
              <a:t>4    Lockdown browsers are privileged and bypassable.  Burgess, Ginsberg, Felten and Cohney, 2022; Mohammed and Ali, 2022.</a:t>
            </a:r>
          </a:p>
          <a:p>
            <a:pPr>
              <a:spcAft>
                <a:spcPts val="800"/>
              </a:spcAft>
            </a:pPr>
            <a:r>
              <a:rPr sz="1600" b="0">
                <a:solidFill>
                  <a:srgbClr val="1C1917"/>
                </a:solidFill>
                <a:latin typeface="Segoe UI"/>
              </a:rPr>
              <a:t>5    Proctoring’s effect on cheating is not settled, so an automatic fail is not justified.  Newton and Essex, 2024.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11</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The system</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What the website and the agent fill</a:t>
            </a:r>
          </a:p>
        </p:txBody>
      </p:sp>
      <p:sp>
        <p:nvSpPr>
          <p:cNvPr id="9" name="Rectangle 8"/>
          <p:cNvSpPr/>
          <p:nvPr/>
        </p:nvSpPr>
        <p:spPr>
          <a:xfrm>
            <a:off x="502920" y="1170432"/>
            <a:ext cx="3611880" cy="169164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1170432"/>
            <a:ext cx="3611880" cy="54864"/>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 y="1298448"/>
            <a:ext cx="3291840" cy="329184"/>
          </a:xfrm>
          <a:prstGeom prst="rect">
            <a:avLst/>
          </a:prstGeom>
          <a:noFill/>
        </p:spPr>
        <p:txBody>
          <a:bodyPr wrap="square"/>
          <a:lstStyle/>
          <a:p>
            <a:pPr algn="l"/>
            <a:r>
              <a:rPr sz="2000" b="1">
                <a:solidFill>
                  <a:srgbClr val="12263A"/>
                </a:solidFill>
                <a:latin typeface="Palatino Linotype"/>
              </a:rPr>
              <a:t>Browser</a:t>
            </a:r>
          </a:p>
        </p:txBody>
      </p:sp>
      <p:sp>
        <p:nvSpPr>
          <p:cNvPr id="12" name="TextBox 11"/>
          <p:cNvSpPr txBox="1"/>
          <p:nvPr/>
        </p:nvSpPr>
        <p:spPr>
          <a:xfrm>
            <a:off x="649224" y="1664208"/>
            <a:ext cx="3291840" cy="1051560"/>
          </a:xfrm>
          <a:prstGeom prst="rect">
            <a:avLst/>
          </a:prstGeom>
          <a:noFill/>
        </p:spPr>
        <p:txBody>
          <a:bodyPr wrap="square"/>
          <a:lstStyle/>
          <a:p>
            <a:pPr algn="l"/>
            <a:r>
              <a:rPr sz="1400" b="0">
                <a:solidFill>
                  <a:srgbClr val="1C1917"/>
                </a:solidFill>
                <a:latin typeface="Segoe UI"/>
              </a:rPr>
              <a:t>The student sits the exam. The page reports focus, fullscreen, clipboard, and a DevTools heuristic.</a:t>
            </a:r>
          </a:p>
        </p:txBody>
      </p:sp>
      <p:sp>
        <p:nvSpPr>
          <p:cNvPr id="13" name="Rectangle 12"/>
          <p:cNvSpPr/>
          <p:nvPr/>
        </p:nvSpPr>
        <p:spPr>
          <a:xfrm>
            <a:off x="4297680" y="1170432"/>
            <a:ext cx="3611880" cy="169164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297680" y="1170432"/>
            <a:ext cx="3611880" cy="54864"/>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43984" y="1298448"/>
            <a:ext cx="3291840" cy="329184"/>
          </a:xfrm>
          <a:prstGeom prst="rect">
            <a:avLst/>
          </a:prstGeom>
          <a:noFill/>
        </p:spPr>
        <p:txBody>
          <a:bodyPr wrap="square"/>
          <a:lstStyle/>
          <a:p>
            <a:pPr algn="l"/>
            <a:r>
              <a:rPr sz="2000" b="1">
                <a:solidFill>
                  <a:srgbClr val="12263A"/>
                </a:solidFill>
                <a:latin typeface="Palatino Linotype"/>
              </a:rPr>
              <a:t>Server</a:t>
            </a:r>
          </a:p>
        </p:txBody>
      </p:sp>
      <p:sp>
        <p:nvSpPr>
          <p:cNvPr id="16" name="TextBox 15"/>
          <p:cNvSpPr txBox="1"/>
          <p:nvPr/>
        </p:nvSpPr>
        <p:spPr>
          <a:xfrm>
            <a:off x="4443984" y="1664208"/>
            <a:ext cx="3291840" cy="1051560"/>
          </a:xfrm>
          <a:prstGeom prst="rect">
            <a:avLst/>
          </a:prstGeom>
          <a:noFill/>
        </p:spPr>
        <p:txBody>
          <a:bodyPr wrap="square"/>
          <a:lstStyle/>
          <a:p>
            <a:pPr algn="l"/>
            <a:r>
              <a:rPr sz="1400" b="0">
                <a:solidFill>
                  <a:srgbClr val="1C1917"/>
                </a:solidFill>
                <a:latin typeface="Segoe UI"/>
              </a:rPr>
              <a:t>One server holds the exam, the attempt, the events, the review, and the PDF or CSV.</a:t>
            </a:r>
          </a:p>
        </p:txBody>
      </p:sp>
      <p:sp>
        <p:nvSpPr>
          <p:cNvPr id="17" name="Rectangle 16"/>
          <p:cNvSpPr/>
          <p:nvPr/>
        </p:nvSpPr>
        <p:spPr>
          <a:xfrm>
            <a:off x="8092440" y="1170432"/>
            <a:ext cx="3611880" cy="169164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92440" y="1170432"/>
            <a:ext cx="3611880" cy="54864"/>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38744" y="1298448"/>
            <a:ext cx="3291840" cy="329184"/>
          </a:xfrm>
          <a:prstGeom prst="rect">
            <a:avLst/>
          </a:prstGeom>
          <a:noFill/>
        </p:spPr>
        <p:txBody>
          <a:bodyPr wrap="square"/>
          <a:lstStyle/>
          <a:p>
            <a:pPr algn="l"/>
            <a:r>
              <a:rPr sz="2000" b="1">
                <a:solidFill>
                  <a:srgbClr val="12263A"/>
                </a:solidFill>
                <a:latin typeface="Palatino Linotype"/>
              </a:rPr>
              <a:t>Agent</a:t>
            </a:r>
          </a:p>
        </p:txBody>
      </p:sp>
      <p:sp>
        <p:nvSpPr>
          <p:cNvPr id="20" name="TextBox 19"/>
          <p:cNvSpPr txBox="1"/>
          <p:nvPr/>
        </p:nvSpPr>
        <p:spPr>
          <a:xfrm>
            <a:off x="8238744" y="1664208"/>
            <a:ext cx="3291840" cy="1051560"/>
          </a:xfrm>
          <a:prstGeom prst="rect">
            <a:avLst/>
          </a:prstGeom>
          <a:noFill/>
        </p:spPr>
        <p:txBody>
          <a:bodyPr wrap="square"/>
          <a:lstStyle/>
          <a:p>
            <a:pPr algn="l"/>
            <a:r>
              <a:rPr sz="1400" b="0">
                <a:solidFill>
                  <a:srgbClr val="1C1917"/>
                </a:solidFill>
                <a:latin typeface="Segoe UI"/>
              </a:rPr>
              <a:t>A visible window. Executable name only. Correlated with a browser event. Policy scores it.</a:t>
            </a:r>
          </a:p>
        </p:txBody>
      </p:sp>
      <p:sp>
        <p:nvSpPr>
          <p:cNvPr id="21" name="TextBox 20"/>
          <p:cNvSpPr txBox="1"/>
          <p:nvPr/>
        </p:nvSpPr>
        <p:spPr>
          <a:xfrm>
            <a:off x="502920" y="3063240"/>
            <a:ext cx="11155680" cy="1234440"/>
          </a:xfrm>
          <a:prstGeom prst="rect">
            <a:avLst/>
          </a:prstGeom>
          <a:noFill/>
        </p:spPr>
        <p:txBody>
          <a:bodyPr wrap="square"/>
          <a:lstStyle/>
          <a:p>
            <a:pPr algn="l"/>
            <a:r>
              <a:rPr sz="1600" b="0">
                <a:solidFill>
                  <a:srgbClr val="1C1917"/>
                </a:solidFill>
                <a:latin typeface="Segoe UI"/>
              </a:rPr>
              <a:t>The reviewer still chooses Flagged or Cleared.
The score is evidence for that person. It is not a verdict.
Faculty and students are not stuck on one browser: two student devices and one faculty device share the published exam.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12</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Objectives</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Four objectives</a:t>
            </a:r>
          </a:p>
        </p:txBody>
      </p:sp>
      <p:sp>
        <p:nvSpPr>
          <p:cNvPr id="9" name="TextBox 8"/>
          <p:cNvSpPr txBox="1"/>
          <p:nvPr/>
        </p:nvSpPr>
        <p:spPr>
          <a:xfrm>
            <a:off x="502920" y="1097280"/>
            <a:ext cx="10972800" cy="274320"/>
          </a:xfrm>
          <a:prstGeom prst="rect">
            <a:avLst/>
          </a:prstGeom>
          <a:noFill/>
        </p:spPr>
        <p:txBody>
          <a:bodyPr wrap="square"/>
          <a:lstStyle/>
          <a:p>
            <a:pPr algn="l"/>
            <a:r>
              <a:rPr sz="1500" b="1">
                <a:solidFill>
                  <a:srgbClr val="0F6E6B"/>
                </a:solidFill>
                <a:latin typeface="Segoe UI"/>
              </a:rPr>
              <a:t>Outcomes we will measure. Not a list of activities.</a:t>
            </a:r>
          </a:p>
        </p:txBody>
      </p:sp>
      <p:sp>
        <p:nvSpPr>
          <p:cNvPr id="10" name="TextBox 9"/>
          <p:cNvSpPr txBox="1"/>
          <p:nvPr/>
        </p:nvSpPr>
        <p:spPr>
          <a:xfrm>
            <a:off x="502920" y="1463040"/>
            <a:ext cx="11155680" cy="4206240"/>
          </a:xfrm>
          <a:prstGeom prst="rect">
            <a:avLst/>
          </a:prstGeom>
          <a:noFill/>
        </p:spPr>
        <p:txBody>
          <a:bodyPr wrap="square">
            <a:spAutoFit/>
          </a:bodyPr>
          <a:lstStyle/>
          <a:p>
            <a:pPr>
              <a:spcAft>
                <a:spcPts val="800"/>
              </a:spcAft>
            </a:pPr>
            <a:r>
              <a:rPr sz="1600" b="0">
                <a:solidFill>
                  <a:srgbClr val="1C1917"/>
                </a:solidFill>
                <a:latin typeface="Segoe UI"/>
              </a:rPr>
              <a:t>1    On a scripted testbed of at least 10 honest and cheating actions, the browser monitor records the matching event in at least 90 percent of trials.</a:t>
            </a:r>
          </a:p>
          <a:p>
            <a:pPr>
              <a:spcAft>
                <a:spcPts val="800"/>
              </a:spcAft>
            </a:pPr>
            <a:r>
              <a:rPr sz="1600" b="0">
                <a:solidFill>
                  <a:srgbClr val="1C1917"/>
                </a:solidFill>
                <a:latin typeface="Segoe UI"/>
              </a:rPr>
              <a:t>2    The same event log always yields the same Low, Medium, or High score, and the same written breakdown, under a published rule version.</a:t>
            </a:r>
          </a:p>
          <a:p>
            <a:pPr>
              <a:spcAft>
                <a:spcPts val="800"/>
              </a:spcAft>
            </a:pPr>
            <a:r>
              <a:rPr sz="1600" b="0">
                <a:solidFill>
                  <a:srgbClr val="1C1917"/>
                </a:solidFill>
                <a:latin typeface="Segoe UI"/>
              </a:rPr>
              <a:t>3    With the agent connected, “exam hidden while a named prohibited app is in front” scores higher than the browser-only case. The payload has no title, URL, keystroke, or image.</a:t>
            </a:r>
          </a:p>
          <a:p>
            <a:pPr>
              <a:spcAft>
                <a:spcPts val="800"/>
              </a:spcAft>
            </a:pPr>
            <a:r>
              <a:rPr sz="1600" b="0">
                <a:solidFill>
                  <a:srgbClr val="1C1917"/>
                </a:solidFill>
                <a:latin typeface="Segoe UI"/>
              </a:rPr>
              <a:t>4    Two student devices and one faculty device share one published exam. A high-risk session can be flagged or cleared and exported, and the file matches the on-screen score.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13</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Measurement</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How you will measure it</a:t>
            </a:r>
          </a:p>
        </p:txBody>
      </p:sp>
      <p:sp>
        <p:nvSpPr>
          <p:cNvPr id="9" name="TextBox 8"/>
          <p:cNvSpPr txBox="1"/>
          <p:nvPr/>
        </p:nvSpPr>
        <p:spPr>
          <a:xfrm>
            <a:off x="502920" y="1170432"/>
            <a:ext cx="11155680" cy="3108960"/>
          </a:xfrm>
          <a:prstGeom prst="rect">
            <a:avLst/>
          </a:prstGeom>
          <a:noFill/>
        </p:spPr>
        <p:txBody>
          <a:bodyPr wrap="square">
            <a:spAutoFit/>
          </a:bodyPr>
          <a:lstStyle/>
          <a:p>
            <a:pPr algn="l">
              <a:spcAft>
                <a:spcPts val="800"/>
              </a:spcAft>
            </a:pPr>
            <a:r>
              <a:rPr sz="1800" b="0">
                <a:solidFill>
                  <a:srgbClr val="1C1917"/>
                </a:solidFill>
                <a:latin typeface="Segoe UI"/>
              </a:rPr>
              <a:t>A lab script, not a secret recording of classmates.</a:t>
            </a:r>
          </a:p>
          <a:p>
            <a:pPr algn="l">
              <a:spcAft>
                <a:spcPts val="800"/>
              </a:spcAft>
            </a:pPr>
            <a:r>
              <a:rPr sz="1800" b="0">
                <a:solidFill>
                  <a:srgbClr val="1C1917"/>
                </a:solidFill>
                <a:latin typeface="Segoe UI"/>
              </a:rPr>
              <a:t>Detection rate: matching event present, over the scripted trials.</a:t>
            </a:r>
          </a:p>
          <a:p>
            <a:pPr algn="l">
              <a:spcAft>
                <a:spcPts val="800"/>
              </a:spcAft>
            </a:pPr>
            <a:r>
              <a:rPr sz="1800" b="0">
                <a:solidFill>
                  <a:srgbClr val="1C1917"/>
                </a:solidFill>
                <a:latin typeface="Segoe UI"/>
              </a:rPr>
              <a:t>False flags on honest actions: a paste inside the exam, a brief blur.</a:t>
            </a:r>
          </a:p>
          <a:p>
            <a:pPr algn="l">
              <a:spcAft>
                <a:spcPts val="800"/>
              </a:spcAft>
            </a:pPr>
            <a:r>
              <a:rPr sz="1800" b="0">
                <a:solidFill>
                  <a:srgbClr val="1C1917"/>
                </a:solidFill>
                <a:latin typeface="Segoe UI"/>
              </a:rPr>
              <a:t>A second person reproduces the score from the log and the published rule version.</a:t>
            </a:r>
          </a:p>
          <a:p>
            <a:pPr algn="l">
              <a:spcAft>
                <a:spcPts val="800"/>
              </a:spcAft>
            </a:pPr>
            <a:r>
              <a:rPr sz="1800" b="0">
                <a:solidFill>
                  <a:srgbClr val="1C1917"/>
                </a:solidFill>
                <a:latin typeface="Segoe UI"/>
              </a:rPr>
              <a:t>The export is checked against the score on screen.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965960"/>
            <a:ext cx="10789920" cy="1371600"/>
          </a:xfrm>
          <a:prstGeom prst="rect">
            <a:avLst/>
          </a:prstGeom>
          <a:noFill/>
        </p:spPr>
        <p:txBody>
          <a:bodyPr wrap="square"/>
          <a:lstStyle/>
          <a:p>
            <a:pPr algn="l"/>
            <a:r>
              <a:rPr sz="3600" b="1">
                <a:solidFill>
                  <a:srgbClr val="FFFFFF"/>
                </a:solidFill>
                <a:latin typeface="Palatino Linotype"/>
              </a:rPr>
              <a:t>Evidence for a human,
not a verdict from a camera.</a:t>
            </a:r>
          </a:p>
        </p:txBody>
      </p:sp>
      <p:sp>
        <p:nvSpPr>
          <p:cNvPr id="4" name="Rectangle 3"/>
          <p:cNvSpPr/>
          <p:nvPr/>
        </p:nvSpPr>
        <p:spPr>
          <a:xfrm>
            <a:off x="640080" y="3520440"/>
            <a:ext cx="2011680" cy="1270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3749039"/>
            <a:ext cx="10058400" cy="457200"/>
          </a:xfrm>
          <a:prstGeom prst="rect">
            <a:avLst/>
          </a:prstGeom>
          <a:noFill/>
        </p:spPr>
        <p:txBody>
          <a:bodyPr wrap="square"/>
          <a:lstStyle/>
          <a:p>
            <a:pPr algn="l"/>
            <a:r>
              <a:rPr sz="2400" b="0">
                <a:solidFill>
                  <a:srgbClr val="F4F0E6"/>
                </a:solidFill>
                <a:latin typeface="Segoe UI"/>
              </a:rPr>
              <a:t>Questions.</a:t>
            </a:r>
          </a:p>
        </p:txBody>
      </p:sp>
      <p:sp>
        <p:nvSpPr>
          <p:cNvPr id="6" name="TextBox 5"/>
          <p:cNvSpPr txBox="1"/>
          <p:nvPr/>
        </p:nvSpPr>
        <p:spPr>
          <a:xfrm>
            <a:off x="640080" y="6309360"/>
            <a:ext cx="7315200" cy="274320"/>
          </a:xfrm>
          <a:prstGeom prst="rect">
            <a:avLst/>
          </a:prstGeom>
          <a:noFill/>
        </p:spPr>
        <p:txBody>
          <a:bodyPr wrap="square"/>
          <a:lstStyle/>
          <a:p>
            <a:pPr algn="l"/>
            <a:r>
              <a:rPr sz="1200" b="0">
                <a:solidFill>
                  <a:srgbClr val="B08968"/>
                </a:solidFill>
                <a:latin typeface="Segoe UI"/>
              </a:rPr>
              <a:t>Review I   ·   BACSE291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148840"/>
            <a:ext cx="10058400" cy="640080"/>
          </a:xfrm>
          <a:prstGeom prst="rect">
            <a:avLst/>
          </a:prstGeom>
          <a:noFill/>
        </p:spPr>
        <p:txBody>
          <a:bodyPr wrap="square"/>
          <a:lstStyle/>
          <a:p>
            <a:pPr algn="l"/>
            <a:r>
              <a:rPr sz="4000" b="1">
                <a:solidFill>
                  <a:srgbClr val="FFFFFF"/>
                </a:solidFill>
                <a:latin typeface="Palatino Linotype"/>
              </a:rPr>
              <a:t>Appendix</a:t>
            </a:r>
          </a:p>
        </p:txBody>
      </p:sp>
      <p:sp>
        <p:nvSpPr>
          <p:cNvPr id="4" name="Rectangle 3"/>
          <p:cNvSpPr/>
          <p:nvPr/>
        </p:nvSpPr>
        <p:spPr>
          <a:xfrm>
            <a:off x="640080" y="2926080"/>
            <a:ext cx="1920240" cy="1270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3200400"/>
            <a:ext cx="10058400" cy="1188720"/>
          </a:xfrm>
          <a:prstGeom prst="rect">
            <a:avLst/>
          </a:prstGeom>
          <a:noFill/>
        </p:spPr>
        <p:txBody>
          <a:bodyPr wrap="square"/>
          <a:lstStyle/>
          <a:p>
            <a:pPr algn="l"/>
            <a:r>
              <a:rPr sz="1800" b="0">
                <a:solidFill>
                  <a:srgbClr val="F4F0E6"/>
                </a:solidFill>
                <a:latin typeface="Segoe UI"/>
              </a:rPr>
              <a:t>Six comparison tables.
52 references.  38 from 2021–2026.  14 foundational.
Backup answers at the end.</a:t>
            </a:r>
          </a:p>
        </p:txBody>
      </p:sp>
      <p:sp>
        <p:nvSpPr>
          <p:cNvPr id="6" name="TextBox 5"/>
          <p:cNvSpPr txBox="1"/>
          <p:nvPr/>
        </p:nvSpPr>
        <p:spPr>
          <a:xfrm>
            <a:off x="640080" y="6309360"/>
            <a:ext cx="7315200" cy="274320"/>
          </a:xfrm>
          <a:prstGeom prst="rect">
            <a:avLst/>
          </a:prstGeom>
          <a:noFill/>
        </p:spPr>
        <p:txBody>
          <a:bodyPr wrap="square"/>
          <a:lstStyle/>
          <a:p>
            <a:pPr algn="l"/>
            <a:r>
              <a:rPr sz="1200" b="0">
                <a:solidFill>
                  <a:srgbClr val="B08968"/>
                </a:solidFill>
                <a:latin typeface="Segoe UI"/>
              </a:rPr>
              <a:t>Review I   ·   BACSE291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16</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A1</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A1   Surveys of proctoring  (1/2)</a:t>
            </a:r>
          </a:p>
        </p:txBody>
      </p:sp>
      <p:graphicFrame>
        <p:nvGraphicFramePr>
          <p:cNvPr id="9" name="Table 8"/>
          <p:cNvGraphicFramePr>
            <a:graphicFrameLocks noGrp="1"/>
          </p:cNvGraphicFramePr>
          <p:nvPr/>
        </p:nvGraphicFramePr>
        <p:xfrm>
          <a:off x="365760" y="1115568"/>
          <a:ext cx="11430000" cy="418084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gridCol w="2331720">
                  <a:extLst>
                    <a:ext uri="{9D8B030D-6E8A-4147-A177-3AD203B41FA5}">
                      <a16:colId xmlns:a16="http://schemas.microsoft.com/office/drawing/2014/main" val="20004"/>
                    </a:ext>
                  </a:extLst>
                </a:gridCol>
              </a:tblGrid>
              <a:tr h="455168">
                <a:tc>
                  <a:txBody>
                    <a:bodyPr/>
                    <a:lstStyle/>
                    <a:p>
                      <a:r>
                        <a:rPr sz="1000" b="1">
                          <a:solidFill>
                            <a:srgbClr val="FFFFFF"/>
                          </a:solidFill>
                          <a:latin typeface="Segoe UI"/>
                        </a:rPr>
                        <a:t>Author and year</a:t>
                      </a:r>
                    </a:p>
                  </a:txBody>
                  <a:tcPr marL="54864" marR="54864" marT="36576">
                    <a:solidFill>
                      <a:srgbClr val="12263A"/>
                    </a:solidFill>
                  </a:tcPr>
                </a:tc>
                <a:tc>
                  <a:txBody>
                    <a:bodyPr/>
                    <a:lstStyle/>
                    <a:p>
                      <a:r>
                        <a:rPr sz="1000" b="1">
                          <a:solidFill>
                            <a:srgbClr val="FFFFFF"/>
                          </a:solidFill>
                          <a:latin typeface="Segoe UI"/>
                        </a:rPr>
                        <a:t>Method</a:t>
                      </a:r>
                    </a:p>
                  </a:txBody>
                  <a:tcPr marL="54864" marR="54864" marT="36576">
                    <a:solidFill>
                      <a:srgbClr val="12263A"/>
                    </a:solidFill>
                  </a:tcPr>
                </a:tc>
                <a:tc>
                  <a:txBody>
                    <a:bodyPr/>
                    <a:lstStyle/>
                    <a:p>
                      <a:r>
                        <a:rPr sz="1000" b="1">
                          <a:solidFill>
                            <a:srgbClr val="FFFFFF"/>
                          </a:solidFill>
                          <a:latin typeface="Segoe UI"/>
                        </a:rPr>
                        <a:t>Dataset or testbed</a:t>
                      </a:r>
                    </a:p>
                  </a:txBody>
                  <a:tcPr marL="54864" marR="54864" marT="36576">
                    <a:solidFill>
                      <a:srgbClr val="12263A"/>
                    </a:solidFill>
                  </a:tcPr>
                </a:tc>
                <a:tc>
                  <a:txBody>
                    <a:bodyPr/>
                    <a:lstStyle/>
                    <a:p>
                      <a:r>
                        <a:rPr sz="1000" b="1">
                          <a:solidFill>
                            <a:srgbClr val="FFFFFF"/>
                          </a:solidFill>
                          <a:latin typeface="Segoe UI"/>
                        </a:rPr>
                        <a:t>Key parameters</a:t>
                      </a:r>
                    </a:p>
                  </a:txBody>
                  <a:tcPr marL="54864" marR="54864" marT="36576">
                    <a:solidFill>
                      <a:srgbClr val="12263A"/>
                    </a:solidFill>
                  </a:tcPr>
                </a:tc>
                <a:tc>
                  <a:txBody>
                    <a:bodyPr/>
                    <a:lstStyle/>
                    <a:p>
                      <a:r>
                        <a:rPr sz="1000" b="1">
                          <a:solidFill>
                            <a:srgbClr val="FFFFFF"/>
                          </a:solidFill>
                          <a:latin typeface="Segoe UI"/>
                        </a:rPr>
                        <a:t>Limitation</a:t>
                      </a:r>
                    </a:p>
                  </a:txBody>
                  <a:tcPr marL="54864" marR="54864" marT="36576">
                    <a:solidFill>
                      <a:srgbClr val="12263A"/>
                    </a:solidFill>
                  </a:tcPr>
                </a:tc>
                <a:extLst>
                  <a:ext uri="{0D108BD9-81ED-4DB2-BD59-A6C34878D82A}">
                    <a16:rowId xmlns:a16="http://schemas.microsoft.com/office/drawing/2014/main" val="10000"/>
                  </a:ext>
                </a:extLst>
              </a:tr>
              <a:tr h="455168">
                <a:tc>
                  <a:txBody>
                    <a:bodyPr/>
                    <a:lstStyle/>
                    <a:p>
                      <a:r>
                        <a:rPr sz="1000" b="0">
                          <a:solidFill>
                            <a:srgbClr val="1C1917"/>
                          </a:solidFill>
                          <a:latin typeface="Segoe UI"/>
                        </a:rPr>
                        <a:t>Arnò, Galassi, Tommasi, Saggino and Vittorini, 2021</a:t>
                      </a:r>
                    </a:p>
                  </a:txBody>
                  <a:tcPr marL="54864" marR="54864" marT="36576">
                    <a:solidFill>
                      <a:srgbClr val="FFFCF7"/>
                    </a:solidFill>
                  </a:tcPr>
                </a:tc>
                <a:tc>
                  <a:txBody>
                    <a:bodyPr/>
                    <a:lstStyle/>
                    <a:p>
                      <a:r>
                        <a:rPr sz="1000" b="0">
                          <a:solidFill>
                            <a:srgbClr val="1C1917"/>
                          </a:solidFill>
                          <a:latin typeface="Segoe UI"/>
                        </a:rPr>
                        <a:t>Feature review of commercial systems plus two case studies</a:t>
                      </a:r>
                    </a:p>
                  </a:txBody>
                  <a:tcPr marL="54864" marR="54864" marT="36576">
                    <a:solidFill>
                      <a:srgbClr val="FFFCF7"/>
                    </a:solidFill>
                  </a:tcPr>
                </a:tc>
                <a:tc>
                  <a:txBody>
                    <a:bodyPr/>
                    <a:lstStyle/>
                    <a:p>
                      <a:r>
                        <a:rPr sz="1000" b="0">
                          <a:solidFill>
                            <a:srgbClr val="1C1917"/>
                          </a:solidFill>
                          <a:latin typeface="Segoe UI"/>
                        </a:rPr>
                        <a:t>29 commercial proctoring systems; automated and live exams</a:t>
                      </a:r>
                    </a:p>
                  </a:txBody>
                  <a:tcPr marL="54864" marR="54864" marT="36576">
                    <a:solidFill>
                      <a:srgbClr val="FFFCF7"/>
                    </a:solidFill>
                  </a:tcPr>
                </a:tc>
                <a:tc>
                  <a:txBody>
                    <a:bodyPr/>
                    <a:lstStyle/>
                    <a:p>
                      <a:r>
                        <a:rPr sz="1000" b="0">
                          <a:solidFill>
                            <a:srgbClr val="1C1917"/>
                          </a:solidFill>
                          <a:latin typeface="Segoe UI"/>
                        </a:rPr>
                        <a:t>LMS fit, lockdown, monitoring, GDPR flag, live versus automated</a:t>
                      </a:r>
                    </a:p>
                  </a:txBody>
                  <a:tcPr marL="54864" marR="54864" marT="36576">
                    <a:solidFill>
                      <a:srgbClr val="FFFCF7"/>
                    </a:solidFill>
                  </a:tcPr>
                </a:tc>
                <a:tc>
                  <a:txBody>
                    <a:bodyPr/>
                    <a:lstStyle/>
                    <a:p>
                      <a:r>
                        <a:rPr sz="1000" b="0">
                          <a:solidFill>
                            <a:srgbClr val="1C1917"/>
                          </a:solidFill>
                          <a:latin typeface="Segoe UI"/>
                        </a:rPr>
                        <a:t>Automated detection was unreliable; still recommends webcam support for a human</a:t>
                      </a:r>
                    </a:p>
                  </a:txBody>
                  <a:tcPr marL="54864" marR="54864" marT="36576">
                    <a:solidFill>
                      <a:srgbClr val="FFFCF7"/>
                    </a:solidFill>
                  </a:tcPr>
                </a:tc>
                <a:extLst>
                  <a:ext uri="{0D108BD9-81ED-4DB2-BD59-A6C34878D82A}">
                    <a16:rowId xmlns:a16="http://schemas.microsoft.com/office/drawing/2014/main" val="10001"/>
                  </a:ext>
                </a:extLst>
              </a:tr>
              <a:tr h="455168">
                <a:tc>
                  <a:txBody>
                    <a:bodyPr/>
                    <a:lstStyle/>
                    <a:p>
                      <a:r>
                        <a:rPr sz="1000" b="0">
                          <a:solidFill>
                            <a:srgbClr val="1C1917"/>
                          </a:solidFill>
                          <a:latin typeface="Segoe UI"/>
                        </a:rPr>
                        <a:t>Butler-Henderson and Crawford, 2020  ·  foundational</a:t>
                      </a:r>
                    </a:p>
                  </a:txBody>
                  <a:tcPr marL="54864" marR="54864" marT="36576">
                    <a:solidFill>
                      <a:srgbClr val="F4F0E6"/>
                    </a:solidFill>
                  </a:tcPr>
                </a:tc>
                <a:tc>
                  <a:txBody>
                    <a:bodyPr/>
                    <a:lstStyle/>
                    <a:p>
                      <a:r>
                        <a:rPr sz="1000" b="0">
                          <a:solidFill>
                            <a:srgbClr val="1C1917"/>
                          </a:solidFill>
                          <a:latin typeface="Segoe UI"/>
                        </a:rPr>
                        <a:t>Systematic review</a:t>
                      </a:r>
                    </a:p>
                  </a:txBody>
                  <a:tcPr marL="54864" marR="54864" marT="36576">
                    <a:solidFill>
                      <a:srgbClr val="F4F0E6"/>
                    </a:solidFill>
                  </a:tcPr>
                </a:tc>
                <a:tc>
                  <a:txBody>
                    <a:bodyPr/>
                    <a:lstStyle/>
                    <a:p>
                      <a:r>
                        <a:rPr sz="1000" b="0">
                          <a:solidFill>
                            <a:srgbClr val="1C1917"/>
                          </a:solidFill>
                          <a:latin typeface="Segoe UI"/>
                        </a:rPr>
                        <a:t>36 papers, 2009–2018</a:t>
                      </a:r>
                    </a:p>
                  </a:txBody>
                  <a:tcPr marL="54864" marR="54864" marT="36576">
                    <a:solidFill>
                      <a:srgbClr val="F4F0E6"/>
                    </a:solidFill>
                  </a:tcPr>
                </a:tc>
                <a:tc>
                  <a:txBody>
                    <a:bodyPr/>
                    <a:lstStyle/>
                    <a:p>
                      <a:r>
                        <a:rPr sz="1000" b="0">
                          <a:solidFill>
                            <a:srgbClr val="1C1917"/>
                          </a:solidFill>
                          <a:latin typeface="Segoe UI"/>
                        </a:rPr>
                        <a:t>Exam design, security, student experience</a:t>
                      </a:r>
                    </a:p>
                  </a:txBody>
                  <a:tcPr marL="54864" marR="54864" marT="36576">
                    <a:solidFill>
                      <a:srgbClr val="F4F0E6"/>
                    </a:solidFill>
                  </a:tcPr>
                </a:tc>
                <a:tc>
                  <a:txBody>
                    <a:bodyPr/>
                    <a:lstStyle/>
                    <a:p>
                      <a:r>
                        <a:rPr sz="1000" b="0">
                          <a:solidFill>
                            <a:srgbClr val="1C1917"/>
                          </a:solidFill>
                          <a:latin typeface="Segoe UI"/>
                        </a:rPr>
                        <a:t>Stops at 2018 and is thin on privacy</a:t>
                      </a:r>
                    </a:p>
                  </a:txBody>
                  <a:tcPr marL="54864" marR="54864" marT="36576">
                    <a:solidFill>
                      <a:srgbClr val="F4F0E6"/>
                    </a:solidFill>
                  </a:tcPr>
                </a:tc>
                <a:extLst>
                  <a:ext uri="{0D108BD9-81ED-4DB2-BD59-A6C34878D82A}">
                    <a16:rowId xmlns:a16="http://schemas.microsoft.com/office/drawing/2014/main" val="10002"/>
                  </a:ext>
                </a:extLst>
              </a:tr>
              <a:tr h="455168">
                <a:tc>
                  <a:txBody>
                    <a:bodyPr/>
                    <a:lstStyle/>
                    <a:p>
                      <a:r>
                        <a:rPr sz="1000" b="0">
                          <a:solidFill>
                            <a:srgbClr val="1C1917"/>
                          </a:solidFill>
                          <a:latin typeface="Segoe UI"/>
                        </a:rPr>
                        <a:t>Draaijer, Jefferies and Somers, 2018  ·  foundational</a:t>
                      </a:r>
                    </a:p>
                  </a:txBody>
                  <a:tcPr marL="54864" marR="54864" marT="36576">
                    <a:solidFill>
                      <a:srgbClr val="FFFCF7"/>
                    </a:solidFill>
                  </a:tcPr>
                </a:tc>
                <a:tc>
                  <a:txBody>
                    <a:bodyPr/>
                    <a:lstStyle/>
                    <a:p>
                      <a:r>
                        <a:rPr sz="1000" b="0">
                          <a:solidFill>
                            <a:srgbClr val="1C1917"/>
                          </a:solidFill>
                          <a:latin typeface="Segoe UI"/>
                        </a:rPr>
                        <a:t>Survey of EU practice</a:t>
                      </a:r>
                    </a:p>
                  </a:txBody>
                  <a:tcPr marL="54864" marR="54864" marT="36576">
                    <a:solidFill>
                      <a:srgbClr val="FFFCF7"/>
                    </a:solidFill>
                  </a:tcPr>
                </a:tc>
                <a:tc>
                  <a:txBody>
                    <a:bodyPr/>
                    <a:lstStyle/>
                    <a:p>
                      <a:r>
                        <a:rPr sz="1000" b="0">
                          <a:solidFill>
                            <a:srgbClr val="1C1917"/>
                          </a:solidFill>
                          <a:latin typeface="Segoe UI"/>
                        </a:rPr>
                        <a:t>Higher-education providers in the EU</a:t>
                      </a:r>
                    </a:p>
                  </a:txBody>
                  <a:tcPr marL="54864" marR="54864" marT="36576">
                    <a:solidFill>
                      <a:srgbClr val="FFFCF7"/>
                    </a:solidFill>
                  </a:tcPr>
                </a:tc>
                <a:tc>
                  <a:txBody>
                    <a:bodyPr/>
                    <a:lstStyle/>
                    <a:p>
                      <a:r>
                        <a:rPr sz="1000" b="0">
                          <a:solidFill>
                            <a:srgbClr val="1C1917"/>
                          </a:solidFill>
                          <a:latin typeface="Segoe UI"/>
                        </a:rPr>
                        <a:t>Live, recorded, and automated proctoring</a:t>
                      </a:r>
                    </a:p>
                  </a:txBody>
                  <a:tcPr marL="54864" marR="54864" marT="36576">
                    <a:solidFill>
                      <a:srgbClr val="FFFCF7"/>
                    </a:solidFill>
                  </a:tcPr>
                </a:tc>
                <a:tc>
                  <a:txBody>
                    <a:bodyPr/>
                    <a:lstStyle/>
                    <a:p>
                      <a:r>
                        <a:rPr sz="1000" b="0">
                          <a:solidFill>
                            <a:srgbClr val="1C1917"/>
                          </a:solidFill>
                          <a:latin typeface="Segoe UI"/>
                        </a:rPr>
                        <a:t>A state-of-play survey, not a privacy-bounded design</a:t>
                      </a:r>
                    </a:p>
                  </a:txBody>
                  <a:tcPr marL="54864" marR="54864" marT="36576">
                    <a:solidFill>
                      <a:srgbClr val="FFFCF7"/>
                    </a:solidFill>
                  </a:tcPr>
                </a:tc>
                <a:extLst>
                  <a:ext uri="{0D108BD9-81ED-4DB2-BD59-A6C34878D82A}">
                    <a16:rowId xmlns:a16="http://schemas.microsoft.com/office/drawing/2014/main" val="10003"/>
                  </a:ext>
                </a:extLst>
              </a:tr>
              <a:tr h="455168">
                <a:tc>
                  <a:txBody>
                    <a:bodyPr/>
                    <a:lstStyle/>
                    <a:p>
                      <a:r>
                        <a:rPr sz="1000" b="0">
                          <a:solidFill>
                            <a:srgbClr val="1C1917"/>
                          </a:solidFill>
                          <a:latin typeface="Segoe UI"/>
                        </a:rPr>
                        <a:t>Han, Nikou and Ayele, 2023</a:t>
                      </a:r>
                    </a:p>
                  </a:txBody>
                  <a:tcPr marL="54864" marR="54864" marT="36576">
                    <a:solidFill>
                      <a:srgbClr val="F4F0E6"/>
                    </a:solidFill>
                  </a:tcPr>
                </a:tc>
                <a:tc>
                  <a:txBody>
                    <a:bodyPr/>
                    <a:lstStyle/>
                    <a:p>
                      <a:r>
                        <a:rPr sz="1000" b="0">
                          <a:solidFill>
                            <a:srgbClr val="1C1917"/>
                          </a:solidFill>
                          <a:latin typeface="Segoe UI"/>
                        </a:rPr>
                        <a:t>Systematic literature review</a:t>
                      </a:r>
                    </a:p>
                  </a:txBody>
                  <a:tcPr marL="54864" marR="54864" marT="36576">
                    <a:solidFill>
                      <a:srgbClr val="F4F0E6"/>
                    </a:solidFill>
                  </a:tcPr>
                </a:tc>
                <a:tc>
                  <a:txBody>
                    <a:bodyPr/>
                    <a:lstStyle/>
                    <a:p>
                      <a:r>
                        <a:rPr sz="1000" b="0">
                          <a:solidFill>
                            <a:srgbClr val="1C1917"/>
                          </a:solidFill>
                          <a:latin typeface="Segoe UI"/>
                        </a:rPr>
                        <a:t>Digital-proctoring studies through 2022</a:t>
                      </a:r>
                    </a:p>
                  </a:txBody>
                  <a:tcPr marL="54864" marR="54864" marT="36576">
                    <a:solidFill>
                      <a:srgbClr val="F4F0E6"/>
                    </a:solidFill>
                  </a:tcPr>
                </a:tc>
                <a:tc>
                  <a:txBody>
                    <a:bodyPr/>
                    <a:lstStyle/>
                    <a:p>
                      <a:r>
                        <a:rPr sz="1000" b="0">
                          <a:solidFill>
                            <a:srgbClr val="1C1917"/>
                          </a:solidFill>
                          <a:latin typeface="Segoe UI"/>
                        </a:rPr>
                        <a:t>Privacy, ethics, bias, effectiveness</a:t>
                      </a:r>
                    </a:p>
                  </a:txBody>
                  <a:tcPr marL="54864" marR="54864" marT="36576">
                    <a:solidFill>
                      <a:srgbClr val="F4F0E6"/>
                    </a:solidFill>
                  </a:tcPr>
                </a:tc>
                <a:tc>
                  <a:txBody>
                    <a:bodyPr/>
                    <a:lstStyle/>
                    <a:p>
                      <a:r>
                        <a:rPr sz="1000" b="0">
                          <a:solidFill>
                            <a:srgbClr val="1C1917"/>
                          </a:solidFill>
                          <a:latin typeface="Segoe UI"/>
                        </a:rPr>
                        <a:t>Reviews the field; does not specify an open scoring rule</a:t>
                      </a:r>
                    </a:p>
                  </a:txBody>
                  <a:tcPr marL="54864" marR="54864" marT="36576">
                    <a:solidFill>
                      <a:srgbClr val="F4F0E6"/>
                    </a:solidFill>
                  </a:tcPr>
                </a:tc>
                <a:extLst>
                  <a:ext uri="{0D108BD9-81ED-4DB2-BD59-A6C34878D82A}">
                    <a16:rowId xmlns:a16="http://schemas.microsoft.com/office/drawing/2014/main" val="10004"/>
                  </a:ext>
                </a:extLst>
              </a:tr>
              <a:tr h="455168">
                <a:tc>
                  <a:txBody>
                    <a:bodyPr/>
                    <a:lstStyle/>
                    <a:p>
                      <a:r>
                        <a:rPr sz="1000" b="0">
                          <a:solidFill>
                            <a:srgbClr val="1C1917"/>
                          </a:solidFill>
                          <a:latin typeface="Segoe UI"/>
                        </a:rPr>
                        <a:t>Heinrich, 2025</a:t>
                      </a:r>
                    </a:p>
                  </a:txBody>
                  <a:tcPr marL="54864" marR="54864" marT="36576">
                    <a:solidFill>
                      <a:srgbClr val="FFFCF7"/>
                    </a:solidFill>
                  </a:tcPr>
                </a:tc>
                <a:tc>
                  <a:txBody>
                    <a:bodyPr/>
                    <a:lstStyle/>
                    <a:p>
                      <a:r>
                        <a:rPr sz="1000" b="0">
                          <a:solidFill>
                            <a:srgbClr val="1C1917"/>
                          </a:solidFill>
                          <a:latin typeface="Segoe UI"/>
                        </a:rPr>
                        <a:t>Systematic-narrative review</a:t>
                      </a:r>
                    </a:p>
                  </a:txBody>
                  <a:tcPr marL="54864" marR="54864" marT="36576">
                    <a:solidFill>
                      <a:srgbClr val="FFFCF7"/>
                    </a:solidFill>
                  </a:tcPr>
                </a:tc>
                <a:tc>
                  <a:txBody>
                    <a:bodyPr/>
                    <a:lstStyle/>
                    <a:p>
                      <a:r>
                        <a:rPr sz="1000" b="0">
                          <a:solidFill>
                            <a:srgbClr val="1C1917"/>
                          </a:solidFill>
                          <a:latin typeface="Segoe UI"/>
                        </a:rPr>
                        <a:t>33 commercial online proctoring systems</a:t>
                      </a:r>
                    </a:p>
                  </a:txBody>
                  <a:tcPr marL="54864" marR="54864" marT="36576">
                    <a:solidFill>
                      <a:srgbClr val="FFFCF7"/>
                    </a:solidFill>
                  </a:tcPr>
                </a:tc>
                <a:tc>
                  <a:txBody>
                    <a:bodyPr/>
                    <a:lstStyle/>
                    <a:p>
                      <a:r>
                        <a:rPr sz="1000" b="0">
                          <a:solidFill>
                            <a:srgbClr val="1C1917"/>
                          </a:solidFill>
                          <a:latin typeface="Segoe UI"/>
                        </a:rPr>
                        <a:t>Biometric capture, flag types, published rules</a:t>
                      </a:r>
                    </a:p>
                  </a:txBody>
                  <a:tcPr marL="54864" marR="54864" marT="36576">
                    <a:solidFill>
                      <a:srgbClr val="FFFCF7"/>
                    </a:solidFill>
                  </a:tcPr>
                </a:tc>
                <a:tc>
                  <a:txBody>
                    <a:bodyPr/>
                    <a:lstStyle/>
                    <a:p>
                      <a:r>
                        <a:rPr sz="1000" b="0">
                          <a:solidFill>
                            <a:srgbClr val="1C1917"/>
                          </a:solidFill>
                          <a:latin typeface="Segoe UI"/>
                        </a:rPr>
                        <a:t>Biometrics dominate, and flags lack an open standard</a:t>
                      </a:r>
                    </a:p>
                  </a:txBody>
                  <a:tcPr marL="54864" marR="54864" marT="36576">
                    <a:solidFill>
                      <a:srgbClr val="FFFCF7"/>
                    </a:solidFill>
                  </a:tcPr>
                </a:tc>
                <a:extLst>
                  <a:ext uri="{0D108BD9-81ED-4DB2-BD59-A6C34878D82A}">
                    <a16:rowId xmlns:a16="http://schemas.microsoft.com/office/drawing/2014/main" val="10005"/>
                  </a:ext>
                </a:extLst>
              </a:tr>
              <a:tr h="455168">
                <a:tc>
                  <a:txBody>
                    <a:bodyPr/>
                    <a:lstStyle/>
                    <a:p>
                      <a:r>
                        <a:rPr sz="1000" b="0">
                          <a:solidFill>
                            <a:srgbClr val="1C1917"/>
                          </a:solidFill>
                          <a:latin typeface="Segoe UI"/>
                        </a:rPr>
                        <a:t>Holden, Norris and Kuhlmeier, 2021</a:t>
                      </a:r>
                    </a:p>
                  </a:txBody>
                  <a:tcPr marL="54864" marR="54864" marT="36576">
                    <a:solidFill>
                      <a:srgbClr val="F4F0E6"/>
                    </a:solidFill>
                  </a:tcPr>
                </a:tc>
                <a:tc>
                  <a:txBody>
                    <a:bodyPr/>
                    <a:lstStyle/>
                    <a:p>
                      <a:r>
                        <a:rPr sz="1000" b="0">
                          <a:solidFill>
                            <a:srgbClr val="1C1917"/>
                          </a:solidFill>
                          <a:latin typeface="Segoe UI"/>
                        </a:rPr>
                        <a:t>Narrative review of integrity research</a:t>
                      </a:r>
                    </a:p>
                  </a:txBody>
                  <a:tcPr marL="54864" marR="54864" marT="36576">
                    <a:solidFill>
                      <a:srgbClr val="F4F0E6"/>
                    </a:solidFill>
                  </a:tcPr>
                </a:tc>
                <a:tc>
                  <a:txBody>
                    <a:bodyPr/>
                    <a:lstStyle/>
                    <a:p>
                      <a:r>
                        <a:rPr sz="1000" b="0">
                          <a:solidFill>
                            <a:srgbClr val="1C1917"/>
                          </a:solidFill>
                          <a:latin typeface="Segoe UI"/>
                        </a:rPr>
                        <a:t>Studies of online higher-education assessment</a:t>
                      </a:r>
                    </a:p>
                  </a:txBody>
                  <a:tcPr marL="54864" marR="54864" marT="36576">
                    <a:solidFill>
                      <a:srgbClr val="F4F0E6"/>
                    </a:solidFill>
                  </a:tcPr>
                </a:tc>
                <a:tc>
                  <a:txBody>
                    <a:bodyPr/>
                    <a:lstStyle/>
                    <a:p>
                      <a:r>
                        <a:rPr sz="1000" b="0">
                          <a:solidFill>
                            <a:srgbClr val="1C1917"/>
                          </a:solidFill>
                          <a:latin typeface="Segoe UI"/>
                        </a:rPr>
                        <a:t>Causes of dishonesty; prevention and detection methods</a:t>
                      </a:r>
                    </a:p>
                  </a:txBody>
                  <a:tcPr marL="54864" marR="54864" marT="36576">
                    <a:solidFill>
                      <a:srgbClr val="F4F0E6"/>
                    </a:solidFill>
                  </a:tcPr>
                </a:tc>
                <a:tc>
                  <a:txBody>
                    <a:bodyPr/>
                    <a:lstStyle/>
                    <a:p>
                      <a:r>
                        <a:rPr sz="1000" b="0">
                          <a:solidFill>
                            <a:srgbClr val="1C1917"/>
                          </a:solidFill>
                          <a:latin typeface="Segoe UI"/>
                        </a:rPr>
                        <a:t>Recommends a mix of measures; privacy is named, not engineered</a:t>
                      </a:r>
                    </a:p>
                  </a:txBody>
                  <a:tcPr marL="54864" marR="54864" marT="36576">
                    <a:solidFill>
                      <a:srgbClr val="F4F0E6"/>
                    </a:solidFill>
                  </a:tcPr>
                </a:tc>
                <a:extLst>
                  <a:ext uri="{0D108BD9-81ED-4DB2-BD59-A6C34878D82A}">
                    <a16:rowId xmlns:a16="http://schemas.microsoft.com/office/drawing/2014/main" val="10006"/>
                  </a:ext>
                </a:extLst>
              </a:tr>
              <a:tr h="455168">
                <a:tc>
                  <a:txBody>
                    <a:bodyPr/>
                    <a:lstStyle/>
                    <a:p>
                      <a:r>
                        <a:rPr sz="1000" b="0">
                          <a:solidFill>
                            <a:srgbClr val="1C1917"/>
                          </a:solidFill>
                          <a:latin typeface="Segoe UI"/>
                        </a:rPr>
                        <a:t>Hussein, Yusuf, Deb, Fong and Naidu, 2020  ·  foundational</a:t>
                      </a:r>
                    </a:p>
                  </a:txBody>
                  <a:tcPr marL="54864" marR="54864" marT="36576">
                    <a:solidFill>
                      <a:srgbClr val="FFFCF7"/>
                    </a:solidFill>
                  </a:tcPr>
                </a:tc>
                <a:tc>
                  <a:txBody>
                    <a:bodyPr/>
                    <a:lstStyle/>
                    <a:p>
                      <a:r>
                        <a:rPr sz="1000" b="0">
                          <a:solidFill>
                            <a:srgbClr val="1C1917"/>
                          </a:solidFill>
                          <a:latin typeface="Segoe UI"/>
                        </a:rPr>
                        <a:t>Tool evaluation</a:t>
                      </a:r>
                    </a:p>
                  </a:txBody>
                  <a:tcPr marL="54864" marR="54864" marT="36576">
                    <a:solidFill>
                      <a:srgbClr val="FFFCF7"/>
                    </a:solidFill>
                  </a:tcPr>
                </a:tc>
                <a:tc>
                  <a:txBody>
                    <a:bodyPr/>
                    <a:lstStyle/>
                    <a:p>
                      <a:r>
                        <a:rPr sz="1000" b="0">
                          <a:solidFill>
                            <a:srgbClr val="1C1917"/>
                          </a:solidFill>
                          <a:latin typeface="Segoe UI"/>
                        </a:rPr>
                        <a:t>Commercial proctoring products</a:t>
                      </a:r>
                    </a:p>
                  </a:txBody>
                  <a:tcPr marL="54864" marR="54864" marT="36576">
                    <a:solidFill>
                      <a:srgbClr val="FFFCF7"/>
                    </a:solidFill>
                  </a:tcPr>
                </a:tc>
                <a:tc>
                  <a:txBody>
                    <a:bodyPr/>
                    <a:lstStyle/>
                    <a:p>
                      <a:r>
                        <a:rPr sz="1000" b="0">
                          <a:solidFill>
                            <a:srgbClr val="1C1917"/>
                          </a:solidFill>
                          <a:latin typeface="Segoe UI"/>
                        </a:rPr>
                        <a:t>Feature lists: webcam, lockdown, identity</a:t>
                      </a:r>
                    </a:p>
                  </a:txBody>
                  <a:tcPr marL="54864" marR="54864" marT="36576">
                    <a:solidFill>
                      <a:srgbClr val="FFFCF7"/>
                    </a:solidFill>
                  </a:tcPr>
                </a:tc>
                <a:tc>
                  <a:txBody>
                    <a:bodyPr/>
                    <a:lstStyle/>
                    <a:p>
                      <a:r>
                        <a:rPr sz="1000" b="0">
                          <a:solidFill>
                            <a:srgbClr val="1C1917"/>
                          </a:solidFill>
                          <a:latin typeface="Segoe UI"/>
                        </a:rPr>
                        <a:t>Feature lists, not a privacy-bounded design</a:t>
                      </a:r>
                    </a:p>
                  </a:txBody>
                  <a:tcPr marL="54864" marR="54864" marT="36576">
                    <a:solidFill>
                      <a:srgbClr val="FFFCF7"/>
                    </a:solidFill>
                  </a:tcPr>
                </a:tc>
                <a:extLst>
                  <a:ext uri="{0D108BD9-81ED-4DB2-BD59-A6C34878D82A}">
                    <a16:rowId xmlns:a16="http://schemas.microsoft.com/office/drawing/2014/main" val="10007"/>
                  </a:ext>
                </a:extLst>
              </a:tr>
              <a:tr h="455168">
                <a:tc>
                  <a:txBody>
                    <a:bodyPr/>
                    <a:lstStyle/>
                    <a:p>
                      <a:r>
                        <a:rPr sz="1000" b="0">
                          <a:solidFill>
                            <a:srgbClr val="1C1917"/>
                          </a:solidFill>
                          <a:latin typeface="Segoe UI"/>
                        </a:rPr>
                        <a:t>Nigam, Pasricha, Singh and Churi, 2021</a:t>
                      </a:r>
                    </a:p>
                  </a:txBody>
                  <a:tcPr marL="54864" marR="54864" marT="36576">
                    <a:solidFill>
                      <a:srgbClr val="F4F0E6"/>
                    </a:solidFill>
                  </a:tcPr>
                </a:tc>
                <a:tc>
                  <a:txBody>
                    <a:bodyPr/>
                    <a:lstStyle/>
                    <a:p>
                      <a:r>
                        <a:rPr sz="1000" b="0">
                          <a:solidFill>
                            <a:srgbClr val="1C1917"/>
                          </a:solidFill>
                          <a:latin typeface="Segoe UI"/>
                        </a:rPr>
                        <a:t>Review of AI and non-AI systems</a:t>
                      </a:r>
                    </a:p>
                  </a:txBody>
                  <a:tcPr marL="54864" marR="54864" marT="36576">
                    <a:solidFill>
                      <a:srgbClr val="F4F0E6"/>
                    </a:solidFill>
                  </a:tcPr>
                </a:tc>
                <a:tc>
                  <a:txBody>
                    <a:bodyPr/>
                    <a:lstStyle/>
                    <a:p>
                      <a:r>
                        <a:rPr sz="1000" b="0">
                          <a:solidFill>
                            <a:srgbClr val="1C1917"/>
                          </a:solidFill>
                          <a:latin typeface="Segoe UI"/>
                        </a:rPr>
                        <a:t>43 systems</a:t>
                      </a:r>
                    </a:p>
                  </a:txBody>
                  <a:tcPr marL="54864" marR="54864" marT="36576">
                    <a:solidFill>
                      <a:srgbClr val="F4F0E6"/>
                    </a:solidFill>
                  </a:tcPr>
                </a:tc>
                <a:tc>
                  <a:txBody>
                    <a:bodyPr/>
                    <a:lstStyle/>
                    <a:p>
                      <a:r>
                        <a:rPr sz="1000" b="0">
                          <a:solidFill>
                            <a:srgbClr val="1C1917"/>
                          </a:solidFill>
                          <a:latin typeface="Segoe UI"/>
                        </a:rPr>
                        <a:t>Webcam, voice, lockdown, identity</a:t>
                      </a:r>
                    </a:p>
                  </a:txBody>
                  <a:tcPr marL="54864" marR="54864" marT="36576">
                    <a:solidFill>
                      <a:srgbClr val="F4F0E6"/>
                    </a:solidFill>
                  </a:tcPr>
                </a:tc>
                <a:tc>
                  <a:txBody>
                    <a:bodyPr/>
                    <a:lstStyle/>
                    <a:p>
                      <a:r>
                        <a:rPr sz="1000" b="0">
                          <a:solidFill>
                            <a:srgbClr val="1C1917"/>
                          </a:solidFill>
                          <a:latin typeface="Segoe UI"/>
                        </a:rPr>
                        <a:t>Privacy is named, not designed</a:t>
                      </a:r>
                    </a:p>
                  </a:txBody>
                  <a:tcPr marL="54864" marR="54864" marT="36576">
                    <a:solidFill>
                      <a:srgbClr val="F4F0E6"/>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17</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A1–A3</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A1 continued  ·  A2 lockdown  ·  A3 browser signals</a:t>
            </a:r>
          </a:p>
        </p:txBody>
      </p:sp>
      <p:sp>
        <p:nvSpPr>
          <p:cNvPr id="9" name="TextBox 8"/>
          <p:cNvSpPr txBox="1"/>
          <p:nvPr/>
        </p:nvSpPr>
        <p:spPr>
          <a:xfrm>
            <a:off x="411480" y="1097280"/>
            <a:ext cx="10972800" cy="237744"/>
          </a:xfrm>
          <a:prstGeom prst="rect">
            <a:avLst/>
          </a:prstGeom>
          <a:noFill/>
        </p:spPr>
        <p:txBody>
          <a:bodyPr wrap="square"/>
          <a:lstStyle/>
          <a:p>
            <a:pPr algn="l"/>
            <a:r>
              <a:rPr sz="1200" b="1">
                <a:solidFill>
                  <a:srgbClr val="0F6E6B"/>
                </a:solidFill>
                <a:latin typeface="Segoe UI"/>
              </a:rPr>
              <a:t>Surveys, continued</a:t>
            </a:r>
          </a:p>
        </p:txBody>
      </p:sp>
      <p:graphicFrame>
        <p:nvGraphicFramePr>
          <p:cNvPr id="10" name="Table 9"/>
          <p:cNvGraphicFramePr>
            <a:graphicFrameLocks noGrp="1"/>
          </p:cNvGraphicFramePr>
          <p:nvPr/>
        </p:nvGraphicFramePr>
        <p:xfrm>
          <a:off x="365760" y="1335024"/>
          <a:ext cx="11430000" cy="1693164"/>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gridCol w="2331720">
                  <a:extLst>
                    <a:ext uri="{9D8B030D-6E8A-4147-A177-3AD203B41FA5}">
                      <a16:colId xmlns:a16="http://schemas.microsoft.com/office/drawing/2014/main" val="20004"/>
                    </a:ext>
                  </a:extLst>
                </a:gridCol>
              </a:tblGrid>
              <a:tr h="379476">
                <a:tc>
                  <a:txBody>
                    <a:bodyPr/>
                    <a:lstStyle/>
                    <a:p>
                      <a:r>
                        <a:rPr sz="1000" b="1">
                          <a:solidFill>
                            <a:srgbClr val="FFFFFF"/>
                          </a:solidFill>
                          <a:latin typeface="Segoe UI"/>
                        </a:rPr>
                        <a:t>Author and year</a:t>
                      </a:r>
                    </a:p>
                  </a:txBody>
                  <a:tcPr marL="54864" marR="54864" marT="36576">
                    <a:solidFill>
                      <a:srgbClr val="12263A"/>
                    </a:solidFill>
                  </a:tcPr>
                </a:tc>
                <a:tc>
                  <a:txBody>
                    <a:bodyPr/>
                    <a:lstStyle/>
                    <a:p>
                      <a:r>
                        <a:rPr sz="1000" b="1">
                          <a:solidFill>
                            <a:srgbClr val="FFFFFF"/>
                          </a:solidFill>
                          <a:latin typeface="Segoe UI"/>
                        </a:rPr>
                        <a:t>Method</a:t>
                      </a:r>
                    </a:p>
                  </a:txBody>
                  <a:tcPr marL="54864" marR="54864" marT="36576">
                    <a:solidFill>
                      <a:srgbClr val="12263A"/>
                    </a:solidFill>
                  </a:tcPr>
                </a:tc>
                <a:tc>
                  <a:txBody>
                    <a:bodyPr/>
                    <a:lstStyle/>
                    <a:p>
                      <a:r>
                        <a:rPr sz="1000" b="1">
                          <a:solidFill>
                            <a:srgbClr val="FFFFFF"/>
                          </a:solidFill>
                          <a:latin typeface="Segoe UI"/>
                        </a:rPr>
                        <a:t>Dataset or testbed</a:t>
                      </a:r>
                    </a:p>
                  </a:txBody>
                  <a:tcPr marL="54864" marR="54864" marT="36576">
                    <a:solidFill>
                      <a:srgbClr val="12263A"/>
                    </a:solidFill>
                  </a:tcPr>
                </a:tc>
                <a:tc>
                  <a:txBody>
                    <a:bodyPr/>
                    <a:lstStyle/>
                    <a:p>
                      <a:r>
                        <a:rPr sz="1000" b="1">
                          <a:solidFill>
                            <a:srgbClr val="FFFFFF"/>
                          </a:solidFill>
                          <a:latin typeface="Segoe UI"/>
                        </a:rPr>
                        <a:t>Key parameters</a:t>
                      </a:r>
                    </a:p>
                  </a:txBody>
                  <a:tcPr marL="54864" marR="54864" marT="36576">
                    <a:solidFill>
                      <a:srgbClr val="12263A"/>
                    </a:solidFill>
                  </a:tcPr>
                </a:tc>
                <a:tc>
                  <a:txBody>
                    <a:bodyPr/>
                    <a:lstStyle/>
                    <a:p>
                      <a:r>
                        <a:rPr sz="1000" b="1">
                          <a:solidFill>
                            <a:srgbClr val="FFFFFF"/>
                          </a:solidFill>
                          <a:latin typeface="Segoe UI"/>
                        </a:rPr>
                        <a:t>Limitation</a:t>
                      </a:r>
                    </a:p>
                  </a:txBody>
                  <a:tcPr marL="54864" marR="54864" marT="36576">
                    <a:solidFill>
                      <a:srgbClr val="12263A"/>
                    </a:solidFill>
                  </a:tcPr>
                </a:tc>
                <a:extLst>
                  <a:ext uri="{0D108BD9-81ED-4DB2-BD59-A6C34878D82A}">
                    <a16:rowId xmlns:a16="http://schemas.microsoft.com/office/drawing/2014/main" val="10000"/>
                  </a:ext>
                </a:extLst>
              </a:tr>
              <a:tr h="379476">
                <a:tc>
                  <a:txBody>
                    <a:bodyPr/>
                    <a:lstStyle/>
                    <a:p>
                      <a:r>
                        <a:rPr sz="1000" b="0">
                          <a:solidFill>
                            <a:srgbClr val="1C1917"/>
                          </a:solidFill>
                          <a:latin typeface="Segoe UI"/>
                        </a:rPr>
                        <a:t>Noorbehbahani, Mohammadi and Aminazadeh, 2022</a:t>
                      </a:r>
                    </a:p>
                  </a:txBody>
                  <a:tcPr marL="54864" marR="54864" marT="36576">
                    <a:solidFill>
                      <a:srgbClr val="FFFCF7"/>
                    </a:solidFill>
                  </a:tcPr>
                </a:tc>
                <a:tc>
                  <a:txBody>
                    <a:bodyPr/>
                    <a:lstStyle/>
                    <a:p>
                      <a:r>
                        <a:rPr sz="1000" b="0">
                          <a:solidFill>
                            <a:srgbClr val="1C1917"/>
                          </a:solidFill>
                          <a:latin typeface="Segoe UI"/>
                        </a:rPr>
                        <a:t>Systematic mapping review</a:t>
                      </a:r>
                    </a:p>
                  </a:txBody>
                  <a:tcPr marL="54864" marR="54864" marT="36576">
                    <a:solidFill>
                      <a:srgbClr val="FFFCF7"/>
                    </a:solidFill>
                  </a:tcPr>
                </a:tc>
                <a:tc>
                  <a:txBody>
                    <a:bodyPr/>
                    <a:lstStyle/>
                    <a:p>
                      <a:r>
                        <a:rPr sz="1000" b="0">
                          <a:solidFill>
                            <a:srgbClr val="1C1917"/>
                          </a:solidFill>
                          <a:latin typeface="Segoe UI"/>
                        </a:rPr>
                        <a:t>58 publications, January 2010 to February 2021</a:t>
                      </a:r>
                    </a:p>
                  </a:txBody>
                  <a:tcPr marL="54864" marR="54864" marT="36576">
                    <a:solidFill>
                      <a:srgbClr val="FFFCF7"/>
                    </a:solidFill>
                  </a:tcPr>
                </a:tc>
                <a:tc>
                  <a:txBody>
                    <a:bodyPr/>
                    <a:lstStyle/>
                    <a:p>
                      <a:r>
                        <a:rPr sz="1000" b="0">
                          <a:solidFill>
                            <a:srgbClr val="1C1917"/>
                          </a:solidFill>
                          <a:latin typeface="Segoe UI"/>
                        </a:rPr>
                        <a:t>Motivation, type, detection, prevention</a:t>
                      </a:r>
                    </a:p>
                  </a:txBody>
                  <a:tcPr marL="54864" marR="54864" marT="36576">
                    <a:solidFill>
                      <a:srgbClr val="FFFCF7"/>
                    </a:solidFill>
                  </a:tcPr>
                </a:tc>
                <a:tc>
                  <a:txBody>
                    <a:bodyPr/>
                    <a:lstStyle/>
                    <a:p>
                      <a:r>
                        <a:rPr sz="1000" b="0">
                          <a:solidFill>
                            <a:srgbClr val="1C1917"/>
                          </a:solidFill>
                          <a:latin typeface="Segoe UI"/>
                        </a:rPr>
                        <a:t>Maps the field through early 2021; does not test a bounded monitor</a:t>
                      </a:r>
                    </a:p>
                  </a:txBody>
                  <a:tcPr marL="54864" marR="54864" marT="36576">
                    <a:solidFill>
                      <a:srgbClr val="FFFCF7"/>
                    </a:solidFill>
                  </a:tcPr>
                </a:tc>
                <a:extLst>
                  <a:ext uri="{0D108BD9-81ED-4DB2-BD59-A6C34878D82A}">
                    <a16:rowId xmlns:a16="http://schemas.microsoft.com/office/drawing/2014/main" val="10001"/>
                  </a:ext>
                </a:extLst>
              </a:tr>
              <a:tr h="379476">
                <a:tc>
                  <a:txBody>
                    <a:bodyPr/>
                    <a:lstStyle/>
                    <a:p>
                      <a:r>
                        <a:rPr sz="1000" b="0">
                          <a:solidFill>
                            <a:srgbClr val="1C1917"/>
                          </a:solidFill>
                          <a:latin typeface="Segoe UI"/>
                        </a:rPr>
                        <a:t>Topuz, Saka, Fatsa and Kurşun, 2022</a:t>
                      </a:r>
                    </a:p>
                  </a:txBody>
                  <a:tcPr marL="54864" marR="54864" marT="36576">
                    <a:solidFill>
                      <a:srgbClr val="F4F0E6"/>
                    </a:solidFill>
                  </a:tcPr>
                </a:tc>
                <a:tc>
                  <a:txBody>
                    <a:bodyPr/>
                    <a:lstStyle/>
                    <a:p>
                      <a:r>
                        <a:rPr sz="1000" b="0">
                          <a:solidFill>
                            <a:srgbClr val="1C1917"/>
                          </a:solidFill>
                          <a:latin typeface="Segoe UI"/>
                        </a:rPr>
                        <a:t>Systematic feature analysis</a:t>
                      </a:r>
                    </a:p>
                  </a:txBody>
                  <a:tcPr marL="54864" marR="54864" marT="36576">
                    <a:solidFill>
                      <a:srgbClr val="F4F0E6"/>
                    </a:solidFill>
                  </a:tcPr>
                </a:tc>
                <a:tc>
                  <a:txBody>
                    <a:bodyPr/>
                    <a:lstStyle/>
                    <a:p>
                      <a:r>
                        <a:rPr sz="1000" b="0">
                          <a:solidFill>
                            <a:srgbClr val="1C1917"/>
                          </a:solidFill>
                          <a:latin typeface="Segoe UI"/>
                        </a:rPr>
                        <a:t>Academic studies of online assessment systems published in 2020</a:t>
                      </a:r>
                    </a:p>
                  </a:txBody>
                  <a:tcPr marL="54864" marR="54864" marT="36576">
                    <a:solidFill>
                      <a:srgbClr val="F4F0E6"/>
                    </a:solidFill>
                  </a:tcPr>
                </a:tc>
                <a:tc>
                  <a:txBody>
                    <a:bodyPr/>
                    <a:lstStyle/>
                    <a:p>
                      <a:r>
                        <a:rPr sz="1000" b="0">
                          <a:solidFill>
                            <a:srgbClr val="1C1917"/>
                          </a:solidFill>
                          <a:latin typeface="Segoe UI"/>
                        </a:rPr>
                        <a:t>Platforms, security features, common features</a:t>
                      </a:r>
                    </a:p>
                  </a:txBody>
                  <a:tcPr marL="54864" marR="54864" marT="36576">
                    <a:solidFill>
                      <a:srgbClr val="F4F0E6"/>
                    </a:solidFill>
                  </a:tcPr>
                </a:tc>
                <a:tc>
                  <a:txBody>
                    <a:bodyPr/>
                    <a:lstStyle/>
                    <a:p>
                      <a:r>
                        <a:rPr sz="1000" b="0">
                          <a:solidFill>
                            <a:srgbClr val="1C1917"/>
                          </a:solidFill>
                          <a:latin typeface="Segoe UI"/>
                        </a:rPr>
                        <a:t>Security is described as a feature list, not as a minimised event log</a:t>
                      </a:r>
                    </a:p>
                  </a:txBody>
                  <a:tcPr marL="54864" marR="54864" marT="36576">
                    <a:solidFill>
                      <a:srgbClr val="F4F0E6"/>
                    </a:solidFill>
                  </a:tcPr>
                </a:tc>
                <a:extLst>
                  <a:ext uri="{0D108BD9-81ED-4DB2-BD59-A6C34878D82A}">
                    <a16:rowId xmlns:a16="http://schemas.microsoft.com/office/drawing/2014/main" val="10002"/>
                  </a:ext>
                </a:extLst>
              </a:tr>
              <a:tr h="379476">
                <a:tc>
                  <a:txBody>
                    <a:bodyPr/>
                    <a:lstStyle/>
                    <a:p>
                      <a:r>
                        <a:rPr sz="1000" b="0">
                          <a:solidFill>
                            <a:srgbClr val="1C1917"/>
                          </a:solidFill>
                          <a:latin typeface="Segoe UI"/>
                        </a:rPr>
                        <a:t>Khalil, Prinsloo and Slade, 2022</a:t>
                      </a:r>
                    </a:p>
                  </a:txBody>
                  <a:tcPr marL="54864" marR="54864" marT="36576">
                    <a:solidFill>
                      <a:srgbClr val="FFFCF7"/>
                    </a:solidFill>
                  </a:tcPr>
                </a:tc>
                <a:tc>
                  <a:txBody>
                    <a:bodyPr/>
                    <a:lstStyle/>
                    <a:p>
                      <a:r>
                        <a:rPr sz="1000" b="0">
                          <a:solidFill>
                            <a:srgbClr val="1C1917"/>
                          </a:solidFill>
                          <a:latin typeface="Segoe UI"/>
                        </a:rPr>
                        <a:t>PRISMA-informed systematic review</a:t>
                      </a:r>
                    </a:p>
                  </a:txBody>
                  <a:tcPr marL="54864" marR="54864" marT="36576">
                    <a:solidFill>
                      <a:srgbClr val="FFFCF7"/>
                    </a:solidFill>
                  </a:tcPr>
                </a:tc>
                <a:tc>
                  <a:txBody>
                    <a:bodyPr/>
                    <a:lstStyle/>
                    <a:p>
                      <a:r>
                        <a:rPr sz="1000" b="0">
                          <a:solidFill>
                            <a:srgbClr val="1C1917"/>
                          </a:solidFill>
                          <a:latin typeface="Segoe UI"/>
                        </a:rPr>
                        <a:t>27 peer-reviewed articles and papers</a:t>
                      </a:r>
                    </a:p>
                  </a:txBody>
                  <a:tcPr marL="54864" marR="54864" marT="36576">
                    <a:solidFill>
                      <a:srgbClr val="FFFCF7"/>
                    </a:solidFill>
                  </a:tcPr>
                </a:tc>
                <a:tc>
                  <a:txBody>
                    <a:bodyPr/>
                    <a:lstStyle/>
                    <a:p>
                      <a:r>
                        <a:rPr sz="1000" b="0">
                          <a:solidFill>
                            <a:srgbClr val="1C1917"/>
                          </a:solidFill>
                          <a:latin typeface="Segoe UI"/>
                        </a:rPr>
                        <a:t>Cost, usability, integrity, privacy</a:t>
                      </a:r>
                    </a:p>
                  </a:txBody>
                  <a:tcPr marL="54864" marR="54864" marT="36576">
                    <a:solidFill>
                      <a:srgbClr val="FFFCF7"/>
                    </a:solidFill>
                  </a:tcPr>
                </a:tc>
                <a:tc>
                  <a:txBody>
                    <a:bodyPr/>
                    <a:lstStyle/>
                    <a:p>
                      <a:r>
                        <a:rPr sz="1000" b="0">
                          <a:solidFill>
                            <a:srgbClr val="1C1917"/>
                          </a:solidFill>
                          <a:latin typeface="Segoe UI"/>
                        </a:rPr>
                        <a:t>Institutions chose on cost and ease; student privacy was often absent</a:t>
                      </a:r>
                    </a:p>
                  </a:txBody>
                  <a:tcPr marL="54864" marR="54864" marT="36576">
                    <a:solidFill>
                      <a:srgbClr val="FFFCF7"/>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411480" y="2962656"/>
            <a:ext cx="10972800" cy="237744"/>
          </a:xfrm>
          <a:prstGeom prst="rect">
            <a:avLst/>
          </a:prstGeom>
          <a:noFill/>
        </p:spPr>
        <p:txBody>
          <a:bodyPr wrap="square"/>
          <a:lstStyle/>
          <a:p>
            <a:pPr algn="l"/>
            <a:r>
              <a:rPr sz="1200" b="1">
                <a:solidFill>
                  <a:srgbClr val="0F6E6B"/>
                </a:solidFill>
                <a:latin typeface="Segoe UI"/>
              </a:rPr>
              <a:t>Lockdown browsers</a:t>
            </a:r>
          </a:p>
        </p:txBody>
      </p:sp>
      <p:graphicFrame>
        <p:nvGraphicFramePr>
          <p:cNvPr id="12" name="Table 11"/>
          <p:cNvGraphicFramePr>
            <a:graphicFrameLocks noGrp="1"/>
          </p:cNvGraphicFramePr>
          <p:nvPr/>
        </p:nvGraphicFramePr>
        <p:xfrm>
          <a:off x="365760" y="3200400"/>
          <a:ext cx="11430000" cy="1540764"/>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gridCol w="2331720">
                  <a:extLst>
                    <a:ext uri="{9D8B030D-6E8A-4147-A177-3AD203B41FA5}">
                      <a16:colId xmlns:a16="http://schemas.microsoft.com/office/drawing/2014/main" val="20004"/>
                    </a:ext>
                  </a:extLst>
                </a:gridCol>
              </a:tblGrid>
              <a:tr h="379476">
                <a:tc>
                  <a:txBody>
                    <a:bodyPr/>
                    <a:lstStyle/>
                    <a:p>
                      <a:r>
                        <a:rPr sz="1000" b="1">
                          <a:solidFill>
                            <a:srgbClr val="FFFFFF"/>
                          </a:solidFill>
                          <a:latin typeface="Segoe UI"/>
                        </a:rPr>
                        <a:t>Author and year</a:t>
                      </a:r>
                    </a:p>
                  </a:txBody>
                  <a:tcPr marL="54864" marR="54864" marT="36576">
                    <a:solidFill>
                      <a:srgbClr val="12263A"/>
                    </a:solidFill>
                  </a:tcPr>
                </a:tc>
                <a:tc>
                  <a:txBody>
                    <a:bodyPr/>
                    <a:lstStyle/>
                    <a:p>
                      <a:r>
                        <a:rPr sz="1000" b="1">
                          <a:solidFill>
                            <a:srgbClr val="FFFFFF"/>
                          </a:solidFill>
                          <a:latin typeface="Segoe UI"/>
                        </a:rPr>
                        <a:t>Method</a:t>
                      </a:r>
                    </a:p>
                  </a:txBody>
                  <a:tcPr marL="54864" marR="54864" marT="36576">
                    <a:solidFill>
                      <a:srgbClr val="12263A"/>
                    </a:solidFill>
                  </a:tcPr>
                </a:tc>
                <a:tc>
                  <a:txBody>
                    <a:bodyPr/>
                    <a:lstStyle/>
                    <a:p>
                      <a:r>
                        <a:rPr sz="1000" b="1">
                          <a:solidFill>
                            <a:srgbClr val="FFFFFF"/>
                          </a:solidFill>
                          <a:latin typeface="Segoe UI"/>
                        </a:rPr>
                        <a:t>Dataset or testbed</a:t>
                      </a:r>
                    </a:p>
                  </a:txBody>
                  <a:tcPr marL="54864" marR="54864" marT="36576">
                    <a:solidFill>
                      <a:srgbClr val="12263A"/>
                    </a:solidFill>
                  </a:tcPr>
                </a:tc>
                <a:tc>
                  <a:txBody>
                    <a:bodyPr/>
                    <a:lstStyle/>
                    <a:p>
                      <a:r>
                        <a:rPr sz="1000" b="1">
                          <a:solidFill>
                            <a:srgbClr val="FFFFFF"/>
                          </a:solidFill>
                          <a:latin typeface="Segoe UI"/>
                        </a:rPr>
                        <a:t>Key parameters</a:t>
                      </a:r>
                    </a:p>
                  </a:txBody>
                  <a:tcPr marL="54864" marR="54864" marT="36576">
                    <a:solidFill>
                      <a:srgbClr val="12263A"/>
                    </a:solidFill>
                  </a:tcPr>
                </a:tc>
                <a:tc>
                  <a:txBody>
                    <a:bodyPr/>
                    <a:lstStyle/>
                    <a:p>
                      <a:r>
                        <a:rPr sz="1000" b="1">
                          <a:solidFill>
                            <a:srgbClr val="FFFFFF"/>
                          </a:solidFill>
                          <a:latin typeface="Segoe UI"/>
                        </a:rPr>
                        <a:t>Limitation</a:t>
                      </a:r>
                    </a:p>
                  </a:txBody>
                  <a:tcPr marL="54864" marR="54864" marT="36576">
                    <a:solidFill>
                      <a:srgbClr val="12263A"/>
                    </a:solidFill>
                  </a:tcPr>
                </a:tc>
                <a:extLst>
                  <a:ext uri="{0D108BD9-81ED-4DB2-BD59-A6C34878D82A}">
                    <a16:rowId xmlns:a16="http://schemas.microsoft.com/office/drawing/2014/main" val="10000"/>
                  </a:ext>
                </a:extLst>
              </a:tr>
              <a:tr h="379476">
                <a:tc>
                  <a:txBody>
                    <a:bodyPr/>
                    <a:lstStyle/>
                    <a:p>
                      <a:r>
                        <a:rPr sz="1000" b="0">
                          <a:solidFill>
                            <a:srgbClr val="1C1917"/>
                          </a:solidFill>
                          <a:latin typeface="Segoe UI"/>
                        </a:rPr>
                        <a:t>Burgess, Ginsberg, Felten and Cohney, 2022</a:t>
                      </a:r>
                    </a:p>
                  </a:txBody>
                  <a:tcPr marL="54864" marR="54864" marT="36576">
                    <a:solidFill>
                      <a:srgbClr val="FFFCF7"/>
                    </a:solidFill>
                  </a:tcPr>
                </a:tc>
                <a:tc>
                  <a:txBody>
                    <a:bodyPr/>
                    <a:lstStyle/>
                    <a:p>
                      <a:r>
                        <a:rPr sz="1000" b="0">
                          <a:solidFill>
                            <a:srgbClr val="1C1917"/>
                          </a:solidFill>
                          <a:latin typeface="Segoe UI"/>
                        </a:rPr>
                        <a:t>Reverse engineering of four exam suites</a:t>
                      </a:r>
                    </a:p>
                  </a:txBody>
                  <a:tcPr marL="54864" marR="54864" marT="36576">
                    <a:solidFill>
                      <a:srgbClr val="FFFCF7"/>
                    </a:solidFill>
                  </a:tcPr>
                </a:tc>
                <a:tc>
                  <a:txBody>
                    <a:bodyPr/>
                    <a:lstStyle/>
                    <a:p>
                      <a:r>
                        <a:rPr sz="1000" b="0">
                          <a:solidFill>
                            <a:srgbClr val="1C1917"/>
                          </a:solidFill>
                          <a:latin typeface="Segoe UI"/>
                        </a:rPr>
                        <a:t>Examplify, Exam360, Exam4, Electronic Blue Book</a:t>
                      </a:r>
                    </a:p>
                  </a:txBody>
                  <a:tcPr marL="54864" marR="54864" marT="36576">
                    <a:solidFill>
                      <a:srgbClr val="FFFCF7"/>
                    </a:solidFill>
                  </a:tcPr>
                </a:tc>
                <a:tc>
                  <a:txBody>
                    <a:bodyPr/>
                    <a:lstStyle/>
                    <a:p>
                      <a:r>
                        <a:rPr sz="1000" b="0">
                          <a:solidFill>
                            <a:srgbClr val="1C1917"/>
                          </a:solidFill>
                          <a:latin typeface="Segoe UI"/>
                        </a:rPr>
                        <a:t>Process allow-lists and facial checks</a:t>
                      </a:r>
                    </a:p>
                  </a:txBody>
                  <a:tcPr marL="54864" marR="54864" marT="36576">
                    <a:solidFill>
                      <a:srgbClr val="FFFCF7"/>
                    </a:solidFill>
                  </a:tcPr>
                </a:tc>
                <a:tc>
                  <a:txBody>
                    <a:bodyPr/>
                    <a:lstStyle/>
                    <a:p>
                      <a:r>
                        <a:rPr sz="1000" b="0">
                          <a:solidFill>
                            <a:srgbClr val="1C1917"/>
                          </a:solidFill>
                          <a:latin typeface="Segoe UI"/>
                        </a:rPr>
                        <a:t>Renaming a process bypasses the allow-list</a:t>
                      </a:r>
                    </a:p>
                  </a:txBody>
                  <a:tcPr marL="54864" marR="54864" marT="36576">
                    <a:solidFill>
                      <a:srgbClr val="FFFCF7"/>
                    </a:solidFill>
                  </a:tcPr>
                </a:tc>
                <a:extLst>
                  <a:ext uri="{0D108BD9-81ED-4DB2-BD59-A6C34878D82A}">
                    <a16:rowId xmlns:a16="http://schemas.microsoft.com/office/drawing/2014/main" val="10001"/>
                  </a:ext>
                </a:extLst>
              </a:tr>
              <a:tr h="379476">
                <a:tc>
                  <a:txBody>
                    <a:bodyPr/>
                    <a:lstStyle/>
                    <a:p>
                      <a:r>
                        <a:rPr sz="1000" b="0">
                          <a:solidFill>
                            <a:srgbClr val="1C1917"/>
                          </a:solidFill>
                          <a:latin typeface="Segoe UI"/>
                        </a:rPr>
                        <a:t>Mohammed and Ali, 2022</a:t>
                      </a:r>
                    </a:p>
                  </a:txBody>
                  <a:tcPr marL="54864" marR="54864" marT="36576">
                    <a:solidFill>
                      <a:srgbClr val="F4F0E6"/>
                    </a:solidFill>
                  </a:tcPr>
                </a:tc>
                <a:tc>
                  <a:txBody>
                    <a:bodyPr/>
                    <a:lstStyle/>
                    <a:p>
                      <a:r>
                        <a:rPr sz="1000" b="0">
                          <a:solidFill>
                            <a:srgbClr val="1C1917"/>
                          </a:solidFill>
                          <a:latin typeface="Segoe UI"/>
                        </a:rPr>
                        <a:t>Case study of Safe Exam Browser with Moodle</a:t>
                      </a:r>
                    </a:p>
                  </a:txBody>
                  <a:tcPr marL="54864" marR="54864" marT="36576">
                    <a:solidFill>
                      <a:srgbClr val="F4F0E6"/>
                    </a:solidFill>
                  </a:tcPr>
                </a:tc>
                <a:tc>
                  <a:txBody>
                    <a:bodyPr/>
                    <a:lstStyle/>
                    <a:p>
                      <a:r>
                        <a:rPr sz="1000" b="0">
                          <a:solidFill>
                            <a:srgbClr val="1C1917"/>
                          </a:solidFill>
                          <a:latin typeface="Segoe UI"/>
                        </a:rPr>
                        <a:t>One e-exam, with and without SEB; Wireshark and Registry Changes View</a:t>
                      </a:r>
                    </a:p>
                  </a:txBody>
                  <a:tcPr marL="54864" marR="54864" marT="36576">
                    <a:solidFill>
                      <a:srgbClr val="F4F0E6"/>
                    </a:solidFill>
                  </a:tcPr>
                </a:tc>
                <a:tc>
                  <a:txBody>
                    <a:bodyPr/>
                    <a:lstStyle/>
                    <a:p>
                      <a:r>
                        <a:rPr sz="1000" b="0">
                          <a:solidFill>
                            <a:srgbClr val="1C1917"/>
                          </a:solidFill>
                          <a:latin typeface="Segoe UI"/>
                        </a:rPr>
                        <a:t>Local programs, Windows tools, network use</a:t>
                      </a:r>
                    </a:p>
                  </a:txBody>
                  <a:tcPr marL="54864" marR="54864" marT="36576">
                    <a:solidFill>
                      <a:srgbClr val="F4F0E6"/>
                    </a:solidFill>
                  </a:tcPr>
                </a:tc>
                <a:tc>
                  <a:txBody>
                    <a:bodyPr/>
                    <a:lstStyle/>
                    <a:p>
                      <a:r>
                        <a:rPr sz="1000" b="0">
                          <a:solidFill>
                            <a:srgbClr val="1C1917"/>
                          </a:solidFill>
                          <a:latin typeface="Segoe UI"/>
                        </a:rPr>
                        <a:t>Lockdown reduces local access and remains bypassable</a:t>
                      </a:r>
                    </a:p>
                  </a:txBody>
                  <a:tcPr marL="54864" marR="54864" marT="36576">
                    <a:solidFill>
                      <a:srgbClr val="F4F0E6"/>
                    </a:solidFill>
                  </a:tcPr>
                </a:tc>
                <a:extLst>
                  <a:ext uri="{0D108BD9-81ED-4DB2-BD59-A6C34878D82A}">
                    <a16:rowId xmlns:a16="http://schemas.microsoft.com/office/drawing/2014/main" val="10002"/>
                  </a:ext>
                </a:extLst>
              </a:tr>
              <a:tr h="379476">
                <a:tc>
                  <a:txBody>
                    <a:bodyPr/>
                    <a:lstStyle/>
                    <a:p>
                      <a:r>
                        <a:rPr sz="1000" b="0">
                          <a:solidFill>
                            <a:srgbClr val="1C1917"/>
                          </a:solidFill>
                          <a:latin typeface="Segoe UI"/>
                        </a:rPr>
                        <a:t>Slusky, 2020  ·  foundational</a:t>
                      </a:r>
                    </a:p>
                  </a:txBody>
                  <a:tcPr marL="54864" marR="54864" marT="36576">
                    <a:solidFill>
                      <a:srgbClr val="FFFCF7"/>
                    </a:solidFill>
                  </a:tcPr>
                </a:tc>
                <a:tc>
                  <a:txBody>
                    <a:bodyPr/>
                    <a:lstStyle/>
                    <a:p>
                      <a:r>
                        <a:rPr sz="1000" b="0">
                          <a:solidFill>
                            <a:srgbClr val="1C1917"/>
                          </a:solidFill>
                          <a:latin typeface="Segoe UI"/>
                        </a:rPr>
                        <a:t>Cybersecurity review of proctoring systems</a:t>
                      </a:r>
                    </a:p>
                  </a:txBody>
                  <a:tcPr marL="54864" marR="54864" marT="36576">
                    <a:solidFill>
                      <a:srgbClr val="FFFCF7"/>
                    </a:solidFill>
                  </a:tcPr>
                </a:tc>
                <a:tc>
                  <a:txBody>
                    <a:bodyPr/>
                    <a:lstStyle/>
                    <a:p>
                      <a:r>
                        <a:rPr sz="1000" b="0">
                          <a:solidFill>
                            <a:srgbClr val="1C1917"/>
                          </a:solidFill>
                          <a:latin typeface="Segoe UI"/>
                        </a:rPr>
                        <a:t>Commercial platforms including lockdown browsers</a:t>
                      </a:r>
                    </a:p>
                  </a:txBody>
                  <a:tcPr marL="54864" marR="54864" marT="36576">
                    <a:solidFill>
                      <a:srgbClr val="FFFCF7"/>
                    </a:solidFill>
                  </a:tcPr>
                </a:tc>
                <a:tc>
                  <a:txBody>
                    <a:bodyPr/>
                    <a:lstStyle/>
                    <a:p>
                      <a:r>
                        <a:rPr sz="1000" b="0">
                          <a:solidFill>
                            <a:srgbClr val="1C1917"/>
                          </a:solidFill>
                          <a:latin typeface="Segoe UI"/>
                        </a:rPr>
                        <a:t>Authentication, process control, recording</a:t>
                      </a:r>
                    </a:p>
                  </a:txBody>
                  <a:tcPr marL="54864" marR="54864" marT="36576">
                    <a:solidFill>
                      <a:srgbClr val="FFFCF7"/>
                    </a:solidFill>
                  </a:tcPr>
                </a:tc>
                <a:tc>
                  <a:txBody>
                    <a:bodyPr/>
                    <a:lstStyle/>
                    <a:p>
                      <a:r>
                        <a:rPr sz="1000" b="0">
                          <a:solidFill>
                            <a:srgbClr val="1C1917"/>
                          </a:solidFill>
                          <a:latin typeface="Segoe UI"/>
                        </a:rPr>
                        <a:t>Names the attack surface; does not publish a bypass-resistant rule</a:t>
                      </a:r>
                    </a:p>
                  </a:txBody>
                  <a:tcPr marL="54864" marR="54864" marT="36576">
                    <a:solidFill>
                      <a:srgbClr val="FFFCF7"/>
                    </a:solidFill>
                  </a:tcPr>
                </a:tc>
                <a:extLst>
                  <a:ext uri="{0D108BD9-81ED-4DB2-BD59-A6C34878D82A}">
                    <a16:rowId xmlns:a16="http://schemas.microsoft.com/office/drawing/2014/main" val="10003"/>
                  </a:ext>
                </a:extLst>
              </a:tr>
            </a:tbl>
          </a:graphicData>
        </a:graphic>
      </p:graphicFrame>
      <p:sp>
        <p:nvSpPr>
          <p:cNvPr id="13" name="TextBox 12"/>
          <p:cNvSpPr txBox="1"/>
          <p:nvPr/>
        </p:nvSpPr>
        <p:spPr>
          <a:xfrm>
            <a:off x="411480" y="4828032"/>
            <a:ext cx="10972800" cy="237744"/>
          </a:xfrm>
          <a:prstGeom prst="rect">
            <a:avLst/>
          </a:prstGeom>
          <a:noFill/>
        </p:spPr>
        <p:txBody>
          <a:bodyPr wrap="square"/>
          <a:lstStyle/>
          <a:p>
            <a:pPr algn="l"/>
            <a:r>
              <a:rPr sz="1200" b="1">
                <a:solidFill>
                  <a:srgbClr val="0F6E6B"/>
                </a:solidFill>
                <a:latin typeface="Segoe UI"/>
              </a:rPr>
              <a:t>Browser-only signals</a:t>
            </a:r>
          </a:p>
        </p:txBody>
      </p:sp>
      <p:graphicFrame>
        <p:nvGraphicFramePr>
          <p:cNvPr id="14" name="Table 13"/>
          <p:cNvGraphicFramePr>
            <a:graphicFrameLocks noGrp="1"/>
          </p:cNvGraphicFramePr>
          <p:nvPr/>
        </p:nvGraphicFramePr>
        <p:xfrm>
          <a:off x="365760" y="5065776"/>
          <a:ext cx="11430000" cy="725424"/>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gridCol w="2331720">
                  <a:extLst>
                    <a:ext uri="{9D8B030D-6E8A-4147-A177-3AD203B41FA5}">
                      <a16:colId xmlns:a16="http://schemas.microsoft.com/office/drawing/2014/main" val="20004"/>
                    </a:ext>
                  </a:extLst>
                </a:gridCol>
              </a:tblGrid>
              <a:tr h="338328">
                <a:tc>
                  <a:txBody>
                    <a:bodyPr/>
                    <a:lstStyle/>
                    <a:p>
                      <a:r>
                        <a:rPr sz="1000" b="1">
                          <a:solidFill>
                            <a:srgbClr val="FFFFFF"/>
                          </a:solidFill>
                          <a:latin typeface="Segoe UI"/>
                        </a:rPr>
                        <a:t>Author and year</a:t>
                      </a:r>
                    </a:p>
                  </a:txBody>
                  <a:tcPr marL="54864" marR="54864" marT="36576">
                    <a:solidFill>
                      <a:srgbClr val="12263A"/>
                    </a:solidFill>
                  </a:tcPr>
                </a:tc>
                <a:tc>
                  <a:txBody>
                    <a:bodyPr/>
                    <a:lstStyle/>
                    <a:p>
                      <a:r>
                        <a:rPr sz="1000" b="1">
                          <a:solidFill>
                            <a:srgbClr val="FFFFFF"/>
                          </a:solidFill>
                          <a:latin typeface="Segoe UI"/>
                        </a:rPr>
                        <a:t>Method</a:t>
                      </a:r>
                    </a:p>
                  </a:txBody>
                  <a:tcPr marL="54864" marR="54864" marT="36576">
                    <a:solidFill>
                      <a:srgbClr val="12263A"/>
                    </a:solidFill>
                  </a:tcPr>
                </a:tc>
                <a:tc>
                  <a:txBody>
                    <a:bodyPr/>
                    <a:lstStyle/>
                    <a:p>
                      <a:r>
                        <a:rPr sz="1000" b="1">
                          <a:solidFill>
                            <a:srgbClr val="FFFFFF"/>
                          </a:solidFill>
                          <a:latin typeface="Segoe UI"/>
                        </a:rPr>
                        <a:t>Dataset or testbed</a:t>
                      </a:r>
                    </a:p>
                  </a:txBody>
                  <a:tcPr marL="54864" marR="54864" marT="36576">
                    <a:solidFill>
                      <a:srgbClr val="12263A"/>
                    </a:solidFill>
                  </a:tcPr>
                </a:tc>
                <a:tc>
                  <a:txBody>
                    <a:bodyPr/>
                    <a:lstStyle/>
                    <a:p>
                      <a:r>
                        <a:rPr sz="1000" b="1">
                          <a:solidFill>
                            <a:srgbClr val="FFFFFF"/>
                          </a:solidFill>
                          <a:latin typeface="Segoe UI"/>
                        </a:rPr>
                        <a:t>Key parameters</a:t>
                      </a:r>
                    </a:p>
                  </a:txBody>
                  <a:tcPr marL="54864" marR="54864" marT="36576">
                    <a:solidFill>
                      <a:srgbClr val="12263A"/>
                    </a:solidFill>
                  </a:tcPr>
                </a:tc>
                <a:tc>
                  <a:txBody>
                    <a:bodyPr/>
                    <a:lstStyle/>
                    <a:p>
                      <a:r>
                        <a:rPr sz="1000" b="1">
                          <a:solidFill>
                            <a:srgbClr val="FFFFFF"/>
                          </a:solidFill>
                          <a:latin typeface="Segoe UI"/>
                        </a:rPr>
                        <a:t>Limitation</a:t>
                      </a:r>
                    </a:p>
                  </a:txBody>
                  <a:tcPr marL="54864" marR="54864" marT="36576">
                    <a:solidFill>
                      <a:srgbClr val="12263A"/>
                    </a:solidFill>
                  </a:tcPr>
                </a:tc>
                <a:extLst>
                  <a:ext uri="{0D108BD9-81ED-4DB2-BD59-A6C34878D82A}">
                    <a16:rowId xmlns:a16="http://schemas.microsoft.com/office/drawing/2014/main" val="10000"/>
                  </a:ext>
                </a:extLst>
              </a:tr>
              <a:tr h="338328">
                <a:tc>
                  <a:txBody>
                    <a:bodyPr/>
                    <a:lstStyle/>
                    <a:p>
                      <a:r>
                        <a:rPr sz="1000" b="0">
                          <a:solidFill>
                            <a:srgbClr val="1C1917"/>
                          </a:solidFill>
                          <a:latin typeface="Segoe UI"/>
                        </a:rPr>
                        <a:t>Diedenhofen and Musch, 2016  ·  foundational</a:t>
                      </a:r>
                    </a:p>
                  </a:txBody>
                  <a:tcPr marL="54864" marR="54864" marT="36576">
                    <a:solidFill>
                      <a:srgbClr val="FFFCF7"/>
                    </a:solidFill>
                  </a:tcPr>
                </a:tc>
                <a:tc>
                  <a:txBody>
                    <a:bodyPr/>
                    <a:lstStyle/>
                    <a:p>
                      <a:r>
                        <a:rPr sz="1000" b="0">
                          <a:solidFill>
                            <a:srgbClr val="1C1917"/>
                          </a:solidFill>
                          <a:latin typeface="Segoe UI"/>
                        </a:rPr>
                        <a:t>JavaScript page-focus detection</a:t>
                      </a:r>
                    </a:p>
                  </a:txBody>
                  <a:tcPr marL="54864" marR="54864" marT="36576">
                    <a:solidFill>
                      <a:srgbClr val="FFFCF7"/>
                    </a:solidFill>
                  </a:tcPr>
                </a:tc>
                <a:tc>
                  <a:txBody>
                    <a:bodyPr/>
                    <a:lstStyle/>
                    <a:p>
                      <a:r>
                        <a:rPr sz="1000" b="0">
                          <a:solidFill>
                            <a:srgbClr val="1C1917"/>
                          </a:solidFill>
                          <a:latin typeface="Segoe UI"/>
                        </a:rPr>
                        <a:t>Lab plus online samples (115 lab, 186 online; 510 online)</a:t>
                      </a:r>
                    </a:p>
                  </a:txBody>
                  <a:tcPr marL="54864" marR="54864" marT="36576">
                    <a:solidFill>
                      <a:srgbClr val="FFFCF7"/>
                    </a:solidFill>
                  </a:tcPr>
                </a:tc>
                <a:tc>
                  <a:txBody>
                    <a:bodyPr/>
                    <a:lstStyle/>
                    <a:p>
                      <a:r>
                        <a:rPr sz="1000" b="0">
                          <a:solidFill>
                            <a:srgbClr val="1C1917"/>
                          </a:solidFill>
                          <a:latin typeface="Segoe UI"/>
                        </a:rPr>
                        <a:t>Tab and window leave; sensitivity and specificity</a:t>
                      </a:r>
                    </a:p>
                  </a:txBody>
                  <a:tcPr marL="54864" marR="54864" marT="36576">
                    <a:solidFill>
                      <a:srgbClr val="FFFCF7"/>
                    </a:solidFill>
                  </a:tcPr>
                </a:tc>
                <a:tc>
                  <a:txBody>
                    <a:bodyPr/>
                    <a:lstStyle/>
                    <a:p>
                      <a:r>
                        <a:rPr sz="1000" b="0">
                          <a:solidFill>
                            <a:srgbClr val="1C1917"/>
                          </a:solidFill>
                          <a:latin typeface="Segoe UI"/>
                        </a:rPr>
                        <a:t>Knows the page was left, not which application opened</a:t>
                      </a:r>
                    </a:p>
                  </a:txBody>
                  <a:tcPr marL="54864" marR="54864" marT="36576">
                    <a:solidFill>
                      <a:srgbClr val="FFFCF7"/>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18</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A4</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A4   Webcam and AI proctors  (1/2)</a:t>
            </a:r>
          </a:p>
        </p:txBody>
      </p:sp>
      <p:graphicFrame>
        <p:nvGraphicFramePr>
          <p:cNvPr id="9" name="Table 8"/>
          <p:cNvGraphicFramePr>
            <a:graphicFrameLocks noGrp="1"/>
          </p:cNvGraphicFramePr>
          <p:nvPr/>
        </p:nvGraphicFramePr>
        <p:xfrm>
          <a:off x="365760" y="1115568"/>
          <a:ext cx="11430000" cy="4265168"/>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gridCol w="2331720">
                  <a:extLst>
                    <a:ext uri="{9D8B030D-6E8A-4147-A177-3AD203B41FA5}">
                      <a16:colId xmlns:a16="http://schemas.microsoft.com/office/drawing/2014/main" val="20004"/>
                    </a:ext>
                  </a:extLst>
                </a:gridCol>
              </a:tblGrid>
              <a:tr h="455168">
                <a:tc>
                  <a:txBody>
                    <a:bodyPr/>
                    <a:lstStyle/>
                    <a:p>
                      <a:r>
                        <a:rPr sz="1000" b="1">
                          <a:solidFill>
                            <a:srgbClr val="FFFFFF"/>
                          </a:solidFill>
                          <a:latin typeface="Segoe UI"/>
                        </a:rPr>
                        <a:t>Author and year</a:t>
                      </a:r>
                    </a:p>
                  </a:txBody>
                  <a:tcPr marL="54864" marR="54864" marT="36576">
                    <a:solidFill>
                      <a:srgbClr val="12263A"/>
                    </a:solidFill>
                  </a:tcPr>
                </a:tc>
                <a:tc>
                  <a:txBody>
                    <a:bodyPr/>
                    <a:lstStyle/>
                    <a:p>
                      <a:r>
                        <a:rPr sz="1000" b="1">
                          <a:solidFill>
                            <a:srgbClr val="FFFFFF"/>
                          </a:solidFill>
                          <a:latin typeface="Segoe UI"/>
                        </a:rPr>
                        <a:t>Method</a:t>
                      </a:r>
                    </a:p>
                  </a:txBody>
                  <a:tcPr marL="54864" marR="54864" marT="36576">
                    <a:solidFill>
                      <a:srgbClr val="12263A"/>
                    </a:solidFill>
                  </a:tcPr>
                </a:tc>
                <a:tc>
                  <a:txBody>
                    <a:bodyPr/>
                    <a:lstStyle/>
                    <a:p>
                      <a:r>
                        <a:rPr sz="1000" b="1">
                          <a:solidFill>
                            <a:srgbClr val="FFFFFF"/>
                          </a:solidFill>
                          <a:latin typeface="Segoe UI"/>
                        </a:rPr>
                        <a:t>Dataset or testbed</a:t>
                      </a:r>
                    </a:p>
                  </a:txBody>
                  <a:tcPr marL="54864" marR="54864" marT="36576">
                    <a:solidFill>
                      <a:srgbClr val="12263A"/>
                    </a:solidFill>
                  </a:tcPr>
                </a:tc>
                <a:tc>
                  <a:txBody>
                    <a:bodyPr/>
                    <a:lstStyle/>
                    <a:p>
                      <a:r>
                        <a:rPr sz="1000" b="1">
                          <a:solidFill>
                            <a:srgbClr val="FFFFFF"/>
                          </a:solidFill>
                          <a:latin typeface="Segoe UI"/>
                        </a:rPr>
                        <a:t>Key parameters</a:t>
                      </a:r>
                    </a:p>
                  </a:txBody>
                  <a:tcPr marL="54864" marR="54864" marT="36576">
                    <a:solidFill>
                      <a:srgbClr val="12263A"/>
                    </a:solidFill>
                  </a:tcPr>
                </a:tc>
                <a:tc>
                  <a:txBody>
                    <a:bodyPr/>
                    <a:lstStyle/>
                    <a:p>
                      <a:r>
                        <a:rPr sz="1000" b="1">
                          <a:solidFill>
                            <a:srgbClr val="FFFFFF"/>
                          </a:solidFill>
                          <a:latin typeface="Segoe UI"/>
                        </a:rPr>
                        <a:t>Limitation</a:t>
                      </a:r>
                    </a:p>
                  </a:txBody>
                  <a:tcPr marL="54864" marR="54864" marT="36576">
                    <a:solidFill>
                      <a:srgbClr val="12263A"/>
                    </a:solidFill>
                  </a:tcPr>
                </a:tc>
                <a:extLst>
                  <a:ext uri="{0D108BD9-81ED-4DB2-BD59-A6C34878D82A}">
                    <a16:rowId xmlns:a16="http://schemas.microsoft.com/office/drawing/2014/main" val="10000"/>
                  </a:ext>
                </a:extLst>
              </a:tr>
              <a:tr h="455168">
                <a:tc>
                  <a:txBody>
                    <a:bodyPr/>
                    <a:lstStyle/>
                    <a:p>
                      <a:r>
                        <a:rPr sz="1000" b="0">
                          <a:solidFill>
                            <a:srgbClr val="1C1917"/>
                          </a:solidFill>
                          <a:latin typeface="Segoe UI"/>
                        </a:rPr>
                        <a:t>Atoum, Chen, Liu, Hsu and Liu, 2017  ·  foundational</a:t>
                      </a:r>
                    </a:p>
                  </a:txBody>
                  <a:tcPr marL="54864" marR="54864" marT="36576">
                    <a:solidFill>
                      <a:srgbClr val="FFFCF7"/>
                    </a:solidFill>
                  </a:tcPr>
                </a:tc>
                <a:tc>
                  <a:txBody>
                    <a:bodyPr/>
                    <a:lstStyle/>
                    <a:p>
                      <a:r>
                        <a:rPr sz="1000" b="0">
                          <a:solidFill>
                            <a:srgbClr val="1C1917"/>
                          </a:solidFill>
                          <a:latin typeface="Segoe UI"/>
                        </a:rPr>
                        <a:t>Multimodal biometric proctor: webcam, wearcam, microphone</a:t>
                      </a:r>
                    </a:p>
                  </a:txBody>
                  <a:tcPr marL="54864" marR="54864" marT="36576">
                    <a:solidFill>
                      <a:srgbClr val="FFFCF7"/>
                    </a:solidFill>
                  </a:tcPr>
                </a:tc>
                <a:tc>
                  <a:txBody>
                    <a:bodyPr/>
                    <a:lstStyle/>
                    <a:p>
                      <a:r>
                        <a:rPr sz="1000" b="0">
                          <a:solidFill>
                            <a:srgbClr val="1C1917"/>
                          </a:solidFill>
                          <a:latin typeface="Segoe UI"/>
                        </a:rPr>
                        <a:t>24 subjects</a:t>
                      </a:r>
                    </a:p>
                  </a:txBody>
                  <a:tcPr marL="54864" marR="54864" marT="36576">
                    <a:solidFill>
                      <a:srgbClr val="FFFCF7"/>
                    </a:solidFill>
                  </a:tcPr>
                </a:tc>
                <a:tc>
                  <a:txBody>
                    <a:bodyPr/>
                    <a:lstStyle/>
                    <a:p>
                      <a:r>
                        <a:rPr sz="1000" b="0">
                          <a:solidFill>
                            <a:srgbClr val="1C1917"/>
                          </a:solidFill>
                          <a:latin typeface="Segoe UI"/>
                        </a:rPr>
                        <a:t>Six visual and audio components</a:t>
                      </a:r>
                    </a:p>
                  </a:txBody>
                  <a:tcPr marL="54864" marR="54864" marT="36576">
                    <a:solidFill>
                      <a:srgbClr val="FFFCF7"/>
                    </a:solidFill>
                  </a:tcPr>
                </a:tc>
                <a:tc>
                  <a:txBody>
                    <a:bodyPr/>
                    <a:lstStyle/>
                    <a:p>
                      <a:r>
                        <a:rPr sz="1000" b="0">
                          <a:solidFill>
                            <a:srgbClr val="1C1917"/>
                          </a:solidFill>
                          <a:latin typeface="Segoe UI"/>
                        </a:rPr>
                        <a:t>Requires biometrics and a second camera</a:t>
                      </a:r>
                    </a:p>
                  </a:txBody>
                  <a:tcPr marL="54864" marR="54864" marT="36576">
                    <a:solidFill>
                      <a:srgbClr val="FFFCF7"/>
                    </a:solidFill>
                  </a:tcPr>
                </a:tc>
                <a:extLst>
                  <a:ext uri="{0D108BD9-81ED-4DB2-BD59-A6C34878D82A}">
                    <a16:rowId xmlns:a16="http://schemas.microsoft.com/office/drawing/2014/main" val="10001"/>
                  </a:ext>
                </a:extLst>
              </a:tr>
              <a:tr h="455168">
                <a:tc>
                  <a:txBody>
                    <a:bodyPr/>
                    <a:lstStyle/>
                    <a:p>
                      <a:r>
                        <a:rPr sz="1000" b="0">
                          <a:solidFill>
                            <a:srgbClr val="1C1917"/>
                          </a:solidFill>
                          <a:latin typeface="Segoe UI"/>
                        </a:rPr>
                        <a:t>Bergmans, Bouali, Luttikhuis and Rensink, 2021</a:t>
                      </a:r>
                    </a:p>
                  </a:txBody>
                  <a:tcPr marL="54864" marR="54864" marT="36576">
                    <a:solidFill>
                      <a:srgbClr val="F4F0E6"/>
                    </a:solidFill>
                  </a:tcPr>
                </a:tc>
                <a:tc>
                  <a:txBody>
                    <a:bodyPr/>
                    <a:lstStyle/>
                    <a:p>
                      <a:r>
                        <a:rPr sz="1000" b="0">
                          <a:solidFill>
                            <a:srgbClr val="1C1917"/>
                          </a:solidFill>
                          <a:latin typeface="Segoe UI"/>
                        </a:rPr>
                        <a:t>Controlled experiment with an AI proctor</a:t>
                      </a:r>
                    </a:p>
                  </a:txBody>
                  <a:tcPr marL="54864" marR="54864" marT="36576">
                    <a:solidFill>
                      <a:srgbClr val="F4F0E6"/>
                    </a:solidFill>
                  </a:tcPr>
                </a:tc>
                <a:tc>
                  <a:txBody>
                    <a:bodyPr/>
                    <a:lstStyle/>
                    <a:p>
                      <a:r>
                        <a:rPr sz="1000" b="0">
                          <a:solidFill>
                            <a:srgbClr val="1C1917"/>
                          </a:solidFill>
                          <a:latin typeface="Segoe UI"/>
                        </a:rPr>
                        <a:t>30 computer-science students; 6 asked to cheat</a:t>
                      </a:r>
                    </a:p>
                  </a:txBody>
                  <a:tcPr marL="54864" marR="54864" marT="36576">
                    <a:solidFill>
                      <a:srgbClr val="F4F0E6"/>
                    </a:solidFill>
                  </a:tcPr>
                </a:tc>
                <a:tc>
                  <a:txBody>
                    <a:bodyPr/>
                    <a:lstStyle/>
                    <a:p>
                      <a:r>
                        <a:rPr sz="1000" b="0">
                          <a:solidFill>
                            <a:srgbClr val="1C1917"/>
                          </a:solidFill>
                          <a:latin typeface="Segoe UI"/>
                        </a:rPr>
                        <a:t>Automatic flags versus a later human check</a:t>
                      </a:r>
                    </a:p>
                  </a:txBody>
                  <a:tcPr marL="54864" marR="54864" marT="36576">
                    <a:solidFill>
                      <a:srgbClr val="F4F0E6"/>
                    </a:solidFill>
                  </a:tcPr>
                </a:tc>
                <a:tc>
                  <a:txBody>
                    <a:bodyPr/>
                    <a:lstStyle/>
                    <a:p>
                      <a:r>
                        <a:rPr sz="1000" b="0">
                          <a:solidFill>
                            <a:srgbClr val="1C1917"/>
                          </a:solidFill>
                          <a:latin typeface="Segoe UI"/>
                        </a:rPr>
                        <a:t>The model flagged none of the six cheaters</a:t>
                      </a:r>
                    </a:p>
                  </a:txBody>
                  <a:tcPr marL="54864" marR="54864" marT="36576">
                    <a:solidFill>
                      <a:srgbClr val="F4F0E6"/>
                    </a:solidFill>
                  </a:tcPr>
                </a:tc>
                <a:extLst>
                  <a:ext uri="{0D108BD9-81ED-4DB2-BD59-A6C34878D82A}">
                    <a16:rowId xmlns:a16="http://schemas.microsoft.com/office/drawing/2014/main" val="10002"/>
                  </a:ext>
                </a:extLst>
              </a:tr>
              <a:tr h="455168">
                <a:tc>
                  <a:txBody>
                    <a:bodyPr/>
                    <a:lstStyle/>
                    <a:p>
                      <a:r>
                        <a:rPr sz="1000" b="0">
                          <a:solidFill>
                            <a:srgbClr val="1C1917"/>
                          </a:solidFill>
                          <a:latin typeface="Segoe UI"/>
                        </a:rPr>
                        <a:t>Erdem and Karabatak, 2025</a:t>
                      </a:r>
                    </a:p>
                  </a:txBody>
                  <a:tcPr marL="54864" marR="54864" marT="36576">
                    <a:solidFill>
                      <a:srgbClr val="FFFCF7"/>
                    </a:solidFill>
                  </a:tcPr>
                </a:tc>
                <a:tc>
                  <a:txBody>
                    <a:bodyPr/>
                    <a:lstStyle/>
                    <a:p>
                      <a:r>
                        <a:rPr sz="1000" b="0">
                          <a:solidFill>
                            <a:srgbClr val="1C1917"/>
                          </a:solidFill>
                          <a:latin typeface="Segoe UI"/>
                        </a:rPr>
                        <a:t>Deep-learning and machine-learning classifiers</a:t>
                      </a:r>
                    </a:p>
                  </a:txBody>
                  <a:tcPr marL="54864" marR="54864" marT="36576">
                    <a:solidFill>
                      <a:srgbClr val="FFFCF7"/>
                    </a:solidFill>
                  </a:tcPr>
                </a:tc>
                <a:tc>
                  <a:txBody>
                    <a:bodyPr/>
                    <a:lstStyle/>
                    <a:p>
                      <a:r>
                        <a:rPr sz="1000" b="0">
                          <a:solidFill>
                            <a:srgbClr val="1C1917"/>
                          </a:solidFill>
                          <a:latin typeface="Segoe UI"/>
                        </a:rPr>
                        <a:t>Visual behaviour in online exams</a:t>
                      </a:r>
                    </a:p>
                  </a:txBody>
                  <a:tcPr marL="54864" marR="54864" marT="36576">
                    <a:solidFill>
                      <a:srgbClr val="FFFCF7"/>
                    </a:solidFill>
                  </a:tcPr>
                </a:tc>
                <a:tc>
                  <a:txBody>
                    <a:bodyPr/>
                    <a:lstStyle/>
                    <a:p>
                      <a:r>
                        <a:rPr sz="1000" b="0">
                          <a:solidFill>
                            <a:srgbClr val="1C1917"/>
                          </a:solidFill>
                          <a:latin typeface="Segoe UI"/>
                        </a:rPr>
                        <a:t>XGBoost with SHAP and LIME explanations</a:t>
                      </a:r>
                    </a:p>
                  </a:txBody>
                  <a:tcPr marL="54864" marR="54864" marT="36576">
                    <a:solidFill>
                      <a:srgbClr val="FFFCF7"/>
                    </a:solidFill>
                  </a:tcPr>
                </a:tc>
                <a:tc>
                  <a:txBody>
                    <a:bodyPr/>
                    <a:lstStyle/>
                    <a:p>
                      <a:r>
                        <a:rPr sz="1000" b="0">
                          <a:solidFill>
                            <a:srgbClr val="1C1917"/>
                          </a:solidFill>
                          <a:latin typeface="Segoe UI"/>
                        </a:rPr>
                        <a:t>The explanation is added after the decision, and the cues are visual</a:t>
                      </a:r>
                    </a:p>
                  </a:txBody>
                  <a:tcPr marL="54864" marR="54864" marT="36576">
                    <a:solidFill>
                      <a:srgbClr val="FFFCF7"/>
                    </a:solidFill>
                  </a:tcPr>
                </a:tc>
                <a:extLst>
                  <a:ext uri="{0D108BD9-81ED-4DB2-BD59-A6C34878D82A}">
                    <a16:rowId xmlns:a16="http://schemas.microsoft.com/office/drawing/2014/main" val="10003"/>
                  </a:ext>
                </a:extLst>
              </a:tr>
              <a:tr h="455168">
                <a:tc>
                  <a:txBody>
                    <a:bodyPr/>
                    <a:lstStyle/>
                    <a:p>
                      <a:r>
                        <a:rPr sz="1000" b="0">
                          <a:solidFill>
                            <a:srgbClr val="1C1917"/>
                          </a:solidFill>
                          <a:latin typeface="Segoe UI"/>
                        </a:rPr>
                        <a:t>Fidas, Belk, Constantinides, Portugal, Martins, Pietron, Pitsillides and Avouris, 2023</a:t>
                      </a:r>
                    </a:p>
                  </a:txBody>
                  <a:tcPr marL="54864" marR="54864" marT="36576">
                    <a:solidFill>
                      <a:srgbClr val="F4F0E6"/>
                    </a:solidFill>
                  </a:tcPr>
                </a:tc>
                <a:tc>
                  <a:txBody>
                    <a:bodyPr/>
                    <a:lstStyle/>
                    <a:p>
                      <a:r>
                        <a:rPr sz="1000" b="0">
                          <a:solidFill>
                            <a:srgbClr val="1C1917"/>
                          </a:solidFill>
                          <a:latin typeface="Segoe UI"/>
                        </a:rPr>
                        <a:t>Longitudinal study of continuous identity checks</a:t>
                      </a:r>
                    </a:p>
                  </a:txBody>
                  <a:tcPr marL="54864" marR="54864" marT="36576">
                    <a:solidFill>
                      <a:srgbClr val="F4F0E6"/>
                    </a:solidFill>
                  </a:tcPr>
                </a:tc>
                <a:tc>
                  <a:txBody>
                    <a:bodyPr/>
                    <a:lstStyle/>
                    <a:p>
                      <a:r>
                        <a:rPr sz="1000" b="0">
                          <a:solidFill>
                            <a:srgbClr val="1C1917"/>
                          </a:solidFill>
                          <a:latin typeface="Segoe UI"/>
                        </a:rPr>
                        <a:t>TRUSTID proof of concept in tertiary settings</a:t>
                      </a:r>
                    </a:p>
                  </a:txBody>
                  <a:tcPr marL="54864" marR="54864" marT="36576">
                    <a:solidFill>
                      <a:srgbClr val="F4F0E6"/>
                    </a:solidFill>
                  </a:tcPr>
                </a:tc>
                <a:tc>
                  <a:txBody>
                    <a:bodyPr/>
                    <a:lstStyle/>
                    <a:p>
                      <a:r>
                        <a:rPr sz="1000" b="0">
                          <a:solidFill>
                            <a:srgbClr val="1C1917"/>
                          </a:solidFill>
                          <a:latin typeface="Segoe UI"/>
                        </a:rPr>
                        <a:t>Face embedding and voice identification</a:t>
                      </a:r>
                    </a:p>
                  </a:txBody>
                  <a:tcPr marL="54864" marR="54864" marT="36576">
                    <a:solidFill>
                      <a:srgbClr val="F4F0E6"/>
                    </a:solidFill>
                  </a:tcPr>
                </a:tc>
                <a:tc>
                  <a:txBody>
                    <a:bodyPr/>
                    <a:lstStyle/>
                    <a:p>
                      <a:r>
                        <a:rPr sz="1000" b="0">
                          <a:solidFill>
                            <a:srgbClr val="1C1917"/>
                          </a:solidFill>
                          <a:latin typeface="Segoe UI"/>
                        </a:rPr>
                        <a:t>Still depends on face and voice, which this project will not collect</a:t>
                      </a:r>
                    </a:p>
                  </a:txBody>
                  <a:tcPr marL="54864" marR="54864" marT="36576">
                    <a:solidFill>
                      <a:srgbClr val="F4F0E6"/>
                    </a:solidFill>
                  </a:tcPr>
                </a:tc>
                <a:extLst>
                  <a:ext uri="{0D108BD9-81ED-4DB2-BD59-A6C34878D82A}">
                    <a16:rowId xmlns:a16="http://schemas.microsoft.com/office/drawing/2014/main" val="10004"/>
                  </a:ext>
                </a:extLst>
              </a:tr>
              <a:tr h="455168">
                <a:tc>
                  <a:txBody>
                    <a:bodyPr/>
                    <a:lstStyle/>
                    <a:p>
                      <a:r>
                        <a:rPr sz="1000" b="0">
                          <a:solidFill>
                            <a:srgbClr val="1C1917"/>
                          </a:solidFill>
                          <a:latin typeface="Segoe UI"/>
                        </a:rPr>
                        <a:t>Hylton, Levy and Dringus, 2016  ·  foundational</a:t>
                      </a:r>
                    </a:p>
                  </a:txBody>
                  <a:tcPr marL="54864" marR="54864" marT="36576">
                    <a:solidFill>
                      <a:srgbClr val="FFFCF7"/>
                    </a:solidFill>
                  </a:tcPr>
                </a:tc>
                <a:tc>
                  <a:txBody>
                    <a:bodyPr/>
                    <a:lstStyle/>
                    <a:p>
                      <a:r>
                        <a:rPr sz="1000" b="0">
                          <a:solidFill>
                            <a:srgbClr val="1C1917"/>
                          </a:solidFill>
                          <a:latin typeface="Segoe UI"/>
                        </a:rPr>
                        <a:t>Webcam as a deterrent</a:t>
                      </a:r>
                    </a:p>
                  </a:txBody>
                  <a:tcPr marL="54864" marR="54864" marT="36576">
                    <a:solidFill>
                      <a:srgbClr val="FFFCF7"/>
                    </a:solidFill>
                  </a:tcPr>
                </a:tc>
                <a:tc>
                  <a:txBody>
                    <a:bodyPr/>
                    <a:lstStyle/>
                    <a:p>
                      <a:r>
                        <a:rPr sz="1000" b="0">
                          <a:solidFill>
                            <a:srgbClr val="1C1917"/>
                          </a:solidFill>
                          <a:latin typeface="Segoe UI"/>
                        </a:rPr>
                        <a:t>Online exam with and without a webcam</a:t>
                      </a:r>
                    </a:p>
                  </a:txBody>
                  <a:tcPr marL="54864" marR="54864" marT="36576">
                    <a:solidFill>
                      <a:srgbClr val="FFFCF7"/>
                    </a:solidFill>
                  </a:tcPr>
                </a:tc>
                <a:tc>
                  <a:txBody>
                    <a:bodyPr/>
                    <a:lstStyle/>
                    <a:p>
                      <a:r>
                        <a:rPr sz="1000" b="0">
                          <a:solidFill>
                            <a:srgbClr val="1C1917"/>
                          </a:solidFill>
                          <a:latin typeface="Segoe UI"/>
                        </a:rPr>
                        <a:t>Misconduct and the feeling of being watched</a:t>
                      </a:r>
                    </a:p>
                  </a:txBody>
                  <a:tcPr marL="54864" marR="54864" marT="36576">
                    <a:solidFill>
                      <a:srgbClr val="FFFCF7"/>
                    </a:solidFill>
                  </a:tcPr>
                </a:tc>
                <a:tc>
                  <a:txBody>
                    <a:bodyPr/>
                    <a:lstStyle/>
                    <a:p>
                      <a:r>
                        <a:rPr sz="1000" b="0">
                          <a:solidFill>
                            <a:srgbClr val="1C1917"/>
                          </a:solidFill>
                          <a:latin typeface="Segoe UI"/>
                        </a:rPr>
                        <a:t>Surveillance, not an explainable score</a:t>
                      </a:r>
                    </a:p>
                  </a:txBody>
                  <a:tcPr marL="54864" marR="54864" marT="36576">
                    <a:solidFill>
                      <a:srgbClr val="FFFCF7"/>
                    </a:solidFill>
                  </a:tcPr>
                </a:tc>
                <a:extLst>
                  <a:ext uri="{0D108BD9-81ED-4DB2-BD59-A6C34878D82A}">
                    <a16:rowId xmlns:a16="http://schemas.microsoft.com/office/drawing/2014/main" val="10005"/>
                  </a:ext>
                </a:extLst>
              </a:tr>
              <a:tr h="455168">
                <a:tc>
                  <a:txBody>
                    <a:bodyPr/>
                    <a:lstStyle/>
                    <a:p>
                      <a:r>
                        <a:rPr sz="1000" b="0">
                          <a:solidFill>
                            <a:srgbClr val="1C1917"/>
                          </a:solidFill>
                          <a:latin typeface="Segoe UI"/>
                        </a:rPr>
                        <a:t>Labayen, Vea, Flórez, Aginako and Sierra, 2021</a:t>
                      </a:r>
                    </a:p>
                  </a:txBody>
                  <a:tcPr marL="54864" marR="54864" marT="36576">
                    <a:solidFill>
                      <a:srgbClr val="F4F0E6"/>
                    </a:solidFill>
                  </a:tcPr>
                </a:tc>
                <a:tc>
                  <a:txBody>
                    <a:bodyPr/>
                    <a:lstStyle/>
                    <a:p>
                      <a:r>
                        <a:rPr sz="1000" b="0">
                          <a:solidFill>
                            <a:srgbClr val="1C1917"/>
                          </a:solidFill>
                          <a:latin typeface="Segoe UI"/>
                        </a:rPr>
                        <a:t>System paper: continuous multimodal biometrics</a:t>
                      </a:r>
                    </a:p>
                  </a:txBody>
                  <a:tcPr marL="54864" marR="54864" marT="36576">
                    <a:solidFill>
                      <a:srgbClr val="F4F0E6"/>
                    </a:solidFill>
                  </a:tcPr>
                </a:tc>
                <a:tc>
                  <a:txBody>
                    <a:bodyPr/>
                    <a:lstStyle/>
                    <a:p>
                      <a:r>
                        <a:rPr sz="1000" b="0">
                          <a:solidFill>
                            <a:srgbClr val="1C1917"/>
                          </a:solidFill>
                          <a:latin typeface="Segoe UI"/>
                        </a:rPr>
                        <a:t>SMOWL deployment; usability and privacy survey</a:t>
                      </a:r>
                    </a:p>
                  </a:txBody>
                  <a:tcPr marL="54864" marR="54864" marT="36576">
                    <a:solidFill>
                      <a:srgbClr val="F4F0E6"/>
                    </a:solidFill>
                  </a:tcPr>
                </a:tc>
                <a:tc>
                  <a:txBody>
                    <a:bodyPr/>
                    <a:lstStyle/>
                    <a:p>
                      <a:r>
                        <a:rPr sz="1000" b="0">
                          <a:solidFill>
                            <a:srgbClr val="1C1917"/>
                          </a:solidFill>
                          <a:latin typeface="Segoe UI"/>
                        </a:rPr>
                        <a:t>Face, voice, typing, lockdown, human review of uncertain cases</a:t>
                      </a:r>
                    </a:p>
                  </a:txBody>
                  <a:tcPr marL="54864" marR="54864" marT="36576">
                    <a:solidFill>
                      <a:srgbClr val="F4F0E6"/>
                    </a:solidFill>
                  </a:tcPr>
                </a:tc>
                <a:tc>
                  <a:txBody>
                    <a:bodyPr/>
                    <a:lstStyle/>
                    <a:p>
                      <a:r>
                        <a:rPr sz="1000" b="0">
                          <a:solidFill>
                            <a:srgbClr val="1C1917"/>
                          </a:solidFill>
                          <a:latin typeface="Segoe UI"/>
                        </a:rPr>
                        <a:t>Identity is biometric, and the paper is from the vendor's authors</a:t>
                      </a:r>
                    </a:p>
                  </a:txBody>
                  <a:tcPr marL="54864" marR="54864" marT="36576">
                    <a:solidFill>
                      <a:srgbClr val="F4F0E6"/>
                    </a:solidFill>
                  </a:tcPr>
                </a:tc>
                <a:extLst>
                  <a:ext uri="{0D108BD9-81ED-4DB2-BD59-A6C34878D82A}">
                    <a16:rowId xmlns:a16="http://schemas.microsoft.com/office/drawing/2014/main" val="10006"/>
                  </a:ext>
                </a:extLst>
              </a:tr>
              <a:tr h="455168">
                <a:tc>
                  <a:txBody>
                    <a:bodyPr/>
                    <a:lstStyle/>
                    <a:p>
                      <a:r>
                        <a:rPr sz="1000" b="0">
                          <a:solidFill>
                            <a:srgbClr val="1C1917"/>
                          </a:solidFill>
                          <a:latin typeface="Segoe UI"/>
                        </a:rPr>
                        <a:t>Li, Chang, Yuan and Hauptmann, 2015  ·  foundational</a:t>
                      </a:r>
                    </a:p>
                  </a:txBody>
                  <a:tcPr marL="54864" marR="54864" marT="36576">
                    <a:solidFill>
                      <a:srgbClr val="FFFCF7"/>
                    </a:solidFill>
                  </a:tcPr>
                </a:tc>
                <a:tc>
                  <a:txBody>
                    <a:bodyPr/>
                    <a:lstStyle/>
                    <a:p>
                      <a:r>
                        <a:rPr sz="1000" b="0">
                          <a:solidFill>
                            <a:srgbClr val="1C1917"/>
                          </a:solidFill>
                          <a:latin typeface="Segoe UI"/>
                        </a:rPr>
                        <a:t>Early automated MOOC proctor</a:t>
                      </a:r>
                    </a:p>
                  </a:txBody>
                  <a:tcPr marL="54864" marR="54864" marT="36576">
                    <a:solidFill>
                      <a:srgbClr val="FFFCF7"/>
                    </a:solidFill>
                  </a:tcPr>
                </a:tc>
                <a:tc>
                  <a:txBody>
                    <a:bodyPr/>
                    <a:lstStyle/>
                    <a:p>
                      <a:r>
                        <a:rPr sz="1000" b="0">
                          <a:solidFill>
                            <a:srgbClr val="1C1917"/>
                          </a:solidFill>
                          <a:latin typeface="Segoe UI"/>
                        </a:rPr>
                        <a:t>Video of exam behaviour</a:t>
                      </a:r>
                    </a:p>
                  </a:txBody>
                  <a:tcPr marL="54864" marR="54864" marT="36576">
                    <a:solidFill>
                      <a:srgbClr val="FFFCF7"/>
                    </a:solidFill>
                  </a:tcPr>
                </a:tc>
                <a:tc>
                  <a:txBody>
                    <a:bodyPr/>
                    <a:lstStyle/>
                    <a:p>
                      <a:r>
                        <a:rPr sz="1000" b="0">
                          <a:solidFill>
                            <a:srgbClr val="1C1917"/>
                          </a:solidFill>
                          <a:latin typeface="Segoe UI"/>
                        </a:rPr>
                        <a:t>Visual cues of suspicious behaviour</a:t>
                      </a:r>
                    </a:p>
                  </a:txBody>
                  <a:tcPr marL="54864" marR="54864" marT="36576">
                    <a:solidFill>
                      <a:srgbClr val="FFFCF7"/>
                    </a:solidFill>
                  </a:tcPr>
                </a:tc>
                <a:tc>
                  <a:txBody>
                    <a:bodyPr/>
                    <a:lstStyle/>
                    <a:p>
                      <a:r>
                        <a:rPr sz="1000" b="0">
                          <a:solidFill>
                            <a:srgbClr val="1C1917"/>
                          </a:solidFill>
                          <a:latin typeface="Segoe UI"/>
                        </a:rPr>
                        <a:t>An early biometric line, with no published non-visual rule</a:t>
                      </a:r>
                    </a:p>
                  </a:txBody>
                  <a:tcPr marL="54864" marR="54864" marT="36576">
                    <a:solidFill>
                      <a:srgbClr val="FFFCF7"/>
                    </a:solidFill>
                  </a:tcPr>
                </a:tc>
                <a:extLst>
                  <a:ext uri="{0D108BD9-81ED-4DB2-BD59-A6C34878D82A}">
                    <a16:rowId xmlns:a16="http://schemas.microsoft.com/office/drawing/2014/main" val="10007"/>
                  </a:ext>
                </a:extLst>
              </a:tr>
              <a:tr h="455168">
                <a:tc>
                  <a:txBody>
                    <a:bodyPr/>
                    <a:lstStyle/>
                    <a:p>
                      <a:r>
                        <a:rPr sz="1000" b="0">
                          <a:solidFill>
                            <a:srgbClr val="1C1917"/>
                          </a:solidFill>
                          <a:latin typeface="Segoe UI"/>
                        </a:rPr>
                        <a:t>Nurpeisova, Shaushenova, Mutalova, Zulpykhar, Ongarbayeva, Niyazbekova, Semenov and Maisigova, 2022</a:t>
                      </a:r>
                    </a:p>
                  </a:txBody>
                  <a:tcPr marL="54864" marR="54864" marT="36576">
                    <a:solidFill>
                      <a:srgbClr val="F4F0E6"/>
                    </a:solidFill>
                  </a:tcPr>
                </a:tc>
                <a:tc>
                  <a:txBody>
                    <a:bodyPr/>
                    <a:lstStyle/>
                    <a:p>
                      <a:r>
                        <a:rPr sz="1000" b="0">
                          <a:solidFill>
                            <a:srgbClr val="1C1917"/>
                          </a:solidFill>
                          <a:latin typeface="Segoe UI"/>
                        </a:rPr>
                        <a:t>Comparison of face-recognition models</a:t>
                      </a:r>
                    </a:p>
                  </a:txBody>
                  <a:tcPr marL="54864" marR="54864" marT="36576">
                    <a:solidFill>
                      <a:srgbClr val="F4F0E6"/>
                    </a:solidFill>
                  </a:tcPr>
                </a:tc>
                <a:tc>
                  <a:txBody>
                    <a:bodyPr/>
                    <a:lstStyle/>
                    <a:p>
                      <a:r>
                        <a:rPr sz="1000" b="0">
                          <a:solidFill>
                            <a:srgbClr val="1C1917"/>
                          </a:solidFill>
                          <a:latin typeface="Segoe UI"/>
                        </a:rPr>
                        <a:t>Proctoring prototypes for online exams</a:t>
                      </a:r>
                    </a:p>
                  </a:txBody>
                  <a:tcPr marL="54864" marR="54864" marT="36576">
                    <a:solidFill>
                      <a:srgbClr val="F4F0E6"/>
                    </a:solidFill>
                  </a:tcPr>
                </a:tc>
                <a:tc>
                  <a:txBody>
                    <a:bodyPr/>
                    <a:lstStyle/>
                    <a:p>
                      <a:r>
                        <a:rPr sz="1000" b="0">
                          <a:solidFill>
                            <a:srgbClr val="1C1917"/>
                          </a:solidFill>
                          <a:latin typeface="Segoe UI"/>
                        </a:rPr>
                        <a:t>Face-recognition accuracy</a:t>
                      </a:r>
                    </a:p>
                  </a:txBody>
                  <a:tcPr marL="54864" marR="54864" marT="36576">
                    <a:solidFill>
                      <a:srgbClr val="F4F0E6"/>
                    </a:solidFill>
                  </a:tcPr>
                </a:tc>
                <a:tc>
                  <a:txBody>
                    <a:bodyPr/>
                    <a:lstStyle/>
                    <a:p>
                      <a:r>
                        <a:rPr sz="1000" b="0">
                          <a:solidFill>
                            <a:srgbClr val="1C1917"/>
                          </a:solidFill>
                          <a:latin typeface="Segoe UI"/>
                        </a:rPr>
                        <a:t>The detector is the face</a:t>
                      </a:r>
                    </a:p>
                  </a:txBody>
                  <a:tcPr marL="54864" marR="54864" marT="36576">
                    <a:solidFill>
                      <a:srgbClr val="F4F0E6"/>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19</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A4</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A4   Webcam and AI proctors  (2/2)</a:t>
            </a:r>
          </a:p>
        </p:txBody>
      </p:sp>
      <p:graphicFrame>
        <p:nvGraphicFramePr>
          <p:cNvPr id="9" name="Table 8"/>
          <p:cNvGraphicFramePr>
            <a:graphicFrameLocks noGrp="1"/>
          </p:cNvGraphicFramePr>
          <p:nvPr/>
        </p:nvGraphicFramePr>
        <p:xfrm>
          <a:off x="365760" y="1115568"/>
          <a:ext cx="11430000" cy="182880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gridCol w="2331720">
                  <a:extLst>
                    <a:ext uri="{9D8B030D-6E8A-4147-A177-3AD203B41FA5}">
                      <a16:colId xmlns:a16="http://schemas.microsoft.com/office/drawing/2014/main" val="20004"/>
                    </a:ext>
                  </a:extLst>
                </a:gridCol>
              </a:tblGrid>
              <a:tr h="429768">
                <a:tc>
                  <a:txBody>
                    <a:bodyPr/>
                    <a:lstStyle/>
                    <a:p>
                      <a:r>
                        <a:rPr sz="1000" b="1">
                          <a:solidFill>
                            <a:srgbClr val="FFFFFF"/>
                          </a:solidFill>
                          <a:latin typeface="Segoe UI"/>
                        </a:rPr>
                        <a:t>Author and year</a:t>
                      </a:r>
                    </a:p>
                  </a:txBody>
                  <a:tcPr marL="54864" marR="54864" marT="36576">
                    <a:solidFill>
                      <a:srgbClr val="12263A"/>
                    </a:solidFill>
                  </a:tcPr>
                </a:tc>
                <a:tc>
                  <a:txBody>
                    <a:bodyPr/>
                    <a:lstStyle/>
                    <a:p>
                      <a:r>
                        <a:rPr sz="1000" b="1">
                          <a:solidFill>
                            <a:srgbClr val="FFFFFF"/>
                          </a:solidFill>
                          <a:latin typeface="Segoe UI"/>
                        </a:rPr>
                        <a:t>Method</a:t>
                      </a:r>
                    </a:p>
                  </a:txBody>
                  <a:tcPr marL="54864" marR="54864" marT="36576">
                    <a:solidFill>
                      <a:srgbClr val="12263A"/>
                    </a:solidFill>
                  </a:tcPr>
                </a:tc>
                <a:tc>
                  <a:txBody>
                    <a:bodyPr/>
                    <a:lstStyle/>
                    <a:p>
                      <a:r>
                        <a:rPr sz="1000" b="1">
                          <a:solidFill>
                            <a:srgbClr val="FFFFFF"/>
                          </a:solidFill>
                          <a:latin typeface="Segoe UI"/>
                        </a:rPr>
                        <a:t>Dataset or testbed</a:t>
                      </a:r>
                    </a:p>
                  </a:txBody>
                  <a:tcPr marL="54864" marR="54864" marT="36576">
                    <a:solidFill>
                      <a:srgbClr val="12263A"/>
                    </a:solidFill>
                  </a:tcPr>
                </a:tc>
                <a:tc>
                  <a:txBody>
                    <a:bodyPr/>
                    <a:lstStyle/>
                    <a:p>
                      <a:r>
                        <a:rPr sz="1000" b="1">
                          <a:solidFill>
                            <a:srgbClr val="FFFFFF"/>
                          </a:solidFill>
                          <a:latin typeface="Segoe UI"/>
                        </a:rPr>
                        <a:t>Key parameters</a:t>
                      </a:r>
                    </a:p>
                  </a:txBody>
                  <a:tcPr marL="54864" marR="54864" marT="36576">
                    <a:solidFill>
                      <a:srgbClr val="12263A"/>
                    </a:solidFill>
                  </a:tcPr>
                </a:tc>
                <a:tc>
                  <a:txBody>
                    <a:bodyPr/>
                    <a:lstStyle/>
                    <a:p>
                      <a:r>
                        <a:rPr sz="1000" b="1">
                          <a:solidFill>
                            <a:srgbClr val="FFFFFF"/>
                          </a:solidFill>
                          <a:latin typeface="Segoe UI"/>
                        </a:rPr>
                        <a:t>Limitation</a:t>
                      </a:r>
                    </a:p>
                  </a:txBody>
                  <a:tcPr marL="54864" marR="54864" marT="36576">
                    <a:solidFill>
                      <a:srgbClr val="12263A"/>
                    </a:solidFill>
                  </a:tcPr>
                </a:tc>
                <a:extLst>
                  <a:ext uri="{0D108BD9-81ED-4DB2-BD59-A6C34878D82A}">
                    <a16:rowId xmlns:a16="http://schemas.microsoft.com/office/drawing/2014/main" val="10000"/>
                  </a:ext>
                </a:extLst>
              </a:tr>
              <a:tr h="429768">
                <a:tc>
                  <a:txBody>
                    <a:bodyPr/>
                    <a:lstStyle/>
                    <a:p>
                      <a:r>
                        <a:rPr sz="1000" b="0">
                          <a:solidFill>
                            <a:srgbClr val="1C1917"/>
                          </a:solidFill>
                          <a:latin typeface="Segoe UI"/>
                        </a:rPr>
                        <a:t>Nurpeisova, Shaushenova, Mutalova, Ongarbayeva, Niyazbekova, Bekenova, Zhumaliyeva and Zhumasseitova, 2023</a:t>
                      </a:r>
                    </a:p>
                  </a:txBody>
                  <a:tcPr marL="54864" marR="54864" marT="36576">
                    <a:solidFill>
                      <a:srgbClr val="FFFCF7"/>
                    </a:solidFill>
                  </a:tcPr>
                </a:tc>
                <a:tc>
                  <a:txBody>
                    <a:bodyPr/>
                    <a:lstStyle/>
                    <a:p>
                      <a:r>
                        <a:rPr sz="1000" b="0">
                          <a:solidFill>
                            <a:srgbClr val="1C1917"/>
                          </a:solidFill>
                          <a:latin typeface="Segoe UI"/>
                        </a:rPr>
                        <a:t>System build: Proctor SU</a:t>
                      </a:r>
                    </a:p>
                  </a:txBody>
                  <a:tcPr marL="54864" marR="54864" marT="36576">
                    <a:solidFill>
                      <a:srgbClr val="FFFCF7"/>
                    </a:solidFill>
                  </a:tcPr>
                </a:tc>
                <a:tc>
                  <a:txBody>
                    <a:bodyPr/>
                    <a:lstStyle/>
                    <a:p>
                      <a:r>
                        <a:rPr sz="1000" b="0">
                          <a:solidFill>
                            <a:srgbClr val="1C1917"/>
                          </a:solidFill>
                          <a:latin typeface="Segoe UI"/>
                        </a:rPr>
                        <a:t>Django and Python exam setting</a:t>
                      </a:r>
                    </a:p>
                  </a:txBody>
                  <a:tcPr marL="54864" marR="54864" marT="36576">
                    <a:solidFill>
                      <a:srgbClr val="FFFCF7"/>
                    </a:solidFill>
                  </a:tcPr>
                </a:tc>
                <a:tc>
                  <a:txBody>
                    <a:bodyPr/>
                    <a:lstStyle/>
                    <a:p>
                      <a:r>
                        <a:rPr sz="1000" b="0">
                          <a:solidFill>
                            <a:srgbClr val="1C1917"/>
                          </a:solidFill>
                          <a:latin typeface="Segoe UI"/>
                        </a:rPr>
                        <a:t>YOLO face, voice, keyboard, browser lockdown</a:t>
                      </a:r>
                    </a:p>
                  </a:txBody>
                  <a:tcPr marL="54864" marR="54864" marT="36576">
                    <a:solidFill>
                      <a:srgbClr val="FFFCF7"/>
                    </a:solidFill>
                  </a:tcPr>
                </a:tc>
                <a:tc>
                  <a:txBody>
                    <a:bodyPr/>
                    <a:lstStyle/>
                    <a:p>
                      <a:r>
                        <a:rPr sz="1000" b="0">
                          <a:solidFill>
                            <a:srgbClr val="1C1917"/>
                          </a:solidFill>
                          <a:latin typeface="Segoe UI"/>
                        </a:rPr>
                        <a:t>Collects face, voice, and keystrokes</a:t>
                      </a:r>
                    </a:p>
                  </a:txBody>
                  <a:tcPr marL="54864" marR="54864" marT="36576">
                    <a:solidFill>
                      <a:srgbClr val="FFFCF7"/>
                    </a:solidFill>
                  </a:tcPr>
                </a:tc>
                <a:extLst>
                  <a:ext uri="{0D108BD9-81ED-4DB2-BD59-A6C34878D82A}">
                    <a16:rowId xmlns:a16="http://schemas.microsoft.com/office/drawing/2014/main" val="10001"/>
                  </a:ext>
                </a:extLst>
              </a:tr>
              <a:tr h="429768">
                <a:tc>
                  <a:txBody>
                    <a:bodyPr/>
                    <a:lstStyle/>
                    <a:p>
                      <a:r>
                        <a:rPr sz="1000" b="0">
                          <a:solidFill>
                            <a:srgbClr val="1C1917"/>
                          </a:solidFill>
                          <a:latin typeface="Segoe UI"/>
                        </a:rPr>
                        <a:t>Özseven and Esin Özseven, 2026</a:t>
                      </a:r>
                    </a:p>
                  </a:txBody>
                  <a:tcPr marL="54864" marR="54864" marT="36576">
                    <a:solidFill>
                      <a:srgbClr val="F4F0E6"/>
                    </a:solidFill>
                  </a:tcPr>
                </a:tc>
                <a:tc>
                  <a:txBody>
                    <a:bodyPr/>
                    <a:lstStyle/>
                    <a:p>
                      <a:r>
                        <a:rPr sz="1000" b="0">
                          <a:solidFill>
                            <a:srgbClr val="1C1917"/>
                          </a:solidFill>
                          <a:latin typeface="Segoe UI"/>
                        </a:rPr>
                        <a:t>Explainable neuro-symbolic detector</a:t>
                      </a:r>
                    </a:p>
                  </a:txBody>
                  <a:tcPr marL="54864" marR="54864" marT="36576">
                    <a:solidFill>
                      <a:srgbClr val="F4F0E6"/>
                    </a:solidFill>
                  </a:tcPr>
                </a:tc>
                <a:tc>
                  <a:txBody>
                    <a:bodyPr/>
                    <a:lstStyle/>
                    <a:p>
                      <a:r>
                        <a:rPr sz="1000" b="0">
                          <a:solidFill>
                            <a:srgbClr val="1C1917"/>
                          </a:solidFill>
                          <a:latin typeface="Segoe UI"/>
                        </a:rPr>
                        <a:t>Exam video of gaze, head, and hands</a:t>
                      </a:r>
                    </a:p>
                  </a:txBody>
                  <a:tcPr marL="54864" marR="54864" marT="36576">
                    <a:solidFill>
                      <a:srgbClr val="F4F0E6"/>
                    </a:solidFill>
                  </a:tcPr>
                </a:tc>
                <a:tc>
                  <a:txBody>
                    <a:bodyPr/>
                    <a:lstStyle/>
                    <a:p>
                      <a:r>
                        <a:rPr sz="1000" b="0">
                          <a:solidFill>
                            <a:srgbClr val="1C1917"/>
                          </a:solidFill>
                          <a:latin typeface="Segoe UI"/>
                        </a:rPr>
                        <a:t>Gaze, head pose, hand-object interaction, device</a:t>
                      </a:r>
                    </a:p>
                  </a:txBody>
                  <a:tcPr marL="54864" marR="54864" marT="36576">
                    <a:solidFill>
                      <a:srgbClr val="F4F0E6"/>
                    </a:solidFill>
                  </a:tcPr>
                </a:tc>
                <a:tc>
                  <a:txBody>
                    <a:bodyPr/>
                    <a:lstStyle/>
                    <a:p>
                      <a:r>
                        <a:rPr sz="1000" b="0">
                          <a:solidFill>
                            <a:srgbClr val="1C1917"/>
                          </a:solidFill>
                          <a:latin typeface="Segoe UI"/>
                        </a:rPr>
                        <a:t>Explainable, but the cues are still the body</a:t>
                      </a:r>
                    </a:p>
                  </a:txBody>
                  <a:tcPr marL="54864" marR="54864" marT="36576">
                    <a:solidFill>
                      <a:srgbClr val="F4F0E6"/>
                    </a:solidFill>
                  </a:tcPr>
                </a:tc>
                <a:extLst>
                  <a:ext uri="{0D108BD9-81ED-4DB2-BD59-A6C34878D82A}">
                    <a16:rowId xmlns:a16="http://schemas.microsoft.com/office/drawing/2014/main" val="10002"/>
                  </a:ext>
                </a:extLst>
              </a:tr>
              <a:tr h="429768">
                <a:tc>
                  <a:txBody>
                    <a:bodyPr/>
                    <a:lstStyle/>
                    <a:p>
                      <a:r>
                        <a:rPr sz="1000" b="0">
                          <a:solidFill>
                            <a:srgbClr val="1C1917"/>
                          </a:solidFill>
                          <a:latin typeface="Segoe UI"/>
                        </a:rPr>
                        <a:t>Potluri, Sistla and Kolli, 2023</a:t>
                      </a:r>
                    </a:p>
                  </a:txBody>
                  <a:tcPr marL="54864" marR="54864" marT="36576">
                    <a:solidFill>
                      <a:srgbClr val="FFFCF7"/>
                    </a:solidFill>
                  </a:tcPr>
                </a:tc>
                <a:tc>
                  <a:txBody>
                    <a:bodyPr/>
                    <a:lstStyle/>
                    <a:p>
                      <a:r>
                        <a:rPr sz="1000" b="0">
                          <a:solidFill>
                            <a:srgbClr val="1C1917"/>
                          </a:solidFill>
                          <a:latin typeface="Segoe UI"/>
                        </a:rPr>
                        <a:t>Attentive-net on video</a:t>
                      </a:r>
                    </a:p>
                  </a:txBody>
                  <a:tcPr marL="54864" marR="54864" marT="36576">
                    <a:solidFill>
                      <a:srgbClr val="FFFCF7"/>
                    </a:solidFill>
                  </a:tcPr>
                </a:tc>
                <a:tc>
                  <a:txBody>
                    <a:bodyPr/>
                    <a:lstStyle/>
                    <a:p>
                      <a:r>
                        <a:rPr sz="1000" b="0">
                          <a:solidFill>
                            <a:srgbClr val="1C1917"/>
                          </a:solidFill>
                          <a:latin typeface="Segoe UI"/>
                        </a:rPr>
                        <a:t>Clips labelled as mischievous behaviour</a:t>
                      </a:r>
                    </a:p>
                  </a:txBody>
                  <a:tcPr marL="54864" marR="54864" marT="36576">
                    <a:solidFill>
                      <a:srgbClr val="FFFCF7"/>
                    </a:solidFill>
                  </a:tcPr>
                </a:tc>
                <a:tc>
                  <a:txBody>
                    <a:bodyPr/>
                    <a:lstStyle/>
                    <a:p>
                      <a:r>
                        <a:rPr sz="1000" b="0">
                          <a:solidFill>
                            <a:srgbClr val="1C1917"/>
                          </a:solidFill>
                          <a:latin typeface="Segoe UI"/>
                        </a:rPr>
                        <a:t>Visual attention features</a:t>
                      </a:r>
                    </a:p>
                  </a:txBody>
                  <a:tcPr marL="54864" marR="54864" marT="36576">
                    <a:solidFill>
                      <a:srgbClr val="FFFCF7"/>
                    </a:solidFill>
                  </a:tcPr>
                </a:tc>
                <a:tc>
                  <a:txBody>
                    <a:bodyPr/>
                    <a:lstStyle/>
                    <a:p>
                      <a:r>
                        <a:rPr sz="1000" b="0">
                          <a:solidFill>
                            <a:srgbClr val="1C1917"/>
                          </a:solidFill>
                          <a:latin typeface="Segoe UI"/>
                        </a:rPr>
                        <a:t>Still a visual detector</a:t>
                      </a:r>
                    </a:p>
                  </a:txBody>
                  <a:tcPr marL="54864" marR="54864" marT="36576">
                    <a:solidFill>
                      <a:srgbClr val="FFFCF7"/>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20</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A5</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A5   Privacy and ethics  (1/2)</a:t>
            </a:r>
          </a:p>
        </p:txBody>
      </p:sp>
      <p:graphicFrame>
        <p:nvGraphicFramePr>
          <p:cNvPr id="9" name="Table 8"/>
          <p:cNvGraphicFramePr>
            <a:graphicFrameLocks noGrp="1"/>
          </p:cNvGraphicFramePr>
          <p:nvPr/>
        </p:nvGraphicFramePr>
        <p:xfrm>
          <a:off x="365760" y="1115568"/>
          <a:ext cx="11430000" cy="418084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gridCol w="2331720">
                  <a:extLst>
                    <a:ext uri="{9D8B030D-6E8A-4147-A177-3AD203B41FA5}">
                      <a16:colId xmlns:a16="http://schemas.microsoft.com/office/drawing/2014/main" val="20004"/>
                    </a:ext>
                  </a:extLst>
                </a:gridCol>
              </a:tblGrid>
              <a:tr h="455168">
                <a:tc>
                  <a:txBody>
                    <a:bodyPr/>
                    <a:lstStyle/>
                    <a:p>
                      <a:r>
                        <a:rPr sz="1000" b="1">
                          <a:solidFill>
                            <a:srgbClr val="FFFFFF"/>
                          </a:solidFill>
                          <a:latin typeface="Segoe UI"/>
                        </a:rPr>
                        <a:t>Author and year</a:t>
                      </a:r>
                    </a:p>
                  </a:txBody>
                  <a:tcPr marL="54864" marR="54864" marT="36576">
                    <a:solidFill>
                      <a:srgbClr val="12263A"/>
                    </a:solidFill>
                  </a:tcPr>
                </a:tc>
                <a:tc>
                  <a:txBody>
                    <a:bodyPr/>
                    <a:lstStyle/>
                    <a:p>
                      <a:r>
                        <a:rPr sz="1000" b="1">
                          <a:solidFill>
                            <a:srgbClr val="FFFFFF"/>
                          </a:solidFill>
                          <a:latin typeface="Segoe UI"/>
                        </a:rPr>
                        <a:t>Method</a:t>
                      </a:r>
                    </a:p>
                  </a:txBody>
                  <a:tcPr marL="54864" marR="54864" marT="36576">
                    <a:solidFill>
                      <a:srgbClr val="12263A"/>
                    </a:solidFill>
                  </a:tcPr>
                </a:tc>
                <a:tc>
                  <a:txBody>
                    <a:bodyPr/>
                    <a:lstStyle/>
                    <a:p>
                      <a:r>
                        <a:rPr sz="1000" b="1">
                          <a:solidFill>
                            <a:srgbClr val="FFFFFF"/>
                          </a:solidFill>
                          <a:latin typeface="Segoe UI"/>
                        </a:rPr>
                        <a:t>Dataset or testbed</a:t>
                      </a:r>
                    </a:p>
                  </a:txBody>
                  <a:tcPr marL="54864" marR="54864" marT="36576">
                    <a:solidFill>
                      <a:srgbClr val="12263A"/>
                    </a:solidFill>
                  </a:tcPr>
                </a:tc>
                <a:tc>
                  <a:txBody>
                    <a:bodyPr/>
                    <a:lstStyle/>
                    <a:p>
                      <a:r>
                        <a:rPr sz="1000" b="1">
                          <a:solidFill>
                            <a:srgbClr val="FFFFFF"/>
                          </a:solidFill>
                          <a:latin typeface="Segoe UI"/>
                        </a:rPr>
                        <a:t>Key parameters</a:t>
                      </a:r>
                    </a:p>
                  </a:txBody>
                  <a:tcPr marL="54864" marR="54864" marT="36576">
                    <a:solidFill>
                      <a:srgbClr val="12263A"/>
                    </a:solidFill>
                  </a:tcPr>
                </a:tc>
                <a:tc>
                  <a:txBody>
                    <a:bodyPr/>
                    <a:lstStyle/>
                    <a:p>
                      <a:r>
                        <a:rPr sz="1000" b="1">
                          <a:solidFill>
                            <a:srgbClr val="FFFFFF"/>
                          </a:solidFill>
                          <a:latin typeface="Segoe UI"/>
                        </a:rPr>
                        <a:t>Limitation</a:t>
                      </a:r>
                    </a:p>
                  </a:txBody>
                  <a:tcPr marL="54864" marR="54864" marT="36576">
                    <a:solidFill>
                      <a:srgbClr val="12263A"/>
                    </a:solidFill>
                  </a:tcPr>
                </a:tc>
                <a:extLst>
                  <a:ext uri="{0D108BD9-81ED-4DB2-BD59-A6C34878D82A}">
                    <a16:rowId xmlns:a16="http://schemas.microsoft.com/office/drawing/2014/main" val="10000"/>
                  </a:ext>
                </a:extLst>
              </a:tr>
              <a:tr h="455168">
                <a:tc>
                  <a:txBody>
                    <a:bodyPr/>
                    <a:lstStyle/>
                    <a:p>
                      <a:r>
                        <a:rPr sz="1000" b="0">
                          <a:solidFill>
                            <a:srgbClr val="1C1917"/>
                          </a:solidFill>
                          <a:latin typeface="Segoe UI"/>
                        </a:rPr>
                        <a:t>Alessio and Messinger, 2021</a:t>
                      </a:r>
                    </a:p>
                  </a:txBody>
                  <a:tcPr marL="54864" marR="54864" marT="36576">
                    <a:solidFill>
                      <a:srgbClr val="FFFCF7"/>
                    </a:solidFill>
                  </a:tcPr>
                </a:tc>
                <a:tc>
                  <a:txBody>
                    <a:bodyPr/>
                    <a:lstStyle/>
                    <a:p>
                      <a:r>
                        <a:rPr sz="1000" b="0">
                          <a:solidFill>
                            <a:srgbClr val="1C1917"/>
                          </a:solidFill>
                          <a:latin typeface="Segoe UI"/>
                        </a:rPr>
                        <a:t>Faculty and student survey on proctoring</a:t>
                      </a:r>
                    </a:p>
                  </a:txBody>
                  <a:tcPr marL="54864" marR="54864" marT="36576">
                    <a:solidFill>
                      <a:srgbClr val="FFFCF7"/>
                    </a:solidFill>
                  </a:tcPr>
                </a:tc>
                <a:tc>
                  <a:txBody>
                    <a:bodyPr/>
                    <a:lstStyle/>
                    <a:p>
                      <a:r>
                        <a:rPr sz="1000" b="0">
                          <a:solidFill>
                            <a:srgbClr val="1C1917"/>
                          </a:solidFill>
                          <a:latin typeface="Segoe UI"/>
                        </a:rPr>
                        <a:t>University respondents; mixed views</a:t>
                      </a:r>
                    </a:p>
                  </a:txBody>
                  <a:tcPr marL="54864" marR="54864" marT="36576">
                    <a:solidFill>
                      <a:srgbClr val="FFFCF7"/>
                    </a:solidFill>
                  </a:tcPr>
                </a:tc>
                <a:tc>
                  <a:txBody>
                    <a:bodyPr/>
                    <a:lstStyle/>
                    <a:p>
                      <a:r>
                        <a:rPr sz="1000" b="0">
                          <a:solidFill>
                            <a:srgbClr val="1C1917"/>
                          </a:solidFill>
                          <a:latin typeface="Segoe UI"/>
                        </a:rPr>
                        <a:t>Privacy invasion: 53% faculty, 70% students</a:t>
                      </a:r>
                    </a:p>
                  </a:txBody>
                  <a:tcPr marL="54864" marR="54864" marT="36576">
                    <a:solidFill>
                      <a:srgbClr val="FFFCF7"/>
                    </a:solidFill>
                  </a:tcPr>
                </a:tc>
                <a:tc>
                  <a:txBody>
                    <a:bodyPr/>
                    <a:lstStyle/>
                    <a:p>
                      <a:r>
                        <a:rPr sz="1000" b="0">
                          <a:solidFill>
                            <a:srgbClr val="1C1917"/>
                          </a:solidFill>
                          <a:latin typeface="Segoe UI"/>
                        </a:rPr>
                        <a:t>Documents the objection; does not design a non-biometric monitor</a:t>
                      </a:r>
                    </a:p>
                  </a:txBody>
                  <a:tcPr marL="54864" marR="54864" marT="36576">
                    <a:solidFill>
                      <a:srgbClr val="FFFCF7"/>
                    </a:solidFill>
                  </a:tcPr>
                </a:tc>
                <a:extLst>
                  <a:ext uri="{0D108BD9-81ED-4DB2-BD59-A6C34878D82A}">
                    <a16:rowId xmlns:a16="http://schemas.microsoft.com/office/drawing/2014/main" val="10001"/>
                  </a:ext>
                </a:extLst>
              </a:tr>
              <a:tr h="455168">
                <a:tc>
                  <a:txBody>
                    <a:bodyPr/>
                    <a:lstStyle/>
                    <a:p>
                      <a:r>
                        <a:rPr sz="1000" b="0">
                          <a:solidFill>
                            <a:srgbClr val="1C1917"/>
                          </a:solidFill>
                          <a:latin typeface="Segoe UI"/>
                        </a:rPr>
                        <a:t>Balash, Kim, Shaibekova, Fainchtein, Sherr and Aviv, 2021</a:t>
                      </a:r>
                    </a:p>
                  </a:txBody>
                  <a:tcPr marL="54864" marR="54864" marT="36576">
                    <a:solidFill>
                      <a:srgbClr val="F4F0E6"/>
                    </a:solidFill>
                  </a:tcPr>
                </a:tc>
                <a:tc>
                  <a:txBody>
                    <a:bodyPr/>
                    <a:lstStyle/>
                    <a:p>
                      <a:r>
                        <a:rPr sz="1000" b="0">
                          <a:solidFill>
                            <a:srgbClr val="1C1917"/>
                          </a:solidFill>
                          <a:latin typeface="Segoe UI"/>
                        </a:rPr>
                        <a:t>Review analysis plus student survey</a:t>
                      </a:r>
                    </a:p>
                  </a:txBody>
                  <a:tcPr marL="54864" marR="54864" marT="36576">
                    <a:solidFill>
                      <a:srgbClr val="F4F0E6"/>
                    </a:solidFill>
                  </a:tcPr>
                </a:tc>
                <a:tc>
                  <a:txBody>
                    <a:bodyPr/>
                    <a:lstStyle/>
                    <a:p>
                      <a:r>
                        <a:rPr sz="1000" b="0">
                          <a:solidFill>
                            <a:srgbClr val="1C1917"/>
                          </a:solidFill>
                          <a:latin typeface="Segoe UI"/>
                        </a:rPr>
                        <a:t>Browser-extension reviews and n = 102 students</a:t>
                      </a:r>
                    </a:p>
                  </a:txBody>
                  <a:tcPr marL="54864" marR="54864" marT="36576">
                    <a:solidFill>
                      <a:srgbClr val="F4F0E6"/>
                    </a:solidFill>
                  </a:tcPr>
                </a:tc>
                <a:tc>
                  <a:txBody>
                    <a:bodyPr/>
                    <a:lstStyle/>
                    <a:p>
                      <a:r>
                        <a:rPr sz="1000" b="0">
                          <a:solidFill>
                            <a:srgbClr val="1C1917"/>
                          </a:solidFill>
                          <a:latin typeface="Segoe UI"/>
                        </a:rPr>
                        <a:t>Identity checks, webcam, screen, browser history</a:t>
                      </a:r>
                    </a:p>
                  </a:txBody>
                  <a:tcPr marL="54864" marR="54864" marT="36576">
                    <a:solidFill>
                      <a:srgbClr val="F4F0E6"/>
                    </a:solidFill>
                  </a:tcPr>
                </a:tc>
                <a:tc>
                  <a:txBody>
                    <a:bodyPr/>
                    <a:lstStyle/>
                    <a:p>
                      <a:r>
                        <a:rPr sz="1000" b="0">
                          <a:solidFill>
                            <a:srgbClr val="1C1917"/>
                          </a:solidFill>
                          <a:latin typeface="Segoe UI"/>
                        </a:rPr>
                        <a:t>Students feel compelled by the institution; no alternative design</a:t>
                      </a:r>
                    </a:p>
                  </a:txBody>
                  <a:tcPr marL="54864" marR="54864" marT="36576">
                    <a:solidFill>
                      <a:srgbClr val="F4F0E6"/>
                    </a:solidFill>
                  </a:tcPr>
                </a:tc>
                <a:extLst>
                  <a:ext uri="{0D108BD9-81ED-4DB2-BD59-A6C34878D82A}">
                    <a16:rowId xmlns:a16="http://schemas.microsoft.com/office/drawing/2014/main" val="10002"/>
                  </a:ext>
                </a:extLst>
              </a:tr>
              <a:tr h="455168">
                <a:tc>
                  <a:txBody>
                    <a:bodyPr/>
                    <a:lstStyle/>
                    <a:p>
                      <a:r>
                        <a:rPr sz="1000" b="0">
                          <a:solidFill>
                            <a:srgbClr val="1C1917"/>
                          </a:solidFill>
                          <a:latin typeface="Segoe UI"/>
                        </a:rPr>
                        <a:t>Coghlan, Miller and Paterson, 2021</a:t>
                      </a:r>
                    </a:p>
                  </a:txBody>
                  <a:tcPr marL="54864" marR="54864" marT="36576">
                    <a:solidFill>
                      <a:srgbClr val="FFFCF7"/>
                    </a:solidFill>
                  </a:tcPr>
                </a:tc>
                <a:tc>
                  <a:txBody>
                    <a:bodyPr/>
                    <a:lstStyle/>
                    <a:p>
                      <a:r>
                        <a:rPr sz="1000" b="0">
                          <a:solidFill>
                            <a:srgbClr val="1C1917"/>
                          </a:solidFill>
                          <a:latin typeface="Segoe UI"/>
                        </a:rPr>
                        <a:t>Ethical analysis of supervision technologies</a:t>
                      </a:r>
                    </a:p>
                  </a:txBody>
                  <a:tcPr marL="54864" marR="54864" marT="36576">
                    <a:solidFill>
                      <a:srgbClr val="FFFCF7"/>
                    </a:solidFill>
                  </a:tcPr>
                </a:tc>
                <a:tc>
                  <a:txBody>
                    <a:bodyPr/>
                    <a:lstStyle/>
                    <a:p>
                      <a:r>
                        <a:rPr sz="1000" b="0">
                          <a:solidFill>
                            <a:srgbClr val="1C1917"/>
                          </a:solidFill>
                          <a:latin typeface="Segoe UI"/>
                        </a:rPr>
                        <a:t>Published systems and policy arguments</a:t>
                      </a:r>
                    </a:p>
                  </a:txBody>
                  <a:tcPr marL="54864" marR="54864" marT="36576">
                    <a:solidFill>
                      <a:srgbClr val="FFFCF7"/>
                    </a:solidFill>
                  </a:tcPr>
                </a:tc>
                <a:tc>
                  <a:txBody>
                    <a:bodyPr/>
                    <a:lstStyle/>
                    <a:p>
                      <a:r>
                        <a:rPr sz="1000" b="0">
                          <a:solidFill>
                            <a:srgbClr val="1C1917"/>
                          </a:solidFill>
                          <a:latin typeface="Segoe UI"/>
                        </a:rPr>
                        <a:t>Consent, proportionality, surveillance</a:t>
                      </a:r>
                    </a:p>
                  </a:txBody>
                  <a:tcPr marL="54864" marR="54864" marT="36576">
                    <a:solidFill>
                      <a:srgbClr val="FFFCF7"/>
                    </a:solidFill>
                  </a:tcPr>
                </a:tc>
                <a:tc>
                  <a:txBody>
                    <a:bodyPr/>
                    <a:lstStyle/>
                    <a:p>
                      <a:r>
                        <a:rPr sz="1000" b="0">
                          <a:solidFill>
                            <a:srgbClr val="1C1917"/>
                          </a:solidFill>
                          <a:latin typeface="Segoe UI"/>
                        </a:rPr>
                        <a:t>No system design follows the critique</a:t>
                      </a:r>
                    </a:p>
                  </a:txBody>
                  <a:tcPr marL="54864" marR="54864" marT="36576">
                    <a:solidFill>
                      <a:srgbClr val="FFFCF7"/>
                    </a:solidFill>
                  </a:tcPr>
                </a:tc>
                <a:extLst>
                  <a:ext uri="{0D108BD9-81ED-4DB2-BD59-A6C34878D82A}">
                    <a16:rowId xmlns:a16="http://schemas.microsoft.com/office/drawing/2014/main" val="10003"/>
                  </a:ext>
                </a:extLst>
              </a:tr>
              <a:tr h="455168">
                <a:tc>
                  <a:txBody>
                    <a:bodyPr/>
                    <a:lstStyle/>
                    <a:p>
                      <a:r>
                        <a:rPr sz="1000" b="0">
                          <a:solidFill>
                            <a:srgbClr val="1C1917"/>
                          </a:solidFill>
                          <a:latin typeface="Segoe UI"/>
                        </a:rPr>
                        <a:t>Conijn, Kleingeld, Matzat and Snijders, 2022</a:t>
                      </a:r>
                    </a:p>
                  </a:txBody>
                  <a:tcPr marL="54864" marR="54864" marT="36576">
                    <a:solidFill>
                      <a:srgbClr val="F4F0E6"/>
                    </a:solidFill>
                  </a:tcPr>
                </a:tc>
                <a:tc>
                  <a:txBody>
                    <a:bodyPr/>
                    <a:lstStyle/>
                    <a:p>
                      <a:r>
                        <a:rPr sz="1000" b="0">
                          <a:solidFill>
                            <a:srgbClr val="1C1917"/>
                          </a:solidFill>
                          <a:latin typeface="Segoe UI"/>
                        </a:rPr>
                        <a:t>Four-wave multilevel survey</a:t>
                      </a:r>
                    </a:p>
                  </a:txBody>
                  <a:tcPr marL="54864" marR="54864" marT="36576">
                    <a:solidFill>
                      <a:srgbClr val="F4F0E6"/>
                    </a:solidFill>
                  </a:tcPr>
                </a:tc>
                <a:tc>
                  <a:txBody>
                    <a:bodyPr/>
                    <a:lstStyle/>
                    <a:p>
                      <a:r>
                        <a:rPr sz="1000" b="0">
                          <a:solidFill>
                            <a:srgbClr val="1C1917"/>
                          </a:solidFill>
                          <a:latin typeface="Segoe UI"/>
                        </a:rPr>
                        <a:t>1,760 students in 105 courses at one Dutch faculty</a:t>
                      </a:r>
                    </a:p>
                  </a:txBody>
                  <a:tcPr marL="54864" marR="54864" marT="36576">
                    <a:solidFill>
                      <a:srgbClr val="F4F0E6"/>
                    </a:solidFill>
                  </a:tcPr>
                </a:tc>
                <a:tc>
                  <a:txBody>
                    <a:bodyPr/>
                    <a:lstStyle/>
                    <a:p>
                      <a:r>
                        <a:rPr sz="1000" b="0">
                          <a:solidFill>
                            <a:srgbClr val="1C1917"/>
                          </a:solidFill>
                          <a:latin typeface="Segoe UI"/>
                        </a:rPr>
                        <a:t>Temptation to cheat, anxiety, difficulty, grade</a:t>
                      </a:r>
                    </a:p>
                  </a:txBody>
                  <a:tcPr marL="54864" marR="54864" marT="36576">
                    <a:solidFill>
                      <a:srgbClr val="F4F0E6"/>
                    </a:solidFill>
                  </a:tcPr>
                </a:tc>
                <a:tc>
                  <a:txBody>
                    <a:bodyPr/>
                    <a:lstStyle/>
                    <a:p>
                      <a:r>
                        <a:rPr sz="1000" b="0">
                          <a:solidFill>
                            <a:srgbClr val="1C1917"/>
                          </a:solidFill>
                          <a:latin typeface="Segoe UI"/>
                        </a:rPr>
                        <a:t>Proctoring raised anxiety and did not reduce temptation to cheat</a:t>
                      </a:r>
                    </a:p>
                  </a:txBody>
                  <a:tcPr marL="54864" marR="54864" marT="36576">
                    <a:solidFill>
                      <a:srgbClr val="F4F0E6"/>
                    </a:solidFill>
                  </a:tcPr>
                </a:tc>
                <a:extLst>
                  <a:ext uri="{0D108BD9-81ED-4DB2-BD59-A6C34878D82A}">
                    <a16:rowId xmlns:a16="http://schemas.microsoft.com/office/drawing/2014/main" val="10004"/>
                  </a:ext>
                </a:extLst>
              </a:tr>
              <a:tr h="455168">
                <a:tc>
                  <a:txBody>
                    <a:bodyPr/>
                    <a:lstStyle/>
                    <a:p>
                      <a:r>
                        <a:rPr sz="1000" b="0">
                          <a:solidFill>
                            <a:srgbClr val="1C1917"/>
                          </a:solidFill>
                          <a:latin typeface="Segoe UI"/>
                        </a:rPr>
                        <a:t>Gudiño Paredes, Jasso Peña and de la Fuente Alcázar, 2021</a:t>
                      </a:r>
                    </a:p>
                  </a:txBody>
                  <a:tcPr marL="54864" marR="54864" marT="36576">
                    <a:solidFill>
                      <a:srgbClr val="FFFCF7"/>
                    </a:solidFill>
                  </a:tcPr>
                </a:tc>
                <a:tc>
                  <a:txBody>
                    <a:bodyPr/>
                    <a:lstStyle/>
                    <a:p>
                      <a:r>
                        <a:rPr sz="1000" b="0">
                          <a:solidFill>
                            <a:srgbClr val="1C1917"/>
                          </a:solidFill>
                          <a:latin typeface="Segoe UI"/>
                        </a:rPr>
                        <a:t>Mixed-methods study of remote proctoring</a:t>
                      </a:r>
                    </a:p>
                  </a:txBody>
                  <a:tcPr marL="54864" marR="54864" marT="36576">
                    <a:solidFill>
                      <a:srgbClr val="FFFCF7"/>
                    </a:solidFill>
                  </a:tcPr>
                </a:tc>
                <a:tc>
                  <a:txBody>
                    <a:bodyPr/>
                    <a:lstStyle/>
                    <a:p>
                      <a:r>
                        <a:rPr sz="1000" b="0">
                          <a:solidFill>
                            <a:srgbClr val="1C1917"/>
                          </a:solidFill>
                          <a:latin typeface="Segoe UI"/>
                        </a:rPr>
                        <a:t>Online graduate students</a:t>
                      </a:r>
                    </a:p>
                  </a:txBody>
                  <a:tcPr marL="54864" marR="54864" marT="36576">
                    <a:solidFill>
                      <a:srgbClr val="FFFCF7"/>
                    </a:solidFill>
                  </a:tcPr>
                </a:tc>
                <a:tc>
                  <a:txBody>
                    <a:bodyPr/>
                    <a:lstStyle/>
                    <a:p>
                      <a:r>
                        <a:rPr sz="1000" b="0">
                          <a:solidFill>
                            <a:srgbClr val="1C1917"/>
                          </a:solidFill>
                          <a:latin typeface="Segoe UI"/>
                        </a:rPr>
                        <a:t>Honesty, privacy, anxiety, technology</a:t>
                      </a:r>
                    </a:p>
                  </a:txBody>
                  <a:tcPr marL="54864" marR="54864" marT="36576">
                    <a:solidFill>
                      <a:srgbClr val="FFFCF7"/>
                    </a:solidFill>
                  </a:tcPr>
                </a:tc>
                <a:tc>
                  <a:txBody>
                    <a:bodyPr/>
                    <a:lstStyle/>
                    <a:p>
                      <a:r>
                        <a:rPr sz="1000" b="0">
                          <a:solidFill>
                            <a:srgbClr val="1C1917"/>
                          </a:solidFill>
                          <a:latin typeface="Segoe UI"/>
                        </a:rPr>
                        <a:t>Students felt watched; privacy and anxiety remained the concern</a:t>
                      </a:r>
                    </a:p>
                  </a:txBody>
                  <a:tcPr marL="54864" marR="54864" marT="36576">
                    <a:solidFill>
                      <a:srgbClr val="FFFCF7"/>
                    </a:solidFill>
                  </a:tcPr>
                </a:tc>
                <a:extLst>
                  <a:ext uri="{0D108BD9-81ED-4DB2-BD59-A6C34878D82A}">
                    <a16:rowId xmlns:a16="http://schemas.microsoft.com/office/drawing/2014/main" val="10005"/>
                  </a:ext>
                </a:extLst>
              </a:tr>
              <a:tr h="455168">
                <a:tc>
                  <a:txBody>
                    <a:bodyPr/>
                    <a:lstStyle/>
                    <a:p>
                      <a:r>
                        <a:rPr sz="1000" b="0">
                          <a:solidFill>
                            <a:srgbClr val="1C1917"/>
                          </a:solidFill>
                          <a:latin typeface="Segoe UI"/>
                        </a:rPr>
                        <a:t>Kharbat and Abu Daabes, 2021</a:t>
                      </a:r>
                    </a:p>
                  </a:txBody>
                  <a:tcPr marL="54864" marR="54864" marT="36576">
                    <a:solidFill>
                      <a:srgbClr val="F4F0E6"/>
                    </a:solidFill>
                  </a:tcPr>
                </a:tc>
                <a:tc>
                  <a:txBody>
                    <a:bodyPr/>
                    <a:lstStyle/>
                    <a:p>
                      <a:r>
                        <a:rPr sz="1000" b="0">
                          <a:solidFill>
                            <a:srgbClr val="1C1917"/>
                          </a:solidFill>
                          <a:latin typeface="Segoe UI"/>
                        </a:rPr>
                        <a:t>Mixed-methods student study</a:t>
                      </a:r>
                    </a:p>
                  </a:txBody>
                  <a:tcPr marL="54864" marR="54864" marT="36576">
                    <a:solidFill>
                      <a:srgbClr val="F4F0E6"/>
                    </a:solidFill>
                  </a:tcPr>
                </a:tc>
                <a:tc>
                  <a:txBody>
                    <a:bodyPr/>
                    <a:lstStyle/>
                    <a:p>
                      <a:r>
                        <a:rPr sz="1000" b="0">
                          <a:solidFill>
                            <a:srgbClr val="1C1917"/>
                          </a:solidFill>
                          <a:latin typeface="Segoe UI"/>
                        </a:rPr>
                        <a:t>About 92–106 students, June 2020</a:t>
                      </a:r>
                    </a:p>
                  </a:txBody>
                  <a:tcPr marL="54864" marR="54864" marT="36576">
                    <a:solidFill>
                      <a:srgbClr val="F4F0E6"/>
                    </a:solidFill>
                  </a:tcPr>
                </a:tc>
                <a:tc>
                  <a:txBody>
                    <a:bodyPr/>
                    <a:lstStyle/>
                    <a:p>
                      <a:r>
                        <a:rPr sz="1000" b="0">
                          <a:solidFill>
                            <a:srgbClr val="1C1917"/>
                          </a:solidFill>
                          <a:latin typeface="Segoe UI"/>
                        </a:rPr>
                        <a:t>Webcam practicality and privacy concern</a:t>
                      </a:r>
                    </a:p>
                  </a:txBody>
                  <a:tcPr marL="54864" marR="54864" marT="36576">
                    <a:solidFill>
                      <a:srgbClr val="F4F0E6"/>
                    </a:solidFill>
                  </a:tcPr>
                </a:tc>
                <a:tc>
                  <a:txBody>
                    <a:bodyPr/>
                    <a:lstStyle/>
                    <a:p>
                      <a:r>
                        <a:rPr sz="1000" b="0">
                          <a:solidFill>
                            <a:srgbClr val="1C1917"/>
                          </a:solidFill>
                          <a:latin typeface="Segoe UI"/>
                        </a:rPr>
                        <a:t>Most students called the webcam a privacy breach</a:t>
                      </a:r>
                    </a:p>
                  </a:txBody>
                  <a:tcPr marL="54864" marR="54864" marT="36576">
                    <a:solidFill>
                      <a:srgbClr val="F4F0E6"/>
                    </a:solidFill>
                  </a:tcPr>
                </a:tc>
                <a:extLst>
                  <a:ext uri="{0D108BD9-81ED-4DB2-BD59-A6C34878D82A}">
                    <a16:rowId xmlns:a16="http://schemas.microsoft.com/office/drawing/2014/main" val="10006"/>
                  </a:ext>
                </a:extLst>
              </a:tr>
              <a:tr h="455168">
                <a:tc>
                  <a:txBody>
                    <a:bodyPr/>
                    <a:lstStyle/>
                    <a:p>
                      <a:r>
                        <a:rPr sz="1000" b="0">
                          <a:solidFill>
                            <a:srgbClr val="1C1917"/>
                          </a:solidFill>
                          <a:latin typeface="Segoe UI"/>
                        </a:rPr>
                        <a:t>Lee and Fanguy, 2022</a:t>
                      </a:r>
                    </a:p>
                  </a:txBody>
                  <a:tcPr marL="54864" marR="54864" marT="36576">
                    <a:solidFill>
                      <a:srgbClr val="FFFCF7"/>
                    </a:solidFill>
                  </a:tcPr>
                </a:tc>
                <a:tc>
                  <a:txBody>
                    <a:bodyPr/>
                    <a:lstStyle/>
                    <a:p>
                      <a:r>
                        <a:rPr sz="1000" b="0">
                          <a:solidFill>
                            <a:srgbClr val="1C1917"/>
                          </a:solidFill>
                          <a:latin typeface="Segoe UI"/>
                        </a:rPr>
                        <a:t>Qualitative case study using Foucault</a:t>
                      </a:r>
                    </a:p>
                  </a:txBody>
                  <a:tcPr marL="54864" marR="54864" marT="36576">
                    <a:solidFill>
                      <a:srgbClr val="FFFCF7"/>
                    </a:solidFill>
                  </a:tcPr>
                </a:tc>
                <a:tc>
                  <a:txBody>
                    <a:bodyPr/>
                    <a:lstStyle/>
                    <a:p>
                      <a:r>
                        <a:rPr sz="1000" b="0">
                          <a:solidFill>
                            <a:srgbClr val="1C1917"/>
                          </a:solidFill>
                          <a:latin typeface="Segoe UI"/>
                        </a:rPr>
                        <a:t>Large South Korean university, Safe Exam Browser and Zoom, autumn 2020</a:t>
                      </a:r>
                    </a:p>
                  </a:txBody>
                  <a:tcPr marL="54864" marR="54864" marT="36576">
                    <a:solidFill>
                      <a:srgbClr val="FFFCF7"/>
                    </a:solidFill>
                  </a:tcPr>
                </a:tc>
                <a:tc>
                  <a:txBody>
                    <a:bodyPr/>
                    <a:lstStyle/>
                    <a:p>
                      <a:r>
                        <a:rPr sz="1000" b="0">
                          <a:solidFill>
                            <a:srgbClr val="1C1917"/>
                          </a:solidFill>
                          <a:latin typeface="Segoe UI"/>
                        </a:rPr>
                        <a:t>Student subjectivity, trust, pedagogical relationship</a:t>
                      </a:r>
                    </a:p>
                  </a:txBody>
                  <a:tcPr marL="54864" marR="54864" marT="36576">
                    <a:solidFill>
                      <a:srgbClr val="FFFCF7"/>
                    </a:solidFill>
                  </a:tcPr>
                </a:tc>
                <a:tc>
                  <a:txBody>
                    <a:bodyPr/>
                    <a:lstStyle/>
                    <a:p>
                      <a:r>
                        <a:rPr sz="1000" b="0">
                          <a:solidFill>
                            <a:srgbClr val="1C1917"/>
                          </a:solidFill>
                          <a:latin typeface="Segoe UI"/>
                        </a:rPr>
                        <a:t>Shows the harm of surveillance; does not specify a bounded monitor</a:t>
                      </a:r>
                    </a:p>
                  </a:txBody>
                  <a:tcPr marL="54864" marR="54864" marT="36576">
                    <a:solidFill>
                      <a:srgbClr val="FFFCF7"/>
                    </a:solidFill>
                  </a:tcPr>
                </a:tc>
                <a:extLst>
                  <a:ext uri="{0D108BD9-81ED-4DB2-BD59-A6C34878D82A}">
                    <a16:rowId xmlns:a16="http://schemas.microsoft.com/office/drawing/2014/main" val="10007"/>
                  </a:ext>
                </a:extLst>
              </a:tr>
              <a:tr h="455168">
                <a:tc>
                  <a:txBody>
                    <a:bodyPr/>
                    <a:lstStyle/>
                    <a:p>
                      <a:r>
                        <a:rPr sz="1000" b="0">
                          <a:solidFill>
                            <a:srgbClr val="1C1917"/>
                          </a:solidFill>
                          <a:latin typeface="Segoe UI"/>
                        </a:rPr>
                        <a:t>Meulmeester, Dubois, Krommenhoek-van Es et al., 2021</a:t>
                      </a:r>
                    </a:p>
                  </a:txBody>
                  <a:tcPr marL="54864" marR="54864" marT="36576">
                    <a:solidFill>
                      <a:srgbClr val="F4F0E6"/>
                    </a:solidFill>
                  </a:tcPr>
                </a:tc>
                <a:tc>
                  <a:txBody>
                    <a:bodyPr/>
                    <a:lstStyle/>
                    <a:p>
                      <a:r>
                        <a:rPr sz="1000" b="0">
                          <a:solidFill>
                            <a:srgbClr val="1C1917"/>
                          </a:solidFill>
                          <a:latin typeface="Segoe UI"/>
                        </a:rPr>
                        <a:t>Post-test questionnaire</a:t>
                      </a:r>
                    </a:p>
                  </a:txBody>
                  <a:tcPr marL="54864" marR="54864" marT="36576">
                    <a:solidFill>
                      <a:srgbClr val="F4F0E6"/>
                    </a:solidFill>
                  </a:tcPr>
                </a:tc>
                <a:tc>
                  <a:txBody>
                    <a:bodyPr/>
                    <a:lstStyle/>
                    <a:p>
                      <a:r>
                        <a:rPr sz="1000" b="0">
                          <a:solidFill>
                            <a:srgbClr val="1C1917"/>
                          </a:solidFill>
                          <a:latin typeface="Segoe UI"/>
                        </a:rPr>
                        <a:t>Medical students at one Dutch school, September 2020</a:t>
                      </a:r>
                    </a:p>
                  </a:txBody>
                  <a:tcPr marL="54864" marR="54864" marT="36576">
                    <a:solidFill>
                      <a:srgbClr val="F4F0E6"/>
                    </a:solidFill>
                  </a:tcPr>
                </a:tc>
                <a:tc>
                  <a:txBody>
                    <a:bodyPr/>
                    <a:lstStyle/>
                    <a:p>
                      <a:r>
                        <a:rPr sz="1000" b="0">
                          <a:solidFill>
                            <a:srgbClr val="1C1917"/>
                          </a:solidFill>
                          <a:latin typeface="Segoe UI"/>
                        </a:rPr>
                        <a:t>Invalidation from network, noise, webcam; privacy</a:t>
                      </a:r>
                    </a:p>
                  </a:txBody>
                  <a:tcPr marL="54864" marR="54864" marT="36576">
                    <a:solidFill>
                      <a:srgbClr val="F4F0E6"/>
                    </a:solidFill>
                  </a:tcPr>
                </a:tc>
                <a:tc>
                  <a:txBody>
                    <a:bodyPr/>
                    <a:lstStyle/>
                    <a:p>
                      <a:r>
                        <a:rPr sz="1000" b="0">
                          <a:solidFill>
                            <a:srgbClr val="1C1917"/>
                          </a:solidFill>
                          <a:latin typeface="Segoe UI"/>
                        </a:rPr>
                        <a:t>Worry about a false flag can itself change the sitting</a:t>
                      </a:r>
                    </a:p>
                  </a:txBody>
                  <a:tcPr marL="54864" marR="54864" marT="36576">
                    <a:solidFill>
                      <a:srgbClr val="F4F0E6"/>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21</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A5</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A5   Privacy and ethics  (2/2)</a:t>
            </a:r>
          </a:p>
        </p:txBody>
      </p:sp>
      <p:graphicFrame>
        <p:nvGraphicFramePr>
          <p:cNvPr id="9" name="Table 8"/>
          <p:cNvGraphicFramePr>
            <a:graphicFrameLocks noGrp="1"/>
          </p:cNvGraphicFramePr>
          <p:nvPr/>
        </p:nvGraphicFramePr>
        <p:xfrm>
          <a:off x="365760" y="1115568"/>
          <a:ext cx="11430000" cy="1719072"/>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gridCol w="2331720">
                  <a:extLst>
                    <a:ext uri="{9D8B030D-6E8A-4147-A177-3AD203B41FA5}">
                      <a16:colId xmlns:a16="http://schemas.microsoft.com/office/drawing/2014/main" val="20004"/>
                    </a:ext>
                  </a:extLst>
                </a:gridCol>
              </a:tblGrid>
              <a:tr h="429768">
                <a:tc>
                  <a:txBody>
                    <a:bodyPr/>
                    <a:lstStyle/>
                    <a:p>
                      <a:r>
                        <a:rPr sz="1000" b="1">
                          <a:solidFill>
                            <a:srgbClr val="FFFFFF"/>
                          </a:solidFill>
                          <a:latin typeface="Segoe UI"/>
                        </a:rPr>
                        <a:t>Author and year</a:t>
                      </a:r>
                    </a:p>
                  </a:txBody>
                  <a:tcPr marL="54864" marR="54864" marT="36576">
                    <a:solidFill>
                      <a:srgbClr val="12263A"/>
                    </a:solidFill>
                  </a:tcPr>
                </a:tc>
                <a:tc>
                  <a:txBody>
                    <a:bodyPr/>
                    <a:lstStyle/>
                    <a:p>
                      <a:r>
                        <a:rPr sz="1000" b="1">
                          <a:solidFill>
                            <a:srgbClr val="FFFFFF"/>
                          </a:solidFill>
                          <a:latin typeface="Segoe UI"/>
                        </a:rPr>
                        <a:t>Method</a:t>
                      </a:r>
                    </a:p>
                  </a:txBody>
                  <a:tcPr marL="54864" marR="54864" marT="36576">
                    <a:solidFill>
                      <a:srgbClr val="12263A"/>
                    </a:solidFill>
                  </a:tcPr>
                </a:tc>
                <a:tc>
                  <a:txBody>
                    <a:bodyPr/>
                    <a:lstStyle/>
                    <a:p>
                      <a:r>
                        <a:rPr sz="1000" b="1">
                          <a:solidFill>
                            <a:srgbClr val="FFFFFF"/>
                          </a:solidFill>
                          <a:latin typeface="Segoe UI"/>
                        </a:rPr>
                        <a:t>Dataset or testbed</a:t>
                      </a:r>
                    </a:p>
                  </a:txBody>
                  <a:tcPr marL="54864" marR="54864" marT="36576">
                    <a:solidFill>
                      <a:srgbClr val="12263A"/>
                    </a:solidFill>
                  </a:tcPr>
                </a:tc>
                <a:tc>
                  <a:txBody>
                    <a:bodyPr/>
                    <a:lstStyle/>
                    <a:p>
                      <a:r>
                        <a:rPr sz="1000" b="1">
                          <a:solidFill>
                            <a:srgbClr val="FFFFFF"/>
                          </a:solidFill>
                          <a:latin typeface="Segoe UI"/>
                        </a:rPr>
                        <a:t>Key parameters</a:t>
                      </a:r>
                    </a:p>
                  </a:txBody>
                  <a:tcPr marL="54864" marR="54864" marT="36576">
                    <a:solidFill>
                      <a:srgbClr val="12263A"/>
                    </a:solidFill>
                  </a:tcPr>
                </a:tc>
                <a:tc>
                  <a:txBody>
                    <a:bodyPr/>
                    <a:lstStyle/>
                    <a:p>
                      <a:r>
                        <a:rPr sz="1000" b="1">
                          <a:solidFill>
                            <a:srgbClr val="FFFFFF"/>
                          </a:solidFill>
                          <a:latin typeface="Segoe UI"/>
                        </a:rPr>
                        <a:t>Limitation</a:t>
                      </a:r>
                    </a:p>
                  </a:txBody>
                  <a:tcPr marL="54864" marR="54864" marT="36576">
                    <a:solidFill>
                      <a:srgbClr val="12263A"/>
                    </a:solidFill>
                  </a:tcPr>
                </a:tc>
                <a:extLst>
                  <a:ext uri="{0D108BD9-81ED-4DB2-BD59-A6C34878D82A}">
                    <a16:rowId xmlns:a16="http://schemas.microsoft.com/office/drawing/2014/main" val="10000"/>
                  </a:ext>
                </a:extLst>
              </a:tr>
              <a:tr h="429768">
                <a:tc>
                  <a:txBody>
                    <a:bodyPr/>
                    <a:lstStyle/>
                    <a:p>
                      <a:r>
                        <a:rPr sz="1000" b="0">
                          <a:solidFill>
                            <a:srgbClr val="1C1917"/>
                          </a:solidFill>
                          <a:latin typeface="Segoe UI"/>
                        </a:rPr>
                        <a:t>Milone, Cortese, Balestrieri and Pittenger, 2017  ·  foundational</a:t>
                      </a:r>
                    </a:p>
                  </a:txBody>
                  <a:tcPr marL="54864" marR="54864" marT="36576">
                    <a:solidFill>
                      <a:srgbClr val="FFFCF7"/>
                    </a:solidFill>
                  </a:tcPr>
                </a:tc>
                <a:tc>
                  <a:txBody>
                    <a:bodyPr/>
                    <a:lstStyle/>
                    <a:p>
                      <a:r>
                        <a:rPr sz="1000" b="0">
                          <a:solidFill>
                            <a:srgbClr val="1C1917"/>
                          </a:solidFill>
                          <a:latin typeface="Segoe UI"/>
                        </a:rPr>
                        <a:t>Student-experience study</a:t>
                      </a:r>
                    </a:p>
                  </a:txBody>
                  <a:tcPr marL="54864" marR="54864" marT="36576">
                    <a:solidFill>
                      <a:srgbClr val="FFFCF7"/>
                    </a:solidFill>
                  </a:tcPr>
                </a:tc>
                <a:tc>
                  <a:txBody>
                    <a:bodyPr/>
                    <a:lstStyle/>
                    <a:p>
                      <a:r>
                        <a:rPr sz="1000" b="0">
                          <a:solidFill>
                            <a:srgbClr val="1C1917"/>
                          </a:solidFill>
                          <a:latin typeface="Segoe UI"/>
                        </a:rPr>
                        <a:t>Pharmacy students in proctored online exams</a:t>
                      </a:r>
                    </a:p>
                  </a:txBody>
                  <a:tcPr marL="54864" marR="54864" marT="36576">
                    <a:solidFill>
                      <a:srgbClr val="FFFCF7"/>
                    </a:solidFill>
                  </a:tcPr>
                </a:tc>
                <a:tc>
                  <a:txBody>
                    <a:bodyPr/>
                    <a:lstStyle/>
                    <a:p>
                      <a:r>
                        <a:rPr sz="1000" b="0">
                          <a:solidFill>
                            <a:srgbClr val="1C1917"/>
                          </a:solidFill>
                          <a:latin typeface="Segoe UI"/>
                        </a:rPr>
                        <a:t>Stress, fairness, technical failure</a:t>
                      </a:r>
                    </a:p>
                  </a:txBody>
                  <a:tcPr marL="54864" marR="54864" marT="36576">
                    <a:solidFill>
                      <a:srgbClr val="FFFCF7"/>
                    </a:solidFill>
                  </a:tcPr>
                </a:tc>
                <a:tc>
                  <a:txBody>
                    <a:bodyPr/>
                    <a:lstStyle/>
                    <a:p>
                      <a:r>
                        <a:rPr sz="1000" b="0">
                          <a:solidFill>
                            <a:srgbClr val="1C1917"/>
                          </a:solidFill>
                          <a:latin typeface="Segoe UI"/>
                        </a:rPr>
                        <a:t>Experience of surveillance, not an explainable rule</a:t>
                      </a:r>
                    </a:p>
                  </a:txBody>
                  <a:tcPr marL="54864" marR="54864" marT="36576">
                    <a:solidFill>
                      <a:srgbClr val="FFFCF7"/>
                    </a:solidFill>
                  </a:tcPr>
                </a:tc>
                <a:extLst>
                  <a:ext uri="{0D108BD9-81ED-4DB2-BD59-A6C34878D82A}">
                    <a16:rowId xmlns:a16="http://schemas.microsoft.com/office/drawing/2014/main" val="10001"/>
                  </a:ext>
                </a:extLst>
              </a:tr>
              <a:tr h="429768">
                <a:tc>
                  <a:txBody>
                    <a:bodyPr/>
                    <a:lstStyle/>
                    <a:p>
                      <a:r>
                        <a:rPr sz="1000" b="0">
                          <a:solidFill>
                            <a:srgbClr val="1C1917"/>
                          </a:solidFill>
                          <a:latin typeface="Segoe UI"/>
                        </a:rPr>
                        <a:t>Mutimukwe, Viberg, McGrath and Cerratto-Pargman, 2025</a:t>
                      </a:r>
                    </a:p>
                  </a:txBody>
                  <a:tcPr marL="54864" marR="54864" marT="36576">
                    <a:solidFill>
                      <a:srgbClr val="F4F0E6"/>
                    </a:solidFill>
                  </a:tcPr>
                </a:tc>
                <a:tc>
                  <a:txBody>
                    <a:bodyPr/>
                    <a:lstStyle/>
                    <a:p>
                      <a:r>
                        <a:rPr sz="1000" b="0">
                          <a:solidFill>
                            <a:srgbClr val="1C1917"/>
                          </a:solidFill>
                          <a:latin typeface="Segoe UI"/>
                        </a:rPr>
                        <a:t>Stakeholder interviews</a:t>
                      </a:r>
                    </a:p>
                  </a:txBody>
                  <a:tcPr marL="54864" marR="54864" marT="36576">
                    <a:solidFill>
                      <a:srgbClr val="F4F0E6"/>
                    </a:solidFill>
                  </a:tcPr>
                </a:tc>
                <a:tc>
                  <a:txBody>
                    <a:bodyPr/>
                    <a:lstStyle/>
                    <a:p>
                      <a:r>
                        <a:rPr sz="1000" b="0">
                          <a:solidFill>
                            <a:srgbClr val="1C1917"/>
                          </a:solidFill>
                          <a:latin typeface="Segoe UI"/>
                        </a:rPr>
                        <a:t>10 interviews, Scandinavia</a:t>
                      </a:r>
                    </a:p>
                  </a:txBody>
                  <a:tcPr marL="54864" marR="54864" marT="36576">
                    <a:solidFill>
                      <a:srgbClr val="F4F0E6"/>
                    </a:solidFill>
                  </a:tcPr>
                </a:tc>
                <a:tc>
                  <a:txBody>
                    <a:bodyPr/>
                    <a:lstStyle/>
                    <a:p>
                      <a:r>
                        <a:rPr sz="1000" b="0">
                          <a:solidFill>
                            <a:srgbClr val="1C1917"/>
                          </a:solidFill>
                          <a:latin typeface="Segoe UI"/>
                        </a:rPr>
                        <a:t>What is collected, who sees it, and for how long</a:t>
                      </a:r>
                    </a:p>
                  </a:txBody>
                  <a:tcPr marL="54864" marR="54864" marT="36576">
                    <a:solidFill>
                      <a:srgbClr val="F4F0E6"/>
                    </a:solidFill>
                  </a:tcPr>
                </a:tc>
                <a:tc>
                  <a:txBody>
                    <a:bodyPr/>
                    <a:lstStyle/>
                    <a:p>
                      <a:r>
                        <a:rPr sz="1000" b="0">
                          <a:solidFill>
                            <a:srgbClr val="1C1917"/>
                          </a:solidFill>
                          <a:latin typeface="Segoe UI"/>
                        </a:rPr>
                        <a:t>Privacy is negotiated in talk; the systems still default to biometrics</a:t>
                      </a:r>
                    </a:p>
                  </a:txBody>
                  <a:tcPr marL="54864" marR="54864" marT="36576">
                    <a:solidFill>
                      <a:srgbClr val="F4F0E6"/>
                    </a:solidFill>
                  </a:tcPr>
                </a:tc>
                <a:extLst>
                  <a:ext uri="{0D108BD9-81ED-4DB2-BD59-A6C34878D82A}">
                    <a16:rowId xmlns:a16="http://schemas.microsoft.com/office/drawing/2014/main" val="10002"/>
                  </a:ext>
                </a:extLst>
              </a:tr>
              <a:tr h="429768">
                <a:tc>
                  <a:txBody>
                    <a:bodyPr/>
                    <a:lstStyle/>
                    <a:p>
                      <a:r>
                        <a:rPr sz="1000" b="0">
                          <a:solidFill>
                            <a:srgbClr val="1C1917"/>
                          </a:solidFill>
                          <a:latin typeface="Segoe UI"/>
                        </a:rPr>
                        <a:t>Selwyn, O'Neill, Smith, Andrejevic and Gu, 2023</a:t>
                      </a:r>
                    </a:p>
                  </a:txBody>
                  <a:tcPr marL="54864" marR="54864" marT="36576">
                    <a:solidFill>
                      <a:srgbClr val="FFFCF7"/>
                    </a:solidFill>
                  </a:tcPr>
                </a:tc>
                <a:tc>
                  <a:txBody>
                    <a:bodyPr/>
                    <a:lstStyle/>
                    <a:p>
                      <a:r>
                        <a:rPr sz="1000" b="0">
                          <a:solidFill>
                            <a:srgbClr val="1C1917"/>
                          </a:solidFill>
                          <a:latin typeface="Segoe UI"/>
                        </a:rPr>
                        <a:t>Domestication study of adoption</a:t>
                      </a:r>
                    </a:p>
                  </a:txBody>
                  <a:tcPr marL="54864" marR="54864" marT="36576">
                    <a:solidFill>
                      <a:srgbClr val="FFFCF7"/>
                    </a:solidFill>
                  </a:tcPr>
                </a:tc>
                <a:tc>
                  <a:txBody>
                    <a:bodyPr/>
                    <a:lstStyle/>
                    <a:p>
                      <a:r>
                        <a:rPr sz="1000" b="0">
                          <a:solidFill>
                            <a:srgbClr val="1C1917"/>
                          </a:solidFill>
                          <a:latin typeface="Segoe UI"/>
                        </a:rPr>
                        <a:t>Interviews, documents, news, and marketing, first pandemic year</a:t>
                      </a:r>
                    </a:p>
                  </a:txBody>
                  <a:tcPr marL="54864" marR="54864" marT="36576">
                    <a:solidFill>
                      <a:srgbClr val="FFFCF7"/>
                    </a:solidFill>
                  </a:tcPr>
                </a:tc>
                <a:tc>
                  <a:txBody>
                    <a:bodyPr/>
                    <a:lstStyle/>
                    <a:p>
                      <a:r>
                        <a:rPr sz="1000" b="0">
                          <a:solidFill>
                            <a:srgbClr val="1C1917"/>
                          </a:solidFill>
                          <a:latin typeface="Segoe UI"/>
                        </a:rPr>
                        <a:t>Who controls the system; hidden labour; student vulnerability</a:t>
                      </a:r>
                    </a:p>
                  </a:txBody>
                  <a:tcPr marL="54864" marR="54864" marT="36576">
                    <a:solidFill>
                      <a:srgbClr val="FFFCF7"/>
                    </a:solidFill>
                  </a:tcPr>
                </a:tc>
                <a:tc>
                  <a:txBody>
                    <a:bodyPr/>
                    <a:lstStyle/>
                    <a:p>
                      <a:r>
                        <a:rPr sz="1000" b="0">
                          <a:solidFill>
                            <a:srgbClr val="1C1917"/>
                          </a:solidFill>
                          <a:latin typeface="Segoe UI"/>
                        </a:rPr>
                        <a:t>Universities surrendered control to vendors; automation still needs people</a:t>
                      </a:r>
                    </a:p>
                  </a:txBody>
                  <a:tcPr marL="54864" marR="54864" marT="36576">
                    <a:solidFill>
                      <a:srgbClr val="FFFCF7"/>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22</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A6</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A6   Generative AI and answer patterns  (1/2)</a:t>
            </a:r>
          </a:p>
        </p:txBody>
      </p:sp>
      <p:graphicFrame>
        <p:nvGraphicFramePr>
          <p:cNvPr id="9" name="Table 8"/>
          <p:cNvGraphicFramePr>
            <a:graphicFrameLocks noGrp="1"/>
          </p:cNvGraphicFramePr>
          <p:nvPr/>
        </p:nvGraphicFramePr>
        <p:xfrm>
          <a:off x="365760" y="1115568"/>
          <a:ext cx="11430000" cy="4349496"/>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gridCol w="2331720">
                  <a:extLst>
                    <a:ext uri="{9D8B030D-6E8A-4147-A177-3AD203B41FA5}">
                      <a16:colId xmlns:a16="http://schemas.microsoft.com/office/drawing/2014/main" val="20004"/>
                    </a:ext>
                  </a:extLst>
                </a:gridCol>
              </a:tblGrid>
              <a:tr h="455168">
                <a:tc>
                  <a:txBody>
                    <a:bodyPr/>
                    <a:lstStyle/>
                    <a:p>
                      <a:r>
                        <a:rPr sz="1000" b="1">
                          <a:solidFill>
                            <a:srgbClr val="FFFFFF"/>
                          </a:solidFill>
                          <a:latin typeface="Segoe UI"/>
                        </a:rPr>
                        <a:t>Author and year</a:t>
                      </a:r>
                    </a:p>
                  </a:txBody>
                  <a:tcPr marL="54864" marR="54864" marT="36576">
                    <a:solidFill>
                      <a:srgbClr val="12263A"/>
                    </a:solidFill>
                  </a:tcPr>
                </a:tc>
                <a:tc>
                  <a:txBody>
                    <a:bodyPr/>
                    <a:lstStyle/>
                    <a:p>
                      <a:r>
                        <a:rPr sz="1000" b="1">
                          <a:solidFill>
                            <a:srgbClr val="FFFFFF"/>
                          </a:solidFill>
                          <a:latin typeface="Segoe UI"/>
                        </a:rPr>
                        <a:t>Method</a:t>
                      </a:r>
                    </a:p>
                  </a:txBody>
                  <a:tcPr marL="54864" marR="54864" marT="36576">
                    <a:solidFill>
                      <a:srgbClr val="12263A"/>
                    </a:solidFill>
                  </a:tcPr>
                </a:tc>
                <a:tc>
                  <a:txBody>
                    <a:bodyPr/>
                    <a:lstStyle/>
                    <a:p>
                      <a:r>
                        <a:rPr sz="1000" b="1">
                          <a:solidFill>
                            <a:srgbClr val="FFFFFF"/>
                          </a:solidFill>
                          <a:latin typeface="Segoe UI"/>
                        </a:rPr>
                        <a:t>Dataset or testbed</a:t>
                      </a:r>
                    </a:p>
                  </a:txBody>
                  <a:tcPr marL="54864" marR="54864" marT="36576">
                    <a:solidFill>
                      <a:srgbClr val="12263A"/>
                    </a:solidFill>
                  </a:tcPr>
                </a:tc>
                <a:tc>
                  <a:txBody>
                    <a:bodyPr/>
                    <a:lstStyle/>
                    <a:p>
                      <a:r>
                        <a:rPr sz="1000" b="1">
                          <a:solidFill>
                            <a:srgbClr val="FFFFFF"/>
                          </a:solidFill>
                          <a:latin typeface="Segoe UI"/>
                        </a:rPr>
                        <a:t>Key parameters</a:t>
                      </a:r>
                    </a:p>
                  </a:txBody>
                  <a:tcPr marL="54864" marR="54864" marT="36576">
                    <a:solidFill>
                      <a:srgbClr val="12263A"/>
                    </a:solidFill>
                  </a:tcPr>
                </a:tc>
                <a:tc>
                  <a:txBody>
                    <a:bodyPr/>
                    <a:lstStyle/>
                    <a:p>
                      <a:r>
                        <a:rPr sz="1000" b="1">
                          <a:solidFill>
                            <a:srgbClr val="FFFFFF"/>
                          </a:solidFill>
                          <a:latin typeface="Segoe UI"/>
                        </a:rPr>
                        <a:t>Limitation</a:t>
                      </a:r>
                    </a:p>
                  </a:txBody>
                  <a:tcPr marL="54864" marR="54864" marT="36576">
                    <a:solidFill>
                      <a:srgbClr val="12263A"/>
                    </a:solidFill>
                  </a:tcPr>
                </a:tc>
                <a:extLst>
                  <a:ext uri="{0D108BD9-81ED-4DB2-BD59-A6C34878D82A}">
                    <a16:rowId xmlns:a16="http://schemas.microsoft.com/office/drawing/2014/main" val="10000"/>
                  </a:ext>
                </a:extLst>
              </a:tr>
              <a:tr h="455168">
                <a:tc>
                  <a:txBody>
                    <a:bodyPr/>
                    <a:lstStyle/>
                    <a:p>
                      <a:r>
                        <a:rPr sz="1000" b="0">
                          <a:solidFill>
                            <a:srgbClr val="1C1917"/>
                          </a:solidFill>
                          <a:latin typeface="Segoe UI"/>
                        </a:rPr>
                        <a:t>Dendir and Maxwell, 2020  ·  foundational</a:t>
                      </a:r>
                    </a:p>
                  </a:txBody>
                  <a:tcPr marL="54864" marR="54864" marT="36576">
                    <a:solidFill>
                      <a:srgbClr val="FFFCF7"/>
                    </a:solidFill>
                  </a:tcPr>
                </a:tc>
                <a:tc>
                  <a:txBody>
                    <a:bodyPr/>
                    <a:lstStyle/>
                    <a:p>
                      <a:r>
                        <a:rPr sz="1000" b="0">
                          <a:solidFill>
                            <a:srgbClr val="1C1917"/>
                          </a:solidFill>
                          <a:latin typeface="Segoe UI"/>
                        </a:rPr>
                        <a:t>Score comparison under proctoring</a:t>
                      </a:r>
                    </a:p>
                  </a:txBody>
                  <a:tcPr marL="54864" marR="54864" marT="36576">
                    <a:solidFill>
                      <a:srgbClr val="FFFCF7"/>
                    </a:solidFill>
                  </a:tcPr>
                </a:tc>
                <a:tc>
                  <a:txBody>
                    <a:bodyPr/>
                    <a:lstStyle/>
                    <a:p>
                      <a:r>
                        <a:rPr sz="1000" b="0">
                          <a:solidFill>
                            <a:srgbClr val="1C1917"/>
                          </a:solidFill>
                          <a:latin typeface="Segoe UI"/>
                        </a:rPr>
                        <a:t>Online course exams before and after proctoring</a:t>
                      </a:r>
                    </a:p>
                  </a:txBody>
                  <a:tcPr marL="54864" marR="54864" marT="36576">
                    <a:solidFill>
                      <a:srgbClr val="FFFCF7"/>
                    </a:solidFill>
                  </a:tcPr>
                </a:tc>
                <a:tc>
                  <a:txBody>
                    <a:bodyPr/>
                    <a:lstStyle/>
                    <a:p>
                      <a:r>
                        <a:rPr sz="1000" b="0">
                          <a:solidFill>
                            <a:srgbClr val="1C1917"/>
                          </a:solidFill>
                          <a:latin typeface="Segoe UI"/>
                        </a:rPr>
                        <a:t>Score change when a proctor is added</a:t>
                      </a:r>
                    </a:p>
                  </a:txBody>
                  <a:tcPr marL="54864" marR="54864" marT="36576">
                    <a:solidFill>
                      <a:srgbClr val="FFFCF7"/>
                    </a:solidFill>
                  </a:tcPr>
                </a:tc>
                <a:tc>
                  <a:txBody>
                    <a:bodyPr/>
                    <a:lstStyle/>
                    <a:p>
                      <a:r>
                        <a:rPr sz="1000" b="0">
                          <a:solidFill>
                            <a:srgbClr val="1C1917"/>
                          </a:solidFill>
                          <a:latin typeface="Segoe UI"/>
                        </a:rPr>
                        <a:t>Does not open the scoring black box</a:t>
                      </a:r>
                    </a:p>
                  </a:txBody>
                  <a:tcPr marL="54864" marR="54864" marT="36576">
                    <a:solidFill>
                      <a:srgbClr val="FFFCF7"/>
                    </a:solidFill>
                  </a:tcPr>
                </a:tc>
                <a:extLst>
                  <a:ext uri="{0D108BD9-81ED-4DB2-BD59-A6C34878D82A}">
                    <a16:rowId xmlns:a16="http://schemas.microsoft.com/office/drawing/2014/main" val="10001"/>
                  </a:ext>
                </a:extLst>
              </a:tr>
              <a:tr h="455168">
                <a:tc>
                  <a:txBody>
                    <a:bodyPr/>
                    <a:lstStyle/>
                    <a:p>
                      <a:r>
                        <a:rPr sz="1000" b="0">
                          <a:solidFill>
                            <a:srgbClr val="1C1917"/>
                          </a:solidFill>
                          <a:latin typeface="Segoe UI"/>
                        </a:rPr>
                        <a:t>Golden and Kohlbeck, 2020  ·  foundational</a:t>
                      </a:r>
                    </a:p>
                  </a:txBody>
                  <a:tcPr marL="54864" marR="54864" marT="36576">
                    <a:solidFill>
                      <a:srgbClr val="F4F0E6"/>
                    </a:solidFill>
                  </a:tcPr>
                </a:tc>
                <a:tc>
                  <a:txBody>
                    <a:bodyPr/>
                    <a:lstStyle/>
                    <a:p>
                      <a:r>
                        <a:rPr sz="1000" b="0">
                          <a:solidFill>
                            <a:srgbClr val="1C1917"/>
                          </a:solidFill>
                          <a:latin typeface="Segoe UI"/>
                        </a:rPr>
                        <a:t>Study of test-bank item leakage</a:t>
                      </a:r>
                    </a:p>
                  </a:txBody>
                  <a:tcPr marL="54864" marR="54864" marT="36576">
                    <a:solidFill>
                      <a:srgbClr val="F4F0E6"/>
                    </a:solidFill>
                  </a:tcPr>
                </a:tc>
                <a:tc>
                  <a:txBody>
                    <a:bodyPr/>
                    <a:lstStyle/>
                    <a:p>
                      <a:r>
                        <a:rPr sz="1000" b="0">
                          <a:solidFill>
                            <a:srgbClr val="1C1917"/>
                          </a:solidFill>
                          <a:latin typeface="Segoe UI"/>
                        </a:rPr>
                        <a:t>Online accounting classes</a:t>
                      </a:r>
                    </a:p>
                  </a:txBody>
                  <a:tcPr marL="54864" marR="54864" marT="36576">
                    <a:solidFill>
                      <a:srgbClr val="F4F0E6"/>
                    </a:solidFill>
                  </a:tcPr>
                </a:tc>
                <a:tc>
                  <a:txBody>
                    <a:bodyPr/>
                    <a:lstStyle/>
                    <a:p>
                      <a:r>
                        <a:rPr sz="1000" b="0">
                          <a:solidFill>
                            <a:srgbClr val="1C1917"/>
                          </a:solidFill>
                          <a:latin typeface="Segoe UI"/>
                        </a:rPr>
                        <a:t>Item exposure and score patterns</a:t>
                      </a:r>
                    </a:p>
                  </a:txBody>
                  <a:tcPr marL="54864" marR="54864" marT="36576">
                    <a:solidFill>
                      <a:srgbClr val="F4F0E6"/>
                    </a:solidFill>
                  </a:tcPr>
                </a:tc>
                <a:tc>
                  <a:txBody>
                    <a:bodyPr/>
                    <a:lstStyle/>
                    <a:p>
                      <a:r>
                        <a:rPr sz="1000" b="0">
                          <a:solidFill>
                            <a:srgbClr val="1C1917"/>
                          </a:solidFill>
                          <a:latin typeface="Segoe UI"/>
                        </a:rPr>
                        <a:t>About reused items, not about what the endpoint is doing</a:t>
                      </a:r>
                    </a:p>
                  </a:txBody>
                  <a:tcPr marL="54864" marR="54864" marT="36576">
                    <a:solidFill>
                      <a:srgbClr val="F4F0E6"/>
                    </a:solidFill>
                  </a:tcPr>
                </a:tc>
                <a:extLst>
                  <a:ext uri="{0D108BD9-81ED-4DB2-BD59-A6C34878D82A}">
                    <a16:rowId xmlns:a16="http://schemas.microsoft.com/office/drawing/2014/main" val="10002"/>
                  </a:ext>
                </a:extLst>
              </a:tr>
              <a:tr h="455168">
                <a:tc>
                  <a:txBody>
                    <a:bodyPr/>
                    <a:lstStyle/>
                    <a:p>
                      <a:r>
                        <a:rPr sz="1000" b="0">
                          <a:solidFill>
                            <a:srgbClr val="1C1917"/>
                          </a:solidFill>
                          <a:latin typeface="Segoe UI"/>
                        </a:rPr>
                        <a:t>Henderson, Chung, Awdry, Mundy, Bryant, Ashford and Ryan, 2023</a:t>
                      </a:r>
                    </a:p>
                  </a:txBody>
                  <a:tcPr marL="54864" marR="54864" marT="36576">
                    <a:solidFill>
                      <a:srgbClr val="FFFCF7"/>
                    </a:solidFill>
                  </a:tcPr>
                </a:tc>
                <a:tc>
                  <a:txBody>
                    <a:bodyPr/>
                    <a:lstStyle/>
                    <a:p>
                      <a:r>
                        <a:rPr sz="1000" b="0">
                          <a:solidFill>
                            <a:srgbClr val="1C1917"/>
                          </a:solidFill>
                          <a:latin typeface="Segoe UI"/>
                        </a:rPr>
                        <a:t>Large post-exam self-report survey</a:t>
                      </a:r>
                    </a:p>
                  </a:txBody>
                  <a:tcPr marL="54864" marR="54864" marT="36576">
                    <a:solidFill>
                      <a:srgbClr val="FFFCF7"/>
                    </a:solidFill>
                  </a:tcPr>
                </a:tc>
                <a:tc>
                  <a:txBody>
                    <a:bodyPr/>
                    <a:lstStyle/>
                    <a:p>
                      <a:r>
                        <a:rPr sz="1000" b="0">
                          <a:solidFill>
                            <a:srgbClr val="1C1917"/>
                          </a:solidFill>
                          <a:latin typeface="Segoe UI"/>
                        </a:rPr>
                        <a:t>7,839 students; 216 reported cheating; one Australian university, 2021</a:t>
                      </a:r>
                    </a:p>
                  </a:txBody>
                  <a:tcPr marL="54864" marR="54864" marT="36576">
                    <a:solidFill>
                      <a:srgbClr val="FFFCF7"/>
                    </a:solidFill>
                  </a:tcPr>
                </a:tc>
                <a:tc>
                  <a:txBody>
                    <a:bodyPr/>
                    <a:lstStyle/>
                    <a:p>
                      <a:r>
                        <a:rPr sz="1000" b="0">
                          <a:solidFill>
                            <a:srgbClr val="1C1917"/>
                          </a:solidFill>
                          <a:latin typeface="Segoe UI"/>
                        </a:rPr>
                        <a:t>Security measure, design, conditions, demographics</a:t>
                      </a:r>
                    </a:p>
                  </a:txBody>
                  <a:tcPr marL="54864" marR="54864" marT="36576">
                    <a:solidFill>
                      <a:srgbClr val="FFFCF7"/>
                    </a:solidFill>
                  </a:tcPr>
                </a:tc>
                <a:tc>
                  <a:txBody>
                    <a:bodyPr/>
                    <a:lstStyle/>
                    <a:p>
                      <a:r>
                        <a:rPr sz="1000" b="0">
                          <a:solidFill>
                            <a:srgbClr val="1C1917"/>
                          </a:solidFill>
                          <a:latin typeface="Segoe UI"/>
                        </a:rPr>
                        <a:t>Cheating occurred across security measures; proctoring was incomplete</a:t>
                      </a:r>
                    </a:p>
                  </a:txBody>
                  <a:tcPr marL="54864" marR="54864" marT="36576">
                    <a:solidFill>
                      <a:srgbClr val="FFFCF7"/>
                    </a:solidFill>
                  </a:tcPr>
                </a:tc>
                <a:extLst>
                  <a:ext uri="{0D108BD9-81ED-4DB2-BD59-A6C34878D82A}">
                    <a16:rowId xmlns:a16="http://schemas.microsoft.com/office/drawing/2014/main" val="10003"/>
                  </a:ext>
                </a:extLst>
              </a:tr>
              <a:tr h="455168">
                <a:tc>
                  <a:txBody>
                    <a:bodyPr/>
                    <a:lstStyle/>
                    <a:p>
                      <a:r>
                        <a:rPr sz="1000" b="0">
                          <a:solidFill>
                            <a:srgbClr val="1C1917"/>
                          </a:solidFill>
                          <a:latin typeface="Segoe UI"/>
                        </a:rPr>
                        <a:t>Ibrahim, Liu, Asim, Battu, Benabderrahmane, Alhafni, Adnan et al., 2023</a:t>
                      </a:r>
                    </a:p>
                  </a:txBody>
                  <a:tcPr marL="54864" marR="54864" marT="36576">
                    <a:solidFill>
                      <a:srgbClr val="F4F0E6"/>
                    </a:solidFill>
                  </a:tcPr>
                </a:tc>
                <a:tc>
                  <a:txBody>
                    <a:bodyPr/>
                    <a:lstStyle/>
                    <a:p>
                      <a:r>
                        <a:rPr sz="1000" b="0">
                          <a:solidFill>
                            <a:srgbClr val="1C1917"/>
                          </a:solidFill>
                          <a:latin typeface="Segoe UI"/>
                        </a:rPr>
                        <a:t>ChatGPT answers compared with student work, then run through detectors</a:t>
                      </a:r>
                    </a:p>
                  </a:txBody>
                  <a:tcPr marL="54864" marR="54864" marT="36576">
                    <a:solidFill>
                      <a:srgbClr val="F4F0E6"/>
                    </a:solidFill>
                  </a:tcPr>
                </a:tc>
                <a:tc>
                  <a:txBody>
                    <a:bodyPr/>
                    <a:lstStyle/>
                    <a:p>
                      <a:r>
                        <a:rPr sz="1000" b="0">
                          <a:solidFill>
                            <a:srgbClr val="1C1917"/>
                          </a:solidFill>
                          <a:latin typeface="Segoe UI"/>
                        </a:rPr>
                        <a:t>32 courses, 8 disciplines</a:t>
                      </a:r>
                    </a:p>
                  </a:txBody>
                  <a:tcPr marL="54864" marR="54864" marT="36576">
                    <a:solidFill>
                      <a:srgbClr val="F4F0E6"/>
                    </a:solidFill>
                  </a:tcPr>
                </a:tc>
                <a:tc>
                  <a:txBody>
                    <a:bodyPr/>
                    <a:lstStyle/>
                    <a:p>
                      <a:r>
                        <a:rPr sz="1000" b="0">
                          <a:solidFill>
                            <a:srgbClr val="1C1917"/>
                          </a:solidFill>
                          <a:latin typeface="Segoe UI"/>
                        </a:rPr>
                        <a:t>Detector accuracy; obfuscation</a:t>
                      </a:r>
                    </a:p>
                  </a:txBody>
                  <a:tcPr marL="54864" marR="54864" marT="36576">
                    <a:solidFill>
                      <a:srgbClr val="F4F0E6"/>
                    </a:solidFill>
                  </a:tcPr>
                </a:tc>
                <a:tc>
                  <a:txBody>
                    <a:bodyPr/>
                    <a:lstStyle/>
                    <a:p>
                      <a:r>
                        <a:rPr sz="1000" b="0">
                          <a:solidFill>
                            <a:srgbClr val="1C1917"/>
                          </a:solidFill>
                          <a:latin typeface="Segoe UI"/>
                        </a:rPr>
                        <a:t>Detectors fail, and light editing evades them</a:t>
                      </a:r>
                    </a:p>
                  </a:txBody>
                  <a:tcPr marL="54864" marR="54864" marT="36576">
                    <a:solidFill>
                      <a:srgbClr val="F4F0E6"/>
                    </a:solidFill>
                  </a:tcPr>
                </a:tc>
                <a:extLst>
                  <a:ext uri="{0D108BD9-81ED-4DB2-BD59-A6C34878D82A}">
                    <a16:rowId xmlns:a16="http://schemas.microsoft.com/office/drawing/2014/main" val="10004"/>
                  </a:ext>
                </a:extLst>
              </a:tr>
              <a:tr h="455168">
                <a:tc>
                  <a:txBody>
                    <a:bodyPr/>
                    <a:lstStyle/>
                    <a:p>
                      <a:r>
                        <a:rPr sz="1000" b="0">
                          <a:solidFill>
                            <a:srgbClr val="1C1917"/>
                          </a:solidFill>
                          <a:latin typeface="Segoe UI"/>
                        </a:rPr>
                        <a:t>Ilgaz and Afacan Adanır, 2020  ·  foundational</a:t>
                      </a:r>
                    </a:p>
                  </a:txBody>
                  <a:tcPr marL="54864" marR="54864" marT="36576">
                    <a:solidFill>
                      <a:srgbClr val="FFFCF7"/>
                    </a:solidFill>
                  </a:tcPr>
                </a:tc>
                <a:tc>
                  <a:txBody>
                    <a:bodyPr/>
                    <a:lstStyle/>
                    <a:p>
                      <a:r>
                        <a:rPr sz="1000" b="0">
                          <a:solidFill>
                            <a:srgbClr val="1C1917"/>
                          </a:solidFill>
                          <a:latin typeface="Segoe UI"/>
                        </a:rPr>
                        <a:t>Learner survey on online exams</a:t>
                      </a:r>
                    </a:p>
                  </a:txBody>
                  <a:tcPr marL="54864" marR="54864" marT="36576">
                    <a:solidFill>
                      <a:srgbClr val="FFFCF7"/>
                    </a:solidFill>
                  </a:tcPr>
                </a:tc>
                <a:tc>
                  <a:txBody>
                    <a:bodyPr/>
                    <a:lstStyle/>
                    <a:p>
                      <a:r>
                        <a:rPr sz="1000" b="0">
                          <a:solidFill>
                            <a:srgbClr val="1C1917"/>
                          </a:solidFill>
                          <a:latin typeface="Segoe UI"/>
                        </a:rPr>
                        <a:t>Online learners</a:t>
                      </a:r>
                    </a:p>
                  </a:txBody>
                  <a:tcPr marL="54864" marR="54864" marT="36576">
                    <a:solidFill>
                      <a:srgbClr val="FFFCF7"/>
                    </a:solidFill>
                  </a:tcPr>
                </a:tc>
                <a:tc>
                  <a:txBody>
                    <a:bodyPr/>
                    <a:lstStyle/>
                    <a:p>
                      <a:r>
                        <a:rPr sz="1000" b="0">
                          <a:solidFill>
                            <a:srgbClr val="1C1917"/>
                          </a:solidFill>
                          <a:latin typeface="Segoe UI"/>
                        </a:rPr>
                        <a:t>Preference for online exams and perceived fairness</a:t>
                      </a:r>
                    </a:p>
                  </a:txBody>
                  <a:tcPr marL="54864" marR="54864" marT="36576">
                    <a:solidFill>
                      <a:srgbClr val="FFFCF7"/>
                    </a:solidFill>
                  </a:tcPr>
                </a:tc>
                <a:tc>
                  <a:txBody>
                    <a:bodyPr/>
                    <a:lstStyle/>
                    <a:p>
                      <a:r>
                        <a:rPr sz="1000" b="0">
                          <a:solidFill>
                            <a:srgbClr val="1C1917"/>
                          </a:solidFill>
                          <a:latin typeface="Segoe UI"/>
                        </a:rPr>
                        <a:t>About whether exams matter to learners, not how to score an event</a:t>
                      </a:r>
                    </a:p>
                  </a:txBody>
                  <a:tcPr marL="54864" marR="54864" marT="36576">
                    <a:solidFill>
                      <a:srgbClr val="FFFCF7"/>
                    </a:solidFill>
                  </a:tcPr>
                </a:tc>
                <a:extLst>
                  <a:ext uri="{0D108BD9-81ED-4DB2-BD59-A6C34878D82A}">
                    <a16:rowId xmlns:a16="http://schemas.microsoft.com/office/drawing/2014/main" val="10005"/>
                  </a:ext>
                </a:extLst>
              </a:tr>
              <a:tr h="455168">
                <a:tc>
                  <a:txBody>
                    <a:bodyPr/>
                    <a:lstStyle/>
                    <a:p>
                      <a:r>
                        <a:rPr sz="1000" b="0">
                          <a:solidFill>
                            <a:srgbClr val="1C1917"/>
                          </a:solidFill>
                          <a:latin typeface="Segoe UI"/>
                        </a:rPr>
                        <a:t>Kirsanov, Kushwah and Selvaretnam, 2025</a:t>
                      </a:r>
                    </a:p>
                  </a:txBody>
                  <a:tcPr marL="54864" marR="54864" marT="36576">
                    <a:solidFill>
                      <a:srgbClr val="F4F0E6"/>
                    </a:solidFill>
                  </a:tcPr>
                </a:tc>
                <a:tc>
                  <a:txBody>
                    <a:bodyPr/>
                    <a:lstStyle/>
                    <a:p>
                      <a:r>
                        <a:rPr sz="1000" b="0">
                          <a:solidFill>
                            <a:srgbClr val="1C1917"/>
                          </a:solidFill>
                          <a:latin typeface="Segoe UI"/>
                        </a:rPr>
                        <a:t>Student survey on generative-AI use</a:t>
                      </a:r>
                    </a:p>
                  </a:txBody>
                  <a:tcPr marL="54864" marR="54864" marT="36576">
                    <a:solidFill>
                      <a:srgbClr val="F4F0E6"/>
                    </a:solidFill>
                  </a:tcPr>
                </a:tc>
                <a:tc>
                  <a:txBody>
                    <a:bodyPr/>
                    <a:lstStyle/>
                    <a:p>
                      <a:r>
                        <a:rPr sz="1000" b="0">
                          <a:solidFill>
                            <a:srgbClr val="1C1917"/>
                          </a:solidFill>
                          <a:latin typeface="Segoe UI"/>
                        </a:rPr>
                        <a:t>31 of 174 economics undergraduates</a:t>
                      </a:r>
                    </a:p>
                  </a:txBody>
                  <a:tcPr marL="54864" marR="54864" marT="36576">
                    <a:solidFill>
                      <a:srgbClr val="F4F0E6"/>
                    </a:solidFill>
                  </a:tcPr>
                </a:tc>
                <a:tc>
                  <a:txBody>
                    <a:bodyPr/>
                    <a:lstStyle/>
                    <a:p>
                      <a:r>
                        <a:rPr sz="1000" b="0">
                          <a:solidFill>
                            <a:srgbClr val="1C1917"/>
                          </a:solidFill>
                          <a:latin typeface="Segoe UI"/>
                        </a:rPr>
                        <a:t>Concealment of AI use; views on detection</a:t>
                      </a:r>
                    </a:p>
                  </a:txBody>
                  <a:tcPr marL="54864" marR="54864" marT="36576">
                    <a:solidFill>
                      <a:srgbClr val="F4F0E6"/>
                    </a:solidFill>
                  </a:tcPr>
                </a:tc>
                <a:tc>
                  <a:txBody>
                    <a:bodyPr/>
                    <a:lstStyle/>
                    <a:p>
                      <a:r>
                        <a:rPr sz="1000" b="0">
                          <a:solidFill>
                            <a:srgbClr val="1C1917"/>
                          </a:solidFill>
                          <a:latin typeface="Segoe UI"/>
                        </a:rPr>
                        <a:t>Students hide AI use; detection is the wrong lever</a:t>
                      </a:r>
                    </a:p>
                  </a:txBody>
                  <a:tcPr marL="54864" marR="54864" marT="36576">
                    <a:solidFill>
                      <a:srgbClr val="F4F0E6"/>
                    </a:solidFill>
                  </a:tcPr>
                </a:tc>
                <a:extLst>
                  <a:ext uri="{0D108BD9-81ED-4DB2-BD59-A6C34878D82A}">
                    <a16:rowId xmlns:a16="http://schemas.microsoft.com/office/drawing/2014/main" val="10006"/>
                  </a:ext>
                </a:extLst>
              </a:tr>
              <a:tr h="455168">
                <a:tc>
                  <a:txBody>
                    <a:bodyPr/>
                    <a:lstStyle/>
                    <a:p>
                      <a:r>
                        <a:rPr sz="1000" b="0">
                          <a:solidFill>
                            <a:srgbClr val="1C1917"/>
                          </a:solidFill>
                          <a:latin typeface="Segoe UI"/>
                        </a:rPr>
                        <a:t>Kofinas, Tsay and Pike, 2025</a:t>
                      </a:r>
                    </a:p>
                  </a:txBody>
                  <a:tcPr marL="54864" marR="54864" marT="36576">
                    <a:solidFill>
                      <a:srgbClr val="FFFCF7"/>
                    </a:solidFill>
                  </a:tcPr>
                </a:tc>
                <a:tc>
                  <a:txBody>
                    <a:bodyPr/>
                    <a:lstStyle/>
                    <a:p>
                      <a:r>
                        <a:rPr sz="1000" b="0">
                          <a:solidFill>
                            <a:srgbClr val="1C1917"/>
                          </a:solidFill>
                          <a:latin typeface="Segoe UI"/>
                        </a:rPr>
                        <a:t>Exploratory experiment on authentic assessment</a:t>
                      </a:r>
                    </a:p>
                  </a:txBody>
                  <a:tcPr marL="54864" marR="54864" marT="36576">
                    <a:solidFill>
                      <a:srgbClr val="FFFCF7"/>
                    </a:solidFill>
                  </a:tcPr>
                </a:tc>
                <a:tc>
                  <a:txBody>
                    <a:bodyPr/>
                    <a:lstStyle/>
                    <a:p>
                      <a:r>
                        <a:rPr sz="1000" b="0">
                          <a:solidFill>
                            <a:srgbClr val="1C1917"/>
                          </a:solidFill>
                          <a:latin typeface="Segoe UI"/>
                        </a:rPr>
                        <a:t>Higher-education written tasks</a:t>
                      </a:r>
                    </a:p>
                  </a:txBody>
                  <a:tcPr marL="54864" marR="54864" marT="36576">
                    <a:solidFill>
                      <a:srgbClr val="FFFCF7"/>
                    </a:solidFill>
                  </a:tcPr>
                </a:tc>
                <a:tc>
                  <a:txBody>
                    <a:bodyPr/>
                    <a:lstStyle/>
                    <a:p>
                      <a:r>
                        <a:rPr sz="1000" b="0">
                          <a:solidFill>
                            <a:srgbClr val="1C1917"/>
                          </a:solidFill>
                          <a:latin typeface="Segoe UI"/>
                        </a:rPr>
                        <a:t>What generative AI can reproduce</a:t>
                      </a:r>
                    </a:p>
                  </a:txBody>
                  <a:tcPr marL="54864" marR="54864" marT="36576">
                    <a:solidFill>
                      <a:srgbClr val="FFFCF7"/>
                    </a:solidFill>
                  </a:tcPr>
                </a:tc>
                <a:tc>
                  <a:txBody>
                    <a:bodyPr/>
                    <a:lstStyle/>
                    <a:p>
                      <a:r>
                        <a:rPr sz="1000" b="0">
                          <a:solidFill>
                            <a:srgbClr val="1C1917"/>
                          </a:solidFill>
                          <a:latin typeface="Segoe UI"/>
                        </a:rPr>
                        <a:t>Small sample; explicit written knowledge is easy for the model to redo</a:t>
                      </a:r>
                    </a:p>
                  </a:txBody>
                  <a:tcPr marL="54864" marR="54864" marT="36576">
                    <a:solidFill>
                      <a:srgbClr val="FFFCF7"/>
                    </a:solidFill>
                  </a:tcPr>
                </a:tc>
                <a:extLst>
                  <a:ext uri="{0D108BD9-81ED-4DB2-BD59-A6C34878D82A}">
                    <a16:rowId xmlns:a16="http://schemas.microsoft.com/office/drawing/2014/main" val="10007"/>
                  </a:ext>
                </a:extLst>
              </a:tr>
              <a:tr h="455168">
                <a:tc>
                  <a:txBody>
                    <a:bodyPr/>
                    <a:lstStyle/>
                    <a:p>
                      <a:r>
                        <a:rPr sz="1000" b="0">
                          <a:solidFill>
                            <a:srgbClr val="1C1917"/>
                          </a:solidFill>
                          <a:latin typeface="Segoe UI"/>
                        </a:rPr>
                        <a:t>Lee and Vispoel, 2025</a:t>
                      </a:r>
                    </a:p>
                  </a:txBody>
                  <a:tcPr marL="54864" marR="54864" marT="36576">
                    <a:solidFill>
                      <a:srgbClr val="F4F0E6"/>
                    </a:solidFill>
                  </a:tcPr>
                </a:tc>
                <a:tc>
                  <a:txBody>
                    <a:bodyPr/>
                    <a:lstStyle/>
                    <a:p>
                      <a:r>
                        <a:rPr sz="1000" b="0">
                          <a:solidFill>
                            <a:srgbClr val="1C1917"/>
                          </a:solidFill>
                          <a:latin typeface="Segoe UI"/>
                        </a:rPr>
                        <a:t>Answer-pattern biclustering</a:t>
                      </a:r>
                    </a:p>
                  </a:txBody>
                  <a:tcPr marL="54864" marR="54864" marT="36576">
                    <a:solidFill>
                      <a:srgbClr val="F4F0E6"/>
                    </a:solidFill>
                  </a:tcPr>
                </a:tc>
                <a:tc>
                  <a:txBody>
                    <a:bodyPr/>
                    <a:lstStyle/>
                    <a:p>
                      <a:r>
                        <a:rPr sz="1000" b="0">
                          <a:solidFill>
                            <a:srgbClr val="1C1917"/>
                          </a:solidFill>
                          <a:latin typeface="Segoe UI"/>
                        </a:rPr>
                        <a:t>Simulation on mixed-format tests</a:t>
                      </a:r>
                    </a:p>
                  </a:txBody>
                  <a:tcPr marL="54864" marR="54864" marT="36576">
                    <a:solidFill>
                      <a:srgbClr val="F4F0E6"/>
                    </a:solidFill>
                  </a:tcPr>
                </a:tc>
                <a:tc>
                  <a:txBody>
                    <a:bodyPr/>
                    <a:lstStyle/>
                    <a:p>
                      <a:r>
                        <a:rPr sz="1000" b="0">
                          <a:solidFill>
                            <a:srgbClr val="1C1917"/>
                          </a:solidFill>
                          <a:latin typeface="Segoe UI"/>
                        </a:rPr>
                        <a:t>Response similarity, not behaviour</a:t>
                      </a:r>
                    </a:p>
                  </a:txBody>
                  <a:tcPr marL="54864" marR="54864" marT="36576">
                    <a:solidFill>
                      <a:srgbClr val="F4F0E6"/>
                    </a:solidFill>
                  </a:tcPr>
                </a:tc>
                <a:tc>
                  <a:txBody>
                    <a:bodyPr/>
                    <a:lstStyle/>
                    <a:p>
                      <a:r>
                        <a:rPr sz="1000" b="0">
                          <a:solidFill>
                            <a:srgbClr val="1C1917"/>
                          </a:solidFill>
                          <a:latin typeface="Segoe UI"/>
                        </a:rPr>
                        <a:t>Detects answer copying, not the other application</a:t>
                      </a:r>
                    </a:p>
                  </a:txBody>
                  <a:tcPr marL="54864" marR="54864" marT="36576">
                    <a:solidFill>
                      <a:srgbClr val="F4F0E6"/>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23</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A6</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A6   Generative AI and answer patterns  (2/2)</a:t>
            </a:r>
          </a:p>
        </p:txBody>
      </p:sp>
      <p:graphicFrame>
        <p:nvGraphicFramePr>
          <p:cNvPr id="9" name="Table 8"/>
          <p:cNvGraphicFramePr>
            <a:graphicFrameLocks noGrp="1"/>
          </p:cNvGraphicFramePr>
          <p:nvPr/>
        </p:nvGraphicFramePr>
        <p:xfrm>
          <a:off x="365760" y="1115568"/>
          <a:ext cx="11430000" cy="379476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gridCol w="2331720">
                  <a:extLst>
                    <a:ext uri="{9D8B030D-6E8A-4147-A177-3AD203B41FA5}">
                      <a16:colId xmlns:a16="http://schemas.microsoft.com/office/drawing/2014/main" val="20004"/>
                    </a:ext>
                  </a:extLst>
                </a:gridCol>
              </a:tblGrid>
              <a:tr h="452628">
                <a:tc>
                  <a:txBody>
                    <a:bodyPr/>
                    <a:lstStyle/>
                    <a:p>
                      <a:r>
                        <a:rPr sz="1000" b="1">
                          <a:solidFill>
                            <a:srgbClr val="FFFFFF"/>
                          </a:solidFill>
                          <a:latin typeface="Segoe UI"/>
                        </a:rPr>
                        <a:t>Author and year</a:t>
                      </a:r>
                    </a:p>
                  </a:txBody>
                  <a:tcPr marL="54864" marR="54864" marT="36576">
                    <a:solidFill>
                      <a:srgbClr val="12263A"/>
                    </a:solidFill>
                  </a:tcPr>
                </a:tc>
                <a:tc>
                  <a:txBody>
                    <a:bodyPr/>
                    <a:lstStyle/>
                    <a:p>
                      <a:r>
                        <a:rPr sz="1000" b="1">
                          <a:solidFill>
                            <a:srgbClr val="FFFFFF"/>
                          </a:solidFill>
                          <a:latin typeface="Segoe UI"/>
                        </a:rPr>
                        <a:t>Method</a:t>
                      </a:r>
                    </a:p>
                  </a:txBody>
                  <a:tcPr marL="54864" marR="54864" marT="36576">
                    <a:solidFill>
                      <a:srgbClr val="12263A"/>
                    </a:solidFill>
                  </a:tcPr>
                </a:tc>
                <a:tc>
                  <a:txBody>
                    <a:bodyPr/>
                    <a:lstStyle/>
                    <a:p>
                      <a:r>
                        <a:rPr sz="1000" b="1">
                          <a:solidFill>
                            <a:srgbClr val="FFFFFF"/>
                          </a:solidFill>
                          <a:latin typeface="Segoe UI"/>
                        </a:rPr>
                        <a:t>Dataset or testbed</a:t>
                      </a:r>
                    </a:p>
                  </a:txBody>
                  <a:tcPr marL="54864" marR="54864" marT="36576">
                    <a:solidFill>
                      <a:srgbClr val="12263A"/>
                    </a:solidFill>
                  </a:tcPr>
                </a:tc>
                <a:tc>
                  <a:txBody>
                    <a:bodyPr/>
                    <a:lstStyle/>
                    <a:p>
                      <a:r>
                        <a:rPr sz="1000" b="1">
                          <a:solidFill>
                            <a:srgbClr val="FFFFFF"/>
                          </a:solidFill>
                          <a:latin typeface="Segoe UI"/>
                        </a:rPr>
                        <a:t>Key parameters</a:t>
                      </a:r>
                    </a:p>
                  </a:txBody>
                  <a:tcPr marL="54864" marR="54864" marT="36576">
                    <a:solidFill>
                      <a:srgbClr val="12263A"/>
                    </a:solidFill>
                  </a:tcPr>
                </a:tc>
                <a:tc>
                  <a:txBody>
                    <a:bodyPr/>
                    <a:lstStyle/>
                    <a:p>
                      <a:r>
                        <a:rPr sz="1000" b="1">
                          <a:solidFill>
                            <a:srgbClr val="FFFFFF"/>
                          </a:solidFill>
                          <a:latin typeface="Segoe UI"/>
                        </a:rPr>
                        <a:t>Limitation</a:t>
                      </a:r>
                    </a:p>
                  </a:txBody>
                  <a:tcPr marL="54864" marR="54864" marT="36576">
                    <a:solidFill>
                      <a:srgbClr val="12263A"/>
                    </a:solidFill>
                  </a:tcPr>
                </a:tc>
                <a:extLst>
                  <a:ext uri="{0D108BD9-81ED-4DB2-BD59-A6C34878D82A}">
                    <a16:rowId xmlns:a16="http://schemas.microsoft.com/office/drawing/2014/main" val="10000"/>
                  </a:ext>
                </a:extLst>
              </a:tr>
              <a:tr h="452628">
                <a:tc>
                  <a:txBody>
                    <a:bodyPr/>
                    <a:lstStyle/>
                    <a:p>
                      <a:r>
                        <a:rPr sz="1000" b="0">
                          <a:solidFill>
                            <a:srgbClr val="1C1917"/>
                          </a:solidFill>
                          <a:latin typeface="Segoe UI"/>
                        </a:rPr>
                        <a:t>Newton and Essex, 2024</a:t>
                      </a:r>
                    </a:p>
                  </a:txBody>
                  <a:tcPr marL="54864" marR="54864" marT="36576">
                    <a:solidFill>
                      <a:srgbClr val="FFFCF7"/>
                    </a:solidFill>
                  </a:tcPr>
                </a:tc>
                <a:tc>
                  <a:txBody>
                    <a:bodyPr/>
                    <a:lstStyle/>
                    <a:p>
                      <a:r>
                        <a:rPr sz="1000" b="0">
                          <a:solidFill>
                            <a:srgbClr val="1C1917"/>
                          </a:solidFill>
                          <a:latin typeface="Segoe UI"/>
                        </a:rPr>
                        <a:t>Systematic review of self-reported cheating</a:t>
                      </a:r>
                    </a:p>
                  </a:txBody>
                  <a:tcPr marL="54864" marR="54864" marT="36576">
                    <a:solidFill>
                      <a:srgbClr val="FFFCF7"/>
                    </a:solidFill>
                  </a:tcPr>
                </a:tc>
                <a:tc>
                  <a:txBody>
                    <a:bodyPr/>
                    <a:lstStyle/>
                    <a:p>
                      <a:r>
                        <a:rPr sz="1000" b="0">
                          <a:solidFill>
                            <a:srgbClr val="1C1917"/>
                          </a:solidFill>
                          <a:latin typeface="Segoe UI"/>
                        </a:rPr>
                        <a:t>Studies of online-exam cheating</a:t>
                      </a:r>
                    </a:p>
                  </a:txBody>
                  <a:tcPr marL="54864" marR="54864" marT="36576">
                    <a:solidFill>
                      <a:srgbClr val="FFFCF7"/>
                    </a:solidFill>
                  </a:tcPr>
                </a:tc>
                <a:tc>
                  <a:txBody>
                    <a:bodyPr/>
                    <a:lstStyle/>
                    <a:p>
                      <a:r>
                        <a:rPr sz="1000" b="0">
                          <a:solidFill>
                            <a:srgbClr val="1C1917"/>
                          </a:solidFill>
                          <a:latin typeface="Segoe UI"/>
                        </a:rPr>
                        <a:t>Prevalence; proctored versus unproctored comparisons</a:t>
                      </a:r>
                    </a:p>
                  </a:txBody>
                  <a:tcPr marL="54864" marR="54864" marT="36576">
                    <a:solidFill>
                      <a:srgbClr val="FFFCF7"/>
                    </a:solidFill>
                  </a:tcPr>
                </a:tc>
                <a:tc>
                  <a:txBody>
                    <a:bodyPr/>
                    <a:lstStyle/>
                    <a:p>
                      <a:r>
                        <a:rPr sz="1000" b="0">
                          <a:solidFill>
                            <a:srgbClr val="1C1917"/>
                          </a:solidFill>
                          <a:latin typeface="Segoe UI"/>
                        </a:rPr>
                        <a:t>About 44.7% admitted cheating; the effect of proctoring is not settled</a:t>
                      </a:r>
                    </a:p>
                  </a:txBody>
                  <a:tcPr marL="54864" marR="54864" marT="36576">
                    <a:solidFill>
                      <a:srgbClr val="FFFCF7"/>
                    </a:solidFill>
                  </a:tcPr>
                </a:tc>
                <a:extLst>
                  <a:ext uri="{0D108BD9-81ED-4DB2-BD59-A6C34878D82A}">
                    <a16:rowId xmlns:a16="http://schemas.microsoft.com/office/drawing/2014/main" val="10001"/>
                  </a:ext>
                </a:extLst>
              </a:tr>
              <a:tr h="452628">
                <a:tc>
                  <a:txBody>
                    <a:bodyPr/>
                    <a:lstStyle/>
                    <a:p>
                      <a:r>
                        <a:rPr sz="1000" b="0">
                          <a:solidFill>
                            <a:srgbClr val="1C1917"/>
                          </a:solidFill>
                          <a:latin typeface="Segoe UI"/>
                        </a:rPr>
                        <a:t>Ravesloot, Donkers, Meiboom, Langers, Jacobs, Tio, van der Vleuten and Bremers, 2026</a:t>
                      </a:r>
                    </a:p>
                  </a:txBody>
                  <a:tcPr marL="54864" marR="54864" marT="36576">
                    <a:solidFill>
                      <a:srgbClr val="F4F0E6"/>
                    </a:solidFill>
                  </a:tcPr>
                </a:tc>
                <a:tc>
                  <a:txBody>
                    <a:bodyPr/>
                    <a:lstStyle/>
                    <a:p>
                      <a:r>
                        <a:rPr sz="1000" b="0">
                          <a:solidFill>
                            <a:srgbClr val="1C1917"/>
                          </a:solidFill>
                          <a:latin typeface="Segoe UI"/>
                        </a:rPr>
                        <a:t>Score comparison across test formats</a:t>
                      </a:r>
                    </a:p>
                  </a:txBody>
                  <a:tcPr marL="54864" marR="54864" marT="36576">
                    <a:solidFill>
                      <a:srgbClr val="F4F0E6"/>
                    </a:solidFill>
                  </a:tcPr>
                </a:tc>
                <a:tc>
                  <a:txBody>
                    <a:bodyPr/>
                    <a:lstStyle/>
                    <a:p>
                      <a:r>
                        <a:rPr sz="1000" b="0">
                          <a:solidFill>
                            <a:srgbClr val="1C1917"/>
                          </a:solidFill>
                          <a:latin typeface="Segoe UI"/>
                        </a:rPr>
                        <a:t>Dutch progress test; more than 10,000 sittings, five schools</a:t>
                      </a:r>
                    </a:p>
                  </a:txBody>
                  <a:tcPr marL="54864" marR="54864" marT="36576">
                    <a:solidFill>
                      <a:srgbClr val="F4F0E6"/>
                    </a:solidFill>
                  </a:tcPr>
                </a:tc>
                <a:tc>
                  <a:txBody>
                    <a:bodyPr/>
                    <a:lstStyle/>
                    <a:p>
                      <a:r>
                        <a:rPr sz="1000" b="0">
                          <a:solidFill>
                            <a:srgbClr val="1C1917"/>
                          </a:solidFill>
                          <a:latin typeface="Segoe UI"/>
                        </a:rPr>
                        <a:t>Paper versus computer; remote proctor versus live supervision</a:t>
                      </a:r>
                    </a:p>
                  </a:txBody>
                  <a:tcPr marL="54864" marR="54864" marT="36576">
                    <a:solidFill>
                      <a:srgbClr val="F4F0E6"/>
                    </a:solidFill>
                  </a:tcPr>
                </a:tc>
                <a:tc>
                  <a:txBody>
                    <a:bodyPr/>
                    <a:lstStyle/>
                    <a:p>
                      <a:r>
                        <a:rPr sz="1000" b="0">
                          <a:solidFill>
                            <a:srgbClr val="1C1917"/>
                          </a:solidFill>
                          <a:latin typeface="Segoe UI"/>
                        </a:rPr>
                        <a:t>Authors cite Bergmans: remote proctoring may deter rather than detect</a:t>
                      </a:r>
                    </a:p>
                  </a:txBody>
                  <a:tcPr marL="54864" marR="54864" marT="36576">
                    <a:solidFill>
                      <a:srgbClr val="F4F0E6"/>
                    </a:solidFill>
                  </a:tcPr>
                </a:tc>
                <a:extLst>
                  <a:ext uri="{0D108BD9-81ED-4DB2-BD59-A6C34878D82A}">
                    <a16:rowId xmlns:a16="http://schemas.microsoft.com/office/drawing/2014/main" val="10002"/>
                  </a:ext>
                </a:extLst>
              </a:tr>
              <a:tr h="452628">
                <a:tc>
                  <a:txBody>
                    <a:bodyPr/>
                    <a:lstStyle/>
                    <a:p>
                      <a:r>
                        <a:rPr sz="1000" b="0">
                          <a:solidFill>
                            <a:srgbClr val="1C1917"/>
                          </a:solidFill>
                          <a:latin typeface="Segoe UI"/>
                        </a:rPr>
                        <a:t>Rios and Liu, 2017  ·  foundational</a:t>
                      </a:r>
                    </a:p>
                  </a:txBody>
                  <a:tcPr marL="54864" marR="54864" marT="36576">
                    <a:solidFill>
                      <a:srgbClr val="FFFCF7"/>
                    </a:solidFill>
                  </a:tcPr>
                </a:tc>
                <a:tc>
                  <a:txBody>
                    <a:bodyPr/>
                    <a:lstStyle/>
                    <a:p>
                      <a:r>
                        <a:rPr sz="1000" b="0">
                          <a:solidFill>
                            <a:srgbClr val="1C1917"/>
                          </a:solidFill>
                          <a:latin typeface="Segoe UI"/>
                        </a:rPr>
                        <a:t>Score comparison</a:t>
                      </a:r>
                    </a:p>
                  </a:txBody>
                  <a:tcPr marL="54864" marR="54864" marT="36576">
                    <a:solidFill>
                      <a:srgbClr val="FFFCF7"/>
                    </a:solidFill>
                  </a:tcPr>
                </a:tc>
                <a:tc>
                  <a:txBody>
                    <a:bodyPr/>
                    <a:lstStyle/>
                    <a:p>
                      <a:r>
                        <a:rPr sz="1000" b="0">
                          <a:solidFill>
                            <a:srgbClr val="1C1917"/>
                          </a:solidFill>
                          <a:latin typeface="Segoe UI"/>
                        </a:rPr>
                        <a:t>Low-stakes internet tests</a:t>
                      </a:r>
                    </a:p>
                  </a:txBody>
                  <a:tcPr marL="54864" marR="54864" marT="36576">
                    <a:solidFill>
                      <a:srgbClr val="FFFCF7"/>
                    </a:solidFill>
                  </a:tcPr>
                </a:tc>
                <a:tc>
                  <a:txBody>
                    <a:bodyPr/>
                    <a:lstStyle/>
                    <a:p>
                      <a:r>
                        <a:rPr sz="1000" b="0">
                          <a:solidFill>
                            <a:srgbClr val="1C1917"/>
                          </a:solidFill>
                          <a:latin typeface="Segoe UI"/>
                        </a:rPr>
                        <a:t>Proctored versus unproctored scores</a:t>
                      </a:r>
                    </a:p>
                  </a:txBody>
                  <a:tcPr marL="54864" marR="54864" marT="36576">
                    <a:solidFill>
                      <a:srgbClr val="FFFCF7"/>
                    </a:solidFill>
                  </a:tcPr>
                </a:tc>
                <a:tc>
                  <a:txBody>
                    <a:bodyPr/>
                    <a:lstStyle/>
                    <a:p>
                      <a:r>
                        <a:rPr sz="1000" b="0">
                          <a:solidFill>
                            <a:srgbClr val="1C1917"/>
                          </a:solidFill>
                          <a:latin typeface="Segoe UI"/>
                        </a:rPr>
                        <a:t>Low-stakes only, and the mechanism is not opened</a:t>
                      </a:r>
                    </a:p>
                  </a:txBody>
                  <a:tcPr marL="54864" marR="54864" marT="36576">
                    <a:solidFill>
                      <a:srgbClr val="FFFCF7"/>
                    </a:solidFill>
                  </a:tcPr>
                </a:tc>
                <a:extLst>
                  <a:ext uri="{0D108BD9-81ED-4DB2-BD59-A6C34878D82A}">
                    <a16:rowId xmlns:a16="http://schemas.microsoft.com/office/drawing/2014/main" val="10003"/>
                  </a:ext>
                </a:extLst>
              </a:tr>
              <a:tr h="452628">
                <a:tc>
                  <a:txBody>
                    <a:bodyPr/>
                    <a:lstStyle/>
                    <a:p>
                      <a:r>
                        <a:rPr sz="1000" b="0">
                          <a:solidFill>
                            <a:srgbClr val="1C1917"/>
                          </a:solidFill>
                          <a:latin typeface="Segoe UI"/>
                        </a:rPr>
                        <a:t>Scarfe, Watcham, Clarke and Roesch, 2024</a:t>
                      </a:r>
                    </a:p>
                  </a:txBody>
                  <a:tcPr marL="54864" marR="54864" marT="36576">
                    <a:solidFill>
                      <a:srgbClr val="F4F0E6"/>
                    </a:solidFill>
                  </a:tcPr>
                </a:tc>
                <a:tc>
                  <a:txBody>
                    <a:bodyPr/>
                    <a:lstStyle/>
                    <a:p>
                      <a:r>
                        <a:rPr sz="1000" b="0">
                          <a:solidFill>
                            <a:srgbClr val="1C1917"/>
                          </a:solidFill>
                          <a:latin typeface="Segoe UI"/>
                        </a:rPr>
                        <a:t>100% AI exam scripts submitted into real modules</a:t>
                      </a:r>
                    </a:p>
                  </a:txBody>
                  <a:tcPr marL="54864" marR="54864" marT="36576">
                    <a:solidFill>
                      <a:srgbClr val="F4F0E6"/>
                    </a:solidFill>
                  </a:tcPr>
                </a:tc>
                <a:tc>
                  <a:txBody>
                    <a:bodyPr/>
                    <a:lstStyle/>
                    <a:p>
                      <a:r>
                        <a:rPr sz="1000" b="0">
                          <a:solidFill>
                            <a:srgbClr val="1C1917"/>
                          </a:solidFill>
                          <a:latin typeface="Segoe UI"/>
                        </a:rPr>
                        <a:t>University of Reading psychology examinations</a:t>
                      </a:r>
                    </a:p>
                  </a:txBody>
                  <a:tcPr marL="54864" marR="54864" marT="36576">
                    <a:solidFill>
                      <a:srgbClr val="F4F0E6"/>
                    </a:solidFill>
                  </a:tcPr>
                </a:tc>
                <a:tc>
                  <a:txBody>
                    <a:bodyPr/>
                    <a:lstStyle/>
                    <a:p>
                      <a:r>
                        <a:rPr sz="1000" b="0">
                          <a:solidFill>
                            <a:srgbClr val="1C1917"/>
                          </a:solidFill>
                          <a:latin typeface="Segoe UI"/>
                        </a:rPr>
                        <a:t>Detection rate and grade boundary</a:t>
                      </a:r>
                    </a:p>
                  </a:txBody>
                  <a:tcPr marL="54864" marR="54864" marT="36576">
                    <a:solidFill>
                      <a:srgbClr val="F4F0E6"/>
                    </a:solidFill>
                  </a:tcPr>
                </a:tc>
                <a:tc>
                  <a:txBody>
                    <a:bodyPr/>
                    <a:lstStyle/>
                    <a:p>
                      <a:r>
                        <a:rPr sz="1000" b="0">
                          <a:solidFill>
                            <a:srgbClr val="1C1917"/>
                          </a:solidFill>
                          <a:latin typeface="Segoe UI"/>
                        </a:rPr>
                        <a:t>94% of AI scripts were undetected</a:t>
                      </a:r>
                    </a:p>
                  </a:txBody>
                  <a:tcPr marL="54864" marR="54864" marT="36576">
                    <a:solidFill>
                      <a:srgbClr val="F4F0E6"/>
                    </a:solidFill>
                  </a:tcPr>
                </a:tc>
                <a:extLst>
                  <a:ext uri="{0D108BD9-81ED-4DB2-BD59-A6C34878D82A}">
                    <a16:rowId xmlns:a16="http://schemas.microsoft.com/office/drawing/2014/main" val="10004"/>
                  </a:ext>
                </a:extLst>
              </a:tr>
              <a:tr h="452628">
                <a:tc>
                  <a:txBody>
                    <a:bodyPr/>
                    <a:lstStyle/>
                    <a:p>
                      <a:r>
                        <a:rPr sz="1000" b="0">
                          <a:solidFill>
                            <a:srgbClr val="1C1917"/>
                          </a:solidFill>
                          <a:latin typeface="Segoe UI"/>
                        </a:rPr>
                        <a:t>Stanoyevitch, 2024</a:t>
                      </a:r>
                    </a:p>
                  </a:txBody>
                  <a:tcPr marL="54864" marR="54864" marT="36576">
                    <a:solidFill>
                      <a:srgbClr val="FFFCF7"/>
                    </a:solidFill>
                  </a:tcPr>
                </a:tc>
                <a:tc>
                  <a:txBody>
                    <a:bodyPr/>
                    <a:lstStyle/>
                    <a:p>
                      <a:r>
                        <a:rPr sz="1000" b="0">
                          <a:solidFill>
                            <a:srgbClr val="1C1917"/>
                          </a:solidFill>
                          <a:latin typeface="Segoe UI"/>
                        </a:rPr>
                        <a:t>Observational score comparison</a:t>
                      </a:r>
                    </a:p>
                  </a:txBody>
                  <a:tcPr marL="54864" marR="54864" marT="36576">
                    <a:solidFill>
                      <a:srgbClr val="FFFCF7"/>
                    </a:solidFill>
                  </a:tcPr>
                </a:tc>
                <a:tc>
                  <a:txBody>
                    <a:bodyPr/>
                    <a:lstStyle/>
                    <a:p>
                      <a:r>
                        <a:rPr sz="1000" b="0">
                          <a:solidFill>
                            <a:srgbClr val="1C1917"/>
                          </a:solidFill>
                          <a:latin typeface="Segoe UI"/>
                        </a:rPr>
                        <a:t>Introductory statistics, in person, online, and after ChatGPT</a:t>
                      </a:r>
                    </a:p>
                  </a:txBody>
                  <a:tcPr marL="54864" marR="54864" marT="36576">
                    <a:solidFill>
                      <a:srgbClr val="FFFCF7"/>
                    </a:solidFill>
                  </a:tcPr>
                </a:tc>
                <a:tc>
                  <a:txBody>
                    <a:bodyPr/>
                    <a:lstStyle/>
                    <a:p>
                      <a:r>
                        <a:rPr sz="1000" b="0">
                          <a:solidFill>
                            <a:srgbClr val="1C1917"/>
                          </a:solidFill>
                          <a:latin typeface="Segoe UI"/>
                        </a:rPr>
                        <a:t>Mean score shift</a:t>
                      </a:r>
                    </a:p>
                  </a:txBody>
                  <a:tcPr marL="54864" marR="54864" marT="36576">
                    <a:solidFill>
                      <a:srgbClr val="FFFCF7"/>
                    </a:solidFill>
                  </a:tcPr>
                </a:tc>
                <a:tc>
                  <a:txBody>
                    <a:bodyPr/>
                    <a:lstStyle/>
                    <a:p>
                      <a:r>
                        <a:rPr sz="1000" b="0">
                          <a:solidFill>
                            <a:srgbClr val="1C1917"/>
                          </a:solidFill>
                          <a:latin typeface="Segoe UI"/>
                        </a:rPr>
                        <a:t>A score jump is not evidence of who cheated</a:t>
                      </a:r>
                    </a:p>
                  </a:txBody>
                  <a:tcPr marL="54864" marR="54864" marT="36576">
                    <a:solidFill>
                      <a:srgbClr val="FFFCF7"/>
                    </a:solidFill>
                  </a:tcPr>
                </a:tc>
                <a:extLst>
                  <a:ext uri="{0D108BD9-81ED-4DB2-BD59-A6C34878D82A}">
                    <a16:rowId xmlns:a16="http://schemas.microsoft.com/office/drawing/2014/main" val="10005"/>
                  </a:ext>
                </a:extLst>
              </a:tr>
              <a:tr h="452628">
                <a:tc>
                  <a:txBody>
                    <a:bodyPr/>
                    <a:lstStyle/>
                    <a:p>
                      <a:r>
                        <a:rPr sz="1000" b="0">
                          <a:solidFill>
                            <a:srgbClr val="1C1917"/>
                          </a:solidFill>
                          <a:latin typeface="Segoe UI"/>
                        </a:rPr>
                        <a:t>Vazquez, Chiang and Sarmiento-Barbieri, 2021</a:t>
                      </a:r>
                    </a:p>
                  </a:txBody>
                  <a:tcPr marL="54864" marR="54864" marT="36576">
                    <a:solidFill>
                      <a:srgbClr val="F4F0E6"/>
                    </a:solidFill>
                  </a:tcPr>
                </a:tc>
                <a:tc>
                  <a:txBody>
                    <a:bodyPr/>
                    <a:lstStyle/>
                    <a:p>
                      <a:r>
                        <a:rPr sz="1000" b="0">
                          <a:solidFill>
                            <a:srgbClr val="1C1917"/>
                          </a:solidFill>
                          <a:latin typeface="Segoe UI"/>
                        </a:rPr>
                        <a:t>Two randomized field experiments</a:t>
                      </a:r>
                    </a:p>
                  </a:txBody>
                  <a:tcPr marL="54864" marR="54864" marT="36576">
                    <a:solidFill>
                      <a:srgbClr val="F4F0E6"/>
                    </a:solidFill>
                  </a:tcPr>
                </a:tc>
                <a:tc>
                  <a:txBody>
                    <a:bodyPr/>
                    <a:lstStyle/>
                    <a:p>
                      <a:r>
                        <a:rPr sz="1000" b="0">
                          <a:solidFill>
                            <a:srgbClr val="1C1917"/>
                          </a:solidFill>
                          <a:latin typeface="Segoe UI"/>
                        </a:rPr>
                        <a:t>One face-to-face class and one online class</a:t>
                      </a:r>
                    </a:p>
                  </a:txBody>
                  <a:tcPr marL="54864" marR="54864" marT="36576">
                    <a:solidFill>
                      <a:srgbClr val="F4F0E6"/>
                    </a:solidFill>
                  </a:tcPr>
                </a:tc>
                <a:tc>
                  <a:txBody>
                    <a:bodyPr/>
                    <a:lstStyle/>
                    <a:p>
                      <a:r>
                        <a:rPr sz="1000" b="0">
                          <a:solidFill>
                            <a:srgbClr val="1C1917"/>
                          </a:solidFill>
                          <a:latin typeface="Segoe UI"/>
                        </a:rPr>
                        <a:t>Live proctor versus web proctor; score gap</a:t>
                      </a:r>
                    </a:p>
                  </a:txBody>
                  <a:tcPr marL="54864" marR="54864" marT="36576">
                    <a:solidFill>
                      <a:srgbClr val="F4F0E6"/>
                    </a:solidFill>
                  </a:tcPr>
                </a:tc>
                <a:tc>
                  <a:txBody>
                    <a:bodyPr/>
                    <a:lstStyle/>
                    <a:p>
                      <a:r>
                        <a:rPr sz="1000" b="0">
                          <a:solidFill>
                            <a:srgbClr val="1C1917"/>
                          </a:solidFill>
                          <a:latin typeface="Segoe UI"/>
                        </a:rPr>
                        <a:t>Unproctored scores were about 11% higher; the online web proctor had the smaller effect</a:t>
                      </a:r>
                    </a:p>
                  </a:txBody>
                  <a:tcPr marL="54864" marR="54864" marT="36576">
                    <a:solidFill>
                      <a:srgbClr val="F4F0E6"/>
                    </a:solidFill>
                  </a:tcPr>
                </a:tc>
                <a:extLst>
                  <a:ext uri="{0D108BD9-81ED-4DB2-BD59-A6C34878D82A}">
                    <a16:rowId xmlns:a16="http://schemas.microsoft.com/office/drawing/2014/main" val="10006"/>
                  </a:ext>
                </a:extLst>
              </a:tr>
              <a:tr h="452628">
                <a:tc>
                  <a:txBody>
                    <a:bodyPr/>
                    <a:lstStyle/>
                    <a:p>
                      <a:r>
                        <a:rPr sz="1000" b="0">
                          <a:solidFill>
                            <a:srgbClr val="1C1917"/>
                          </a:solidFill>
                          <a:latin typeface="Segoe UI"/>
                        </a:rPr>
                        <a:t>Weiner and Hurtz, 2017  ·  foundational</a:t>
                      </a:r>
                    </a:p>
                  </a:txBody>
                  <a:tcPr marL="54864" marR="54864" marT="36576">
                    <a:solidFill>
                      <a:srgbClr val="FFFCF7"/>
                    </a:solidFill>
                  </a:tcPr>
                </a:tc>
                <a:tc>
                  <a:txBody>
                    <a:bodyPr/>
                    <a:lstStyle/>
                    <a:p>
                      <a:r>
                        <a:rPr sz="1000" b="0">
                          <a:solidFill>
                            <a:srgbClr val="1C1917"/>
                          </a:solidFill>
                          <a:latin typeface="Segoe UI"/>
                        </a:rPr>
                        <a:t>Quasi-experiment on score equivalence</a:t>
                      </a:r>
                    </a:p>
                  </a:txBody>
                  <a:tcPr marL="54864" marR="54864" marT="36576">
                    <a:solidFill>
                      <a:srgbClr val="FFFCF7"/>
                    </a:solidFill>
                  </a:tcPr>
                </a:tc>
                <a:tc>
                  <a:txBody>
                    <a:bodyPr/>
                    <a:lstStyle/>
                    <a:p>
                      <a:r>
                        <a:rPr sz="1000" b="0">
                          <a:solidFill>
                            <a:srgbClr val="1C1917"/>
                          </a:solidFill>
                          <a:latin typeface="Segoe UI"/>
                        </a:rPr>
                        <a:t>Three professional licensing exams; kiosk video versus test centre</a:t>
                      </a:r>
                    </a:p>
                  </a:txBody>
                  <a:tcPr marL="54864" marR="54864" marT="36576">
                    <a:solidFill>
                      <a:srgbClr val="FFFCF7"/>
                    </a:solidFill>
                  </a:tcPr>
                </a:tc>
                <a:tc>
                  <a:txBody>
                    <a:bodyPr/>
                    <a:lstStyle/>
                    <a:p>
                      <a:r>
                        <a:rPr sz="1000" b="0">
                          <a:solidFill>
                            <a:srgbClr val="1C1917"/>
                          </a:solidFill>
                          <a:latin typeface="Segoe UI"/>
                        </a:rPr>
                        <a:t>Reliability and measurement equivalence</a:t>
                      </a:r>
                    </a:p>
                  </a:txBody>
                  <a:tcPr marL="54864" marR="54864" marT="36576">
                    <a:solidFill>
                      <a:srgbClr val="FFFCF7"/>
                    </a:solidFill>
                  </a:tcPr>
                </a:tc>
                <a:tc>
                  <a:txBody>
                    <a:bodyPr/>
                    <a:lstStyle/>
                    <a:p>
                      <a:r>
                        <a:rPr sz="1000" b="0">
                          <a:solidFill>
                            <a:srgbClr val="1C1917"/>
                          </a:solidFill>
                          <a:latin typeface="Segoe UI"/>
                        </a:rPr>
                        <a:t>Equivalence of video kiosks, not a reason to record the face by default</a:t>
                      </a:r>
                    </a:p>
                  </a:txBody>
                  <a:tcPr marL="54864" marR="54864" marT="36576">
                    <a:solidFill>
                      <a:srgbClr val="FFFCF7"/>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24</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A7</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A7   References  (1/5)</a:t>
            </a:r>
          </a:p>
        </p:txBody>
      </p:sp>
      <p:sp>
        <p:nvSpPr>
          <p:cNvPr id="9" name="TextBox 8"/>
          <p:cNvSpPr txBox="1"/>
          <p:nvPr/>
        </p:nvSpPr>
        <p:spPr>
          <a:xfrm>
            <a:off x="384048" y="1097280"/>
            <a:ext cx="5669280" cy="5212080"/>
          </a:xfrm>
          <a:prstGeom prst="rect">
            <a:avLst/>
          </a:prstGeom>
          <a:noFill/>
        </p:spPr>
        <p:txBody>
          <a:bodyPr wrap="square">
            <a:spAutoFit/>
          </a:bodyPr>
          <a:lstStyle/>
          <a:p>
            <a:pPr algn="l">
              <a:spcAft>
                <a:spcPts val="400"/>
              </a:spcAft>
            </a:pPr>
            <a:r>
              <a:rPr sz="1100" b="0">
                <a:solidFill>
                  <a:srgbClr val="1C1917"/>
                </a:solidFill>
                <a:latin typeface="Segoe UI"/>
              </a:rPr>
              <a:t>Alessio and Messinger (2021). Faculty and student perceptions of academic integrity in technology-assisted learning and testing. Frontiers in Education, 6, 629220. https://doi.org/10.3389/feduc.2021.629220</a:t>
            </a:r>
          </a:p>
          <a:p>
            <a:pPr algn="l">
              <a:spcAft>
                <a:spcPts val="400"/>
              </a:spcAft>
            </a:pPr>
            <a:r>
              <a:rPr sz="1100" b="0">
                <a:solidFill>
                  <a:srgbClr val="1C1917"/>
                </a:solidFill>
                <a:latin typeface="Segoe UI"/>
              </a:rPr>
              <a:t>Arnò, Galassi, Tommasi, Saggino and Vittorini (2021). State-of-the-art of commercial proctoring systems and their use in academic online exams. International Journal of Distance Education Technologies, 19(2), 41–62. https://doi.org/10.4018/IJDET.20210401.oa3</a:t>
            </a:r>
          </a:p>
          <a:p>
            <a:pPr algn="l">
              <a:spcAft>
                <a:spcPts val="400"/>
              </a:spcAft>
            </a:pPr>
            <a:r>
              <a:rPr sz="1100" b="0">
                <a:solidFill>
                  <a:srgbClr val="1C1917"/>
                </a:solidFill>
                <a:latin typeface="Segoe UI"/>
              </a:rPr>
              <a:t>Atoum, Chen, Liu, Hsu and Liu (2017). Automated online exam proctoring. IEEE Transactions on Multimedia, 19(7), 1609–1624. https://doi.org/10.1109/TMM.2017.2656064  [foundational]</a:t>
            </a:r>
          </a:p>
          <a:p>
            <a:pPr algn="l">
              <a:spcAft>
                <a:spcPts val="400"/>
              </a:spcAft>
            </a:pPr>
            <a:r>
              <a:rPr sz="1100" b="0">
                <a:solidFill>
                  <a:srgbClr val="1C1917"/>
                </a:solidFill>
                <a:latin typeface="Segoe UI"/>
              </a:rPr>
              <a:t>Balash, Kim, Shaibekova, Fainchtein, Sherr and Aviv (2021). Examining the examiners: Students' privacy and security perceptions of online proctoring services. USENIX SOUPS 2021, pp. 633–652. https://www.usenix.org/conference/soups2021/presentation/balash</a:t>
            </a:r>
          </a:p>
          <a:p>
            <a:pPr algn="l">
              <a:spcAft>
                <a:spcPts val="400"/>
              </a:spcAft>
            </a:pPr>
            <a:r>
              <a:rPr sz="1100" b="0">
                <a:solidFill>
                  <a:srgbClr val="1C1917"/>
                </a:solidFill>
                <a:latin typeface="Segoe UI"/>
              </a:rPr>
              <a:t>Bergmans, Bouali, Luttikhuis and Rensink (2021). On the efficacy of online proctoring using Proctorio. CSEDU 2021, pp. 279–290. https://doi.org/10.5220/0010399602790290</a:t>
            </a:r>
          </a:p>
          <a:p>
            <a:pPr algn="l">
              <a:spcAft>
                <a:spcPts val="400"/>
              </a:spcAft>
            </a:pPr>
            <a:r>
              <a:rPr sz="1100" b="0">
                <a:solidFill>
                  <a:srgbClr val="1C1917"/>
                </a:solidFill>
                <a:latin typeface="Segoe UI"/>
              </a:rPr>
              <a:t>Burgess, Ginsberg, Felten and Cohney (2022). Watching the watchers: Bias and vulnerability in remote proctoring software. USENIX Security 2022. https://www.usenix.org/conference/usenixsecurity22/presentation/burgess</a:t>
            </a:r>
          </a:p>
        </p:txBody>
      </p:sp>
      <p:sp>
        <p:nvSpPr>
          <p:cNvPr id="10" name="TextBox 9"/>
          <p:cNvSpPr txBox="1"/>
          <p:nvPr/>
        </p:nvSpPr>
        <p:spPr>
          <a:xfrm>
            <a:off x="6126480" y="1097280"/>
            <a:ext cx="5623560" cy="5212080"/>
          </a:xfrm>
          <a:prstGeom prst="rect">
            <a:avLst/>
          </a:prstGeom>
          <a:noFill/>
        </p:spPr>
        <p:txBody>
          <a:bodyPr wrap="square">
            <a:spAutoFit/>
          </a:bodyPr>
          <a:lstStyle/>
          <a:p>
            <a:pPr algn="l">
              <a:spcAft>
                <a:spcPts val="400"/>
              </a:spcAft>
            </a:pPr>
            <a:r>
              <a:rPr sz="1100" b="0">
                <a:solidFill>
                  <a:srgbClr val="1C1917"/>
                </a:solidFill>
                <a:latin typeface="Segoe UI"/>
              </a:rPr>
              <a:t>Butler-Henderson and Crawford (2020). A systematic review of online examinations. Computers &amp; Education, 159, 104024. https://doi.org/10.1016/j.compedu.2020.104024  [foundational]</a:t>
            </a:r>
          </a:p>
          <a:p>
            <a:pPr algn="l">
              <a:spcAft>
                <a:spcPts val="400"/>
              </a:spcAft>
            </a:pPr>
            <a:r>
              <a:rPr sz="1100" b="0">
                <a:solidFill>
                  <a:srgbClr val="1C1917"/>
                </a:solidFill>
                <a:latin typeface="Segoe UI"/>
              </a:rPr>
              <a:t>Coghlan, Miller and Paterson (2021). Good proctor or 'Big Brother'? Ethics of online exam supervision technologies. Philosophy &amp; Technology, 34(4), 1581–1606. https://doi.org/10.1007/s13347-021-00476-1</a:t>
            </a:r>
          </a:p>
          <a:p>
            <a:pPr algn="l">
              <a:spcAft>
                <a:spcPts val="400"/>
              </a:spcAft>
            </a:pPr>
            <a:r>
              <a:rPr sz="1100" b="0">
                <a:solidFill>
                  <a:srgbClr val="1C1917"/>
                </a:solidFill>
                <a:latin typeface="Segoe UI"/>
              </a:rPr>
              <a:t>Conijn, Kleingeld, Matzat and Snijders (2022). The fear of big brother: The potential negative side-effects of proctored exams. Journal of Computer Assisted Learning, 38(6), 1521–1534. https://doi.org/10.1111/jcal.12651</a:t>
            </a:r>
          </a:p>
          <a:p>
            <a:pPr algn="l">
              <a:spcAft>
                <a:spcPts val="400"/>
              </a:spcAft>
            </a:pPr>
            <a:r>
              <a:rPr sz="1100" b="0">
                <a:solidFill>
                  <a:srgbClr val="1C1917"/>
                </a:solidFill>
                <a:latin typeface="Segoe UI"/>
              </a:rPr>
              <a:t>Dendir and Maxwell (2020). Cheating in online courses: Evidence from online proctoring. Computers in Human Behavior Reports, 2, 100033. https://doi.org/10.1016/j.chbr.2020.100033  [foundational]</a:t>
            </a:r>
          </a:p>
          <a:p>
            <a:pPr algn="l">
              <a:spcAft>
                <a:spcPts val="400"/>
              </a:spcAft>
            </a:pPr>
            <a:r>
              <a:rPr sz="1100" b="0">
                <a:solidFill>
                  <a:srgbClr val="1C1917"/>
                </a:solidFill>
                <a:latin typeface="Segoe UI"/>
              </a:rPr>
              <a:t>Diedenhofen and Musch (2016). PageFocus: Using paradata to detect and prevent cheating on online achievement tests. Behavior Research Methods. https://doi.org/10.3758/s13428-016-0800-7  [foundational]</a:t>
            </a:r>
          </a:p>
          <a:p>
            <a:pPr algn="l">
              <a:spcAft>
                <a:spcPts val="400"/>
              </a:spcAft>
            </a:pPr>
            <a:r>
              <a:rPr sz="1100" b="0">
                <a:solidFill>
                  <a:srgbClr val="1C1917"/>
                </a:solidFill>
                <a:latin typeface="Segoe UI"/>
              </a:rPr>
              <a:t>Draaijer, Jefferies and Somers (2018). Online proctoring for remote examination: A state of play in higher education in the EU. Communications in Computer and Information Science, 829, 96–108. https://doi.org/10.1007/978-3-319-97807-9_8  [foundational]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25</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A7</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A7   References  (2/5)</a:t>
            </a:r>
          </a:p>
        </p:txBody>
      </p:sp>
      <p:sp>
        <p:nvSpPr>
          <p:cNvPr id="9" name="TextBox 8"/>
          <p:cNvSpPr txBox="1"/>
          <p:nvPr/>
        </p:nvSpPr>
        <p:spPr>
          <a:xfrm>
            <a:off x="384048" y="1097280"/>
            <a:ext cx="5669280" cy="5212080"/>
          </a:xfrm>
          <a:prstGeom prst="rect">
            <a:avLst/>
          </a:prstGeom>
          <a:noFill/>
        </p:spPr>
        <p:txBody>
          <a:bodyPr wrap="square">
            <a:spAutoFit/>
          </a:bodyPr>
          <a:lstStyle/>
          <a:p>
            <a:pPr algn="l">
              <a:spcAft>
                <a:spcPts val="400"/>
              </a:spcAft>
            </a:pPr>
            <a:r>
              <a:rPr sz="1100" b="0">
                <a:solidFill>
                  <a:srgbClr val="1C1917"/>
                </a:solidFill>
                <a:latin typeface="Segoe UI"/>
              </a:rPr>
              <a:t>Erdem and Karabatak (2025). Cheating detection in online exams using deep learning and machine learning. Applied Sciences, 15, 400. Appl. Sci. 2025, 15, 400</a:t>
            </a:r>
          </a:p>
          <a:p>
            <a:pPr algn="l">
              <a:spcAft>
                <a:spcPts val="400"/>
              </a:spcAft>
            </a:pPr>
            <a:r>
              <a:rPr sz="1100" b="0">
                <a:solidFill>
                  <a:srgbClr val="1C1917"/>
                </a:solidFill>
                <a:latin typeface="Segoe UI"/>
              </a:rPr>
              <a:t>Fidas, Belk, Constantinides, Portugal, Martins, Pietron, Pitsillides and Avouris (2023). Ensuring academic integrity and trust in online learning environments. Education Sciences, 13(6), 566. https://doi.org/10.3390/educsci13060566</a:t>
            </a:r>
          </a:p>
          <a:p>
            <a:pPr algn="l">
              <a:spcAft>
                <a:spcPts val="400"/>
              </a:spcAft>
            </a:pPr>
            <a:r>
              <a:rPr sz="1100" b="0">
                <a:solidFill>
                  <a:srgbClr val="1C1917"/>
                </a:solidFill>
                <a:latin typeface="Segoe UI"/>
              </a:rPr>
              <a:t>Golden and Kohlbeck (2020). Addressing cheating when using test bank questions in online classes. Journal of Accounting Education, 52. https://doi.org/10.1016/j.jaccedu.2020.100671  [foundational]</a:t>
            </a:r>
          </a:p>
          <a:p>
            <a:pPr algn="l">
              <a:spcAft>
                <a:spcPts val="400"/>
              </a:spcAft>
            </a:pPr>
            <a:r>
              <a:rPr sz="1100" b="0">
                <a:solidFill>
                  <a:srgbClr val="1C1917"/>
                </a:solidFill>
                <a:latin typeface="Segoe UI"/>
              </a:rPr>
              <a:t>Gudiño Paredes, Jasso Peña and de la Fuente Alcázar (2021). Remote proctored exams: Integrity assurance in online education?. Distance Education, 42, 200–218. Distance Education, 42, 200–218 (2021)</a:t>
            </a:r>
          </a:p>
          <a:p>
            <a:pPr algn="l">
              <a:spcAft>
                <a:spcPts val="400"/>
              </a:spcAft>
            </a:pPr>
            <a:r>
              <a:rPr sz="1100" b="0">
                <a:solidFill>
                  <a:srgbClr val="1C1917"/>
                </a:solidFill>
                <a:latin typeface="Segoe UI"/>
              </a:rPr>
              <a:t>Han, Nikou and Ayele (2023). Digital proctoring in higher education: A systematic literature review. International Journal of Educational Management. https://doi.org/10.1108/ijem-12-2022-0522</a:t>
            </a:r>
          </a:p>
          <a:p>
            <a:pPr algn="l">
              <a:spcAft>
                <a:spcPts val="400"/>
              </a:spcAft>
            </a:pPr>
            <a:r>
              <a:rPr sz="1100" b="0">
                <a:solidFill>
                  <a:srgbClr val="1C1917"/>
                </a:solidFill>
                <a:latin typeface="Segoe UI"/>
              </a:rPr>
              <a:t>Heinrich (2025). A systematic-narrative review of online proctoring systems and a case for open standards. Open Praxis. https://doi.org/10.55982/openpraxis.17.3.836</a:t>
            </a:r>
          </a:p>
        </p:txBody>
      </p:sp>
      <p:sp>
        <p:nvSpPr>
          <p:cNvPr id="10" name="TextBox 9"/>
          <p:cNvSpPr txBox="1"/>
          <p:nvPr/>
        </p:nvSpPr>
        <p:spPr>
          <a:xfrm>
            <a:off x="6126480" y="1097280"/>
            <a:ext cx="5623560" cy="5212080"/>
          </a:xfrm>
          <a:prstGeom prst="rect">
            <a:avLst/>
          </a:prstGeom>
          <a:noFill/>
        </p:spPr>
        <p:txBody>
          <a:bodyPr wrap="square">
            <a:spAutoFit/>
          </a:bodyPr>
          <a:lstStyle/>
          <a:p>
            <a:pPr algn="l">
              <a:spcAft>
                <a:spcPts val="400"/>
              </a:spcAft>
            </a:pPr>
            <a:r>
              <a:rPr sz="1100" b="0">
                <a:solidFill>
                  <a:srgbClr val="1C1917"/>
                </a:solidFill>
                <a:latin typeface="Segoe UI"/>
              </a:rPr>
              <a:t>Henderson, Chung, Awdry, Mundy, Bryant, Ashford and Ryan (2023). Factors associated with online examination cheating. Assessment &amp; Evaluation in Higher Education, 48(7), 980–994. https://doi.org/10.1080/02602938.2022.2144802</a:t>
            </a:r>
          </a:p>
          <a:p>
            <a:pPr algn="l">
              <a:spcAft>
                <a:spcPts val="400"/>
              </a:spcAft>
            </a:pPr>
            <a:r>
              <a:rPr sz="1100" b="0">
                <a:solidFill>
                  <a:srgbClr val="1C1917"/>
                </a:solidFill>
                <a:latin typeface="Segoe UI"/>
              </a:rPr>
              <a:t>Holden, Norris and Kuhlmeier (2021). Academic integrity in online assessment: A research review. Frontiers in Education, 6, 639814. https://doi.org/10.3389/feduc.2021.639814</a:t>
            </a:r>
          </a:p>
          <a:p>
            <a:pPr algn="l">
              <a:spcAft>
                <a:spcPts val="400"/>
              </a:spcAft>
            </a:pPr>
            <a:r>
              <a:rPr sz="1100" b="0">
                <a:solidFill>
                  <a:srgbClr val="1C1917"/>
                </a:solidFill>
                <a:latin typeface="Segoe UI"/>
              </a:rPr>
              <a:t>Hussein, Yusuf, Deb, Fong and Naidu (2020). An evaluation of online proctoring tools. Open Praxis, 12(4), 509–525. https://doi.org/10.5944/openpraxis.12.4.1113  [foundational]</a:t>
            </a:r>
          </a:p>
          <a:p>
            <a:pPr algn="l">
              <a:spcAft>
                <a:spcPts val="400"/>
              </a:spcAft>
            </a:pPr>
            <a:r>
              <a:rPr sz="1100" b="0">
                <a:solidFill>
                  <a:srgbClr val="1C1917"/>
                </a:solidFill>
                <a:latin typeface="Segoe UI"/>
              </a:rPr>
              <a:t>Hylton, Levy and Dringus (2016). Utilizing webcam-based proctoring to deter misconduct in online exams. Computers &amp; Education, 92–93, 53–63. https://doi.org/10.1016/j.compedu.2015.10.002  [foundational]</a:t>
            </a:r>
          </a:p>
          <a:p>
            <a:pPr algn="l">
              <a:spcAft>
                <a:spcPts val="400"/>
              </a:spcAft>
            </a:pPr>
            <a:r>
              <a:rPr sz="1100" b="0">
                <a:solidFill>
                  <a:srgbClr val="1C1917"/>
                </a:solidFill>
                <a:latin typeface="Segoe UI"/>
              </a:rPr>
              <a:t>Ibrahim, Liu, Asim, Battu, Benabderrahmane, Alhafni, Adnan et al. (2023). Perception, performance, and detectability of conversational artificial intelligence across 32 university courses. Scientific Reports. https://doi.org/10.1038/s41598-023-38964-3</a:t>
            </a:r>
          </a:p>
          <a:p>
            <a:pPr algn="l">
              <a:spcAft>
                <a:spcPts val="400"/>
              </a:spcAft>
            </a:pPr>
            <a:r>
              <a:rPr sz="1100" b="0">
                <a:solidFill>
                  <a:srgbClr val="1C1917"/>
                </a:solidFill>
                <a:latin typeface="Segoe UI"/>
              </a:rPr>
              <a:t>Ilgaz and Afacan Adanır (2020). Providing online exams for online learners: Does it really matter for them?. Education and Information Technologies, 25(2), 1255–1269. https://doi.org/10.1007/s10639-019-10020-6  [foundational]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26</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A7</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A7   References  (3/5)</a:t>
            </a:r>
          </a:p>
        </p:txBody>
      </p:sp>
      <p:sp>
        <p:nvSpPr>
          <p:cNvPr id="9" name="TextBox 8"/>
          <p:cNvSpPr txBox="1"/>
          <p:nvPr/>
        </p:nvSpPr>
        <p:spPr>
          <a:xfrm>
            <a:off x="384048" y="1097280"/>
            <a:ext cx="5669280" cy="5212080"/>
          </a:xfrm>
          <a:prstGeom prst="rect">
            <a:avLst/>
          </a:prstGeom>
          <a:noFill/>
        </p:spPr>
        <p:txBody>
          <a:bodyPr wrap="square">
            <a:spAutoFit/>
          </a:bodyPr>
          <a:lstStyle/>
          <a:p>
            <a:pPr algn="l">
              <a:spcAft>
                <a:spcPts val="400"/>
              </a:spcAft>
            </a:pPr>
            <a:r>
              <a:rPr sz="1100" b="0">
                <a:solidFill>
                  <a:srgbClr val="1C1917"/>
                </a:solidFill>
                <a:latin typeface="Segoe UI"/>
              </a:rPr>
              <a:t>Khalil, Prinsloo and Slade (2022). In the nexus of integrity and surveillance: Proctoring (re)considered. Journal of Computer Assisted Learning, 38(6), 1589–1602. https://doi.org/10.1111/jcal.12713</a:t>
            </a:r>
          </a:p>
          <a:p>
            <a:pPr algn="l">
              <a:spcAft>
                <a:spcPts val="400"/>
              </a:spcAft>
            </a:pPr>
            <a:r>
              <a:rPr sz="1100" b="0">
                <a:solidFill>
                  <a:srgbClr val="1C1917"/>
                </a:solidFill>
                <a:latin typeface="Segoe UI"/>
              </a:rPr>
              <a:t>Kharbat and Abu Daabes (2021). E-proctored exams during the COVID-19 pandemic: A close understanding. Education and Information Technologies. https://doi.org/10.1007/s10639-021-10458-7</a:t>
            </a:r>
          </a:p>
          <a:p>
            <a:pPr algn="l">
              <a:spcAft>
                <a:spcPts val="400"/>
              </a:spcAft>
            </a:pPr>
            <a:r>
              <a:rPr sz="1100" b="0">
                <a:solidFill>
                  <a:srgbClr val="1C1917"/>
                </a:solidFill>
                <a:latin typeface="Segoe UI"/>
              </a:rPr>
              <a:t>Kirsanov, Kushwah and Selvaretnam (2025). Beyond detection: How students use and hide AI in online assessments and what authentic tasks can do about it. Journal of Academic Ethics. https://doi.org/10.1007/s10805-025-09691-3</a:t>
            </a:r>
          </a:p>
          <a:p>
            <a:pPr algn="l">
              <a:spcAft>
                <a:spcPts val="400"/>
              </a:spcAft>
            </a:pPr>
            <a:r>
              <a:rPr sz="1100" b="0">
                <a:solidFill>
                  <a:srgbClr val="1C1917"/>
                </a:solidFill>
                <a:latin typeface="Segoe UI"/>
              </a:rPr>
              <a:t>Kofinas, Tsay and Pike (2025). The impact of generative AI on academic integrity of authentic assessments. British Journal of Educational Technology, 56(6), 2522–2549. https://doi.org/10.1111/bjet.13585</a:t>
            </a:r>
          </a:p>
          <a:p>
            <a:pPr algn="l">
              <a:spcAft>
                <a:spcPts val="400"/>
              </a:spcAft>
            </a:pPr>
            <a:r>
              <a:rPr sz="1100" b="0">
                <a:solidFill>
                  <a:srgbClr val="1C1917"/>
                </a:solidFill>
                <a:latin typeface="Segoe UI"/>
              </a:rPr>
              <a:t>Labayen, Vea, Flórez, Aginako and Sierra (2021). Online student authentication and proctoring system based on multimodal biometrics technology. IEEE Access. https://doi.org/10.1109/ACCESS.2021.3079375</a:t>
            </a:r>
          </a:p>
          <a:p>
            <a:pPr algn="l">
              <a:spcAft>
                <a:spcPts val="400"/>
              </a:spcAft>
            </a:pPr>
            <a:r>
              <a:rPr sz="1100" b="0">
                <a:solidFill>
                  <a:srgbClr val="1C1917"/>
                </a:solidFill>
                <a:latin typeface="Segoe UI"/>
              </a:rPr>
              <a:t>Lee and Fanguy (2022). Online exam proctoring technologies: Educational innovation or deterioration?. British Journal of Educational Technology, 53(3), 475–490. https://doi.org/10.1111/bjet.13182</a:t>
            </a:r>
          </a:p>
        </p:txBody>
      </p:sp>
      <p:sp>
        <p:nvSpPr>
          <p:cNvPr id="10" name="TextBox 9"/>
          <p:cNvSpPr txBox="1"/>
          <p:nvPr/>
        </p:nvSpPr>
        <p:spPr>
          <a:xfrm>
            <a:off x="6126480" y="1097280"/>
            <a:ext cx="5623560" cy="5212080"/>
          </a:xfrm>
          <a:prstGeom prst="rect">
            <a:avLst/>
          </a:prstGeom>
          <a:noFill/>
        </p:spPr>
        <p:txBody>
          <a:bodyPr wrap="square">
            <a:spAutoFit/>
          </a:bodyPr>
          <a:lstStyle/>
          <a:p>
            <a:pPr algn="l">
              <a:spcAft>
                <a:spcPts val="400"/>
              </a:spcAft>
            </a:pPr>
            <a:r>
              <a:rPr sz="1100" b="0">
                <a:solidFill>
                  <a:srgbClr val="1C1917"/>
                </a:solidFill>
                <a:latin typeface="Segoe UI"/>
              </a:rPr>
              <a:t>Lee and Vispoel (2025). A real-time biclustering method for detecting cheating in mixed-format tests. Educational and Psychological Measurement, 85(5), 956–982. https://doi.org/10.1177/00131644251333143</a:t>
            </a:r>
          </a:p>
          <a:p>
            <a:pPr algn="l">
              <a:spcAft>
                <a:spcPts val="400"/>
              </a:spcAft>
            </a:pPr>
            <a:r>
              <a:rPr sz="1100" b="0">
                <a:solidFill>
                  <a:srgbClr val="1C1917"/>
                </a:solidFill>
                <a:latin typeface="Segoe UI"/>
              </a:rPr>
              <a:t>Li, Chang, Yuan and Hauptmann (2015). Massive open online proctor: Toward automating the detection of suspicious behaviors. ACM CSCW, pp. 1129–1137. https://doi.org/10.1145/2675133.2675245  [foundational]</a:t>
            </a:r>
          </a:p>
          <a:p>
            <a:pPr algn="l">
              <a:spcAft>
                <a:spcPts val="400"/>
              </a:spcAft>
            </a:pPr>
            <a:r>
              <a:rPr sz="1100" b="0">
                <a:solidFill>
                  <a:srgbClr val="1C1917"/>
                </a:solidFill>
                <a:latin typeface="Segoe UI"/>
              </a:rPr>
              <a:t>Meulmeester, Dubois, Krommenhoek-van Es et al. (2021). Medical students' perspectives on online proctoring during remote digital progress test. Medical Science Educator, 31, 1773–1777. https://doi.org/10.1007/s40670-021-01420-w</a:t>
            </a:r>
          </a:p>
          <a:p>
            <a:pPr algn="l">
              <a:spcAft>
                <a:spcPts val="400"/>
              </a:spcAft>
            </a:pPr>
            <a:r>
              <a:rPr sz="1100" b="0">
                <a:solidFill>
                  <a:srgbClr val="1C1917"/>
                </a:solidFill>
                <a:latin typeface="Segoe UI"/>
              </a:rPr>
              <a:t>Milone, Cortese, Balestrieri and Pittenger (2017). The impact of proctored online exams on the educational experience. Currents in Pharmacy Teaching and Learning, 9(1), 108–114. https://doi.org/10.1016/j.cptl.2016.08.037  [foundational]</a:t>
            </a:r>
          </a:p>
          <a:p>
            <a:pPr algn="l">
              <a:spcAft>
                <a:spcPts val="400"/>
              </a:spcAft>
            </a:pPr>
            <a:r>
              <a:rPr sz="1100" b="0">
                <a:solidFill>
                  <a:srgbClr val="1C1917"/>
                </a:solidFill>
                <a:latin typeface="Segoe UI"/>
              </a:rPr>
              <a:t>Mohammed and Ali (2022). Cheating prevention in e-proctoring systems using secure exam browsers: A case study. JITEKI, 8(4), 634–648. https://doi.org/10.26555/jiteki.v8i4.25094</a:t>
            </a:r>
          </a:p>
          <a:p>
            <a:pPr algn="l">
              <a:spcAft>
                <a:spcPts val="400"/>
              </a:spcAft>
            </a:pPr>
            <a:r>
              <a:rPr sz="1100" b="0">
                <a:solidFill>
                  <a:srgbClr val="1C1917"/>
                </a:solidFill>
                <a:latin typeface="Segoe UI"/>
              </a:rPr>
              <a:t>Mutimukwe, Viberg, McGrath and Cerratto-Pargman (2025). Privacy in online proctoring systems in higher education: Stakeholders' perceptions, awareness and responsibility. Journal of Computing in Higher Education. https://doi.org/10.1007/s12528-025-09461-5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27</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A7</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A7   References  (4/5)</a:t>
            </a:r>
          </a:p>
        </p:txBody>
      </p:sp>
      <p:sp>
        <p:nvSpPr>
          <p:cNvPr id="9" name="TextBox 8"/>
          <p:cNvSpPr txBox="1"/>
          <p:nvPr/>
        </p:nvSpPr>
        <p:spPr>
          <a:xfrm>
            <a:off x="384048" y="1097280"/>
            <a:ext cx="5669280" cy="5212080"/>
          </a:xfrm>
          <a:prstGeom prst="rect">
            <a:avLst/>
          </a:prstGeom>
          <a:noFill/>
        </p:spPr>
        <p:txBody>
          <a:bodyPr wrap="square">
            <a:spAutoFit/>
          </a:bodyPr>
          <a:lstStyle/>
          <a:p>
            <a:pPr algn="l">
              <a:spcAft>
                <a:spcPts val="400"/>
              </a:spcAft>
            </a:pPr>
            <a:r>
              <a:rPr sz="1100" b="0">
                <a:solidFill>
                  <a:srgbClr val="1C1917"/>
                </a:solidFill>
                <a:latin typeface="Segoe UI"/>
              </a:rPr>
              <a:t>Newton and Essex (2024). How common is cheating in online exams and did it increase during the COVID-19 pandemic? A systematic review. Journal of Academic Ethics, 22, 323–343. https://doi.org/10.1007/s10805-023-09485-5</a:t>
            </a:r>
          </a:p>
          <a:p>
            <a:pPr algn="l">
              <a:spcAft>
                <a:spcPts val="400"/>
              </a:spcAft>
            </a:pPr>
            <a:r>
              <a:rPr sz="1100" b="0">
                <a:solidFill>
                  <a:srgbClr val="1C1917"/>
                </a:solidFill>
                <a:latin typeface="Segoe UI"/>
              </a:rPr>
              <a:t>Nigam, Pasricha, Singh and Churi (2021). A systematic review on AI-based proctoring systems: Past, present and future. Education and Information Technologies, 26, 6421–6445. https://doi.org/10.1007/s10639-021-10597-x</a:t>
            </a:r>
          </a:p>
          <a:p>
            <a:pPr algn="l">
              <a:spcAft>
                <a:spcPts val="400"/>
              </a:spcAft>
            </a:pPr>
            <a:r>
              <a:rPr sz="1100" b="0">
                <a:solidFill>
                  <a:srgbClr val="1C1917"/>
                </a:solidFill>
                <a:latin typeface="Segoe UI"/>
              </a:rPr>
              <a:t>Noorbehbahani, Mohammadi and Aminazadeh (2022). A systematic review of research on cheating in online exams from 2010 to 2021. Education and Information Technologies, 27(6), 8413–8460. https://doi.org/10.1007/s10639-022-10927-7</a:t>
            </a:r>
          </a:p>
          <a:p>
            <a:pPr algn="l">
              <a:spcAft>
                <a:spcPts val="400"/>
              </a:spcAft>
            </a:pPr>
            <a:r>
              <a:rPr sz="1100" b="0">
                <a:solidFill>
                  <a:srgbClr val="1C1917"/>
                </a:solidFill>
                <a:latin typeface="Segoe UI"/>
              </a:rPr>
              <a:t>Nurpeisova, Shaushenova, Mutalova, Ongarbayeva, Niyazbekova, Bekenova, Zhumaliyeva and Zhumasseitova (2023). Research on the development of a proctoring system for conducting online exams in Kazakhstan. Computation, 11(6), 120. https://doi.org/10.3390/computation11060120</a:t>
            </a:r>
          </a:p>
          <a:p>
            <a:pPr algn="l">
              <a:spcAft>
                <a:spcPts val="400"/>
              </a:spcAft>
            </a:pPr>
            <a:r>
              <a:rPr sz="1100" b="0">
                <a:solidFill>
                  <a:srgbClr val="1C1917"/>
                </a:solidFill>
                <a:latin typeface="Segoe UI"/>
              </a:rPr>
              <a:t>Nurpeisova, Shaushenova, Mutalova, Zulpykhar, Ongarbayeva, Niyazbekova, Semenov and Maisigova (2022). The study of mathematical models and algorithms for face recognition in images using Python in a proctoring system. Computation, 10, 136. https://doi.org/10.3390/computation10080136</a:t>
            </a:r>
          </a:p>
          <a:p>
            <a:pPr algn="l">
              <a:spcAft>
                <a:spcPts val="400"/>
              </a:spcAft>
            </a:pPr>
            <a:r>
              <a:rPr sz="1100" b="0">
                <a:solidFill>
                  <a:srgbClr val="1C1917"/>
                </a:solidFill>
                <a:latin typeface="Segoe UI"/>
              </a:rPr>
              <a:t>Potluri, Sistla and Kolli (2023). An automated online proctoring system using attentive-net. Multimedia Tools and Applications, 82, 30375–30404. https://doi.org/10.1007/s11042-023-14604-w</a:t>
            </a:r>
          </a:p>
        </p:txBody>
      </p:sp>
      <p:sp>
        <p:nvSpPr>
          <p:cNvPr id="10" name="TextBox 9"/>
          <p:cNvSpPr txBox="1"/>
          <p:nvPr/>
        </p:nvSpPr>
        <p:spPr>
          <a:xfrm>
            <a:off x="6126480" y="1097280"/>
            <a:ext cx="5623560" cy="5212080"/>
          </a:xfrm>
          <a:prstGeom prst="rect">
            <a:avLst/>
          </a:prstGeom>
          <a:noFill/>
        </p:spPr>
        <p:txBody>
          <a:bodyPr wrap="square">
            <a:spAutoFit/>
          </a:bodyPr>
          <a:lstStyle/>
          <a:p>
            <a:pPr algn="l">
              <a:spcAft>
                <a:spcPts val="400"/>
              </a:spcAft>
            </a:pPr>
            <a:r>
              <a:rPr sz="1100" b="0">
                <a:solidFill>
                  <a:srgbClr val="1C1917"/>
                </a:solidFill>
                <a:latin typeface="Segoe UI"/>
              </a:rPr>
              <a:t>Ravesloot, Donkers, Meiboom, Langers, Jacobs, Tio, van der Vleuten and Bremers (2026). Computer testing, formative or summative, and proctoring: Does it matter?. Perspectives on Medical Education, 15(1), 122–133. https://doi.org/10.5334/pme.1771</a:t>
            </a:r>
          </a:p>
          <a:p>
            <a:pPr algn="l">
              <a:spcAft>
                <a:spcPts val="400"/>
              </a:spcAft>
            </a:pPr>
            <a:r>
              <a:rPr sz="1100" b="0">
                <a:solidFill>
                  <a:srgbClr val="1C1917"/>
                </a:solidFill>
                <a:latin typeface="Segoe UI"/>
              </a:rPr>
              <a:t>Rios and Liu (2017). Online proctored versus unproctored low-stakes internet test administration. American Journal of Distance Education, 31(4), 226–241. https://doi.org/10.1080/08923647.2017.1258628  [foundational]</a:t>
            </a:r>
          </a:p>
          <a:p>
            <a:pPr algn="l">
              <a:spcAft>
                <a:spcPts val="400"/>
              </a:spcAft>
            </a:pPr>
            <a:r>
              <a:rPr sz="1100" b="0">
                <a:solidFill>
                  <a:srgbClr val="1C1917"/>
                </a:solidFill>
                <a:latin typeface="Segoe UI"/>
              </a:rPr>
              <a:t>Scarfe, Watcham, Clarke and Roesch (2024). A real-world test of artificial intelligence infiltration of a university examinations system: A Turing Test case study. PLOS ONE. https://doi.org/10.1371/journal.pone.0305354</a:t>
            </a:r>
          </a:p>
          <a:p>
            <a:pPr algn="l">
              <a:spcAft>
                <a:spcPts val="400"/>
              </a:spcAft>
            </a:pPr>
            <a:r>
              <a:rPr sz="1100" b="0">
                <a:solidFill>
                  <a:srgbClr val="1C1917"/>
                </a:solidFill>
                <a:latin typeface="Segoe UI"/>
              </a:rPr>
              <a:t>Selwyn, O'Neill, Smith, Andrejevic and Gu (2023). A necessary evil? The rise of online exam proctoring in Australian universities. Media International Australia, 186(1), 149–164. https://doi.org/10.1177/1329878X211005862</a:t>
            </a:r>
          </a:p>
          <a:p>
            <a:pPr algn="l">
              <a:spcAft>
                <a:spcPts val="400"/>
              </a:spcAft>
            </a:pPr>
            <a:r>
              <a:rPr sz="1100" b="0">
                <a:solidFill>
                  <a:srgbClr val="1C1917"/>
                </a:solidFill>
                <a:latin typeface="Segoe UI"/>
              </a:rPr>
              <a:t>Slusky (2020). Cybersecurity of online proctoring systems. Journal of International Technology and Information Management, 29. Journal of International Technology and Information Management, 29 (2020)  [foundational]</a:t>
            </a:r>
          </a:p>
          <a:p>
            <a:pPr algn="l">
              <a:spcAft>
                <a:spcPts val="400"/>
              </a:spcAft>
            </a:pPr>
            <a:r>
              <a:rPr sz="1100" b="0">
                <a:solidFill>
                  <a:srgbClr val="1C1917"/>
                </a:solidFill>
                <a:latin typeface="Segoe UI"/>
              </a:rPr>
              <a:t>Stanoyevitch (2024). Online assessment in the age of artificial intelligence. Discover Education. https://doi.org/10.1007/s44217-024-00212-9</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28</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A7</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A7   References  (5/5)</a:t>
            </a:r>
          </a:p>
        </p:txBody>
      </p:sp>
      <p:sp>
        <p:nvSpPr>
          <p:cNvPr id="9" name="TextBox 8"/>
          <p:cNvSpPr txBox="1"/>
          <p:nvPr/>
        </p:nvSpPr>
        <p:spPr>
          <a:xfrm>
            <a:off x="384048" y="1097280"/>
            <a:ext cx="5669280" cy="5212080"/>
          </a:xfrm>
          <a:prstGeom prst="rect">
            <a:avLst/>
          </a:prstGeom>
          <a:noFill/>
        </p:spPr>
        <p:txBody>
          <a:bodyPr wrap="square">
            <a:spAutoFit/>
          </a:bodyPr>
          <a:lstStyle/>
          <a:p>
            <a:pPr algn="l">
              <a:spcAft>
                <a:spcPts val="400"/>
              </a:spcAft>
            </a:pPr>
            <a:r>
              <a:rPr sz="1100" b="0">
                <a:solidFill>
                  <a:srgbClr val="1C1917"/>
                </a:solidFill>
                <a:latin typeface="Segoe UI"/>
              </a:rPr>
              <a:t>Topuz, Saka, Fatsa and Kurşun (2022). Emerging trends of online assessment systems in the emergency remote teaching period. Smart Learning Environments, 9, 17. https://doi.org/10.1186/s40561-022-00199-6</a:t>
            </a:r>
          </a:p>
          <a:p>
            <a:pPr algn="l">
              <a:spcAft>
                <a:spcPts val="400"/>
              </a:spcAft>
            </a:pPr>
            <a:r>
              <a:rPr sz="1100" b="0">
                <a:solidFill>
                  <a:srgbClr val="1C1917"/>
                </a:solidFill>
                <a:latin typeface="Segoe UI"/>
              </a:rPr>
              <a:t>Vazquez, Chiang and Sarmiento-Barbieri (2021). Can we stay one step ahead of cheaters? A field experiment in proctoring online open book exams. Journal of Behavioral and Experimental Economics, 90, 101653. https://doi.org/10.1016/j.socec.2020.101653</a:t>
            </a:r>
          </a:p>
        </p:txBody>
      </p:sp>
      <p:sp>
        <p:nvSpPr>
          <p:cNvPr id="10" name="TextBox 9"/>
          <p:cNvSpPr txBox="1"/>
          <p:nvPr/>
        </p:nvSpPr>
        <p:spPr>
          <a:xfrm>
            <a:off x="6126480" y="1097280"/>
            <a:ext cx="5623560" cy="5212080"/>
          </a:xfrm>
          <a:prstGeom prst="rect">
            <a:avLst/>
          </a:prstGeom>
          <a:noFill/>
        </p:spPr>
        <p:txBody>
          <a:bodyPr wrap="square">
            <a:spAutoFit/>
          </a:bodyPr>
          <a:lstStyle/>
          <a:p>
            <a:pPr algn="l">
              <a:spcAft>
                <a:spcPts val="400"/>
              </a:spcAft>
            </a:pPr>
            <a:r>
              <a:rPr sz="1100" b="0">
                <a:solidFill>
                  <a:srgbClr val="1C1917"/>
                </a:solidFill>
                <a:latin typeface="Segoe UI"/>
              </a:rPr>
              <a:t>Weiner and Hurtz (2017). A comparative study of online remote proctored versus onsite proctored high-stakes exams. Journal of Applied Testing Technology, 18(1), 13–20. https://jattjournal.net/index.php/atp/article/view/113061  [foundational]</a:t>
            </a:r>
          </a:p>
          <a:p>
            <a:pPr algn="l">
              <a:spcAft>
                <a:spcPts val="400"/>
              </a:spcAft>
            </a:pPr>
            <a:r>
              <a:rPr sz="1100" b="0">
                <a:solidFill>
                  <a:srgbClr val="1C1917"/>
                </a:solidFill>
                <a:latin typeface="Segoe UI"/>
              </a:rPr>
              <a:t>Özseven and Esin Özseven (2026). An explainable neuro-symbolic approach for cheating detection in online exams. Applied Sciences, 16(6), 2884. https://doi.org/10.3390/app16062884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412480" cy="256032"/>
          </a:xfrm>
          <a:prstGeom prst="rect">
            <a:avLst/>
          </a:prstGeom>
          <a:noFill/>
        </p:spPr>
        <p:txBody>
          <a:bodyPr wrap="square"/>
          <a:lstStyle/>
          <a:p>
            <a:pPr algn="l"/>
            <a:r>
              <a:rPr sz="1200" b="0">
                <a:solidFill>
                  <a:srgbClr val="5C564E"/>
                </a:solidFill>
                <a:latin typeface="Segoe UI"/>
              </a:rPr>
              <a:t>Review I   ·   BACSE291   ·   29</a:t>
            </a:r>
          </a:p>
        </p:txBody>
      </p:sp>
      <p:sp>
        <p:nvSpPr>
          <p:cNvPr id="7" name="TextBox 6"/>
          <p:cNvSpPr txBox="1"/>
          <p:nvPr/>
        </p:nvSpPr>
        <p:spPr>
          <a:xfrm>
            <a:off x="8595360" y="6510528"/>
            <a:ext cx="3108960" cy="256032"/>
          </a:xfrm>
          <a:prstGeom prst="rect">
            <a:avLst/>
          </a:prstGeom>
          <a:noFill/>
        </p:spPr>
        <p:txBody>
          <a:bodyPr wrap="square"/>
          <a:lstStyle/>
          <a:p>
            <a:pPr algn="r"/>
            <a:r>
              <a:rPr sz="1200" b="0">
                <a:solidFill>
                  <a:srgbClr val="5C564E"/>
                </a:solidFill>
                <a:latin typeface="Segoe UI"/>
              </a:rPr>
              <a:t>A8</a:t>
            </a:r>
          </a:p>
        </p:txBody>
      </p:sp>
      <p:sp>
        <p:nvSpPr>
          <p:cNvPr id="8" name="TextBox 7"/>
          <p:cNvSpPr txBox="1"/>
          <p:nvPr/>
        </p:nvSpPr>
        <p:spPr>
          <a:xfrm>
            <a:off x="502920" y="530352"/>
            <a:ext cx="11155680" cy="475488"/>
          </a:xfrm>
          <a:prstGeom prst="rect">
            <a:avLst/>
          </a:prstGeom>
          <a:noFill/>
        </p:spPr>
        <p:txBody>
          <a:bodyPr wrap="square"/>
          <a:lstStyle/>
          <a:p>
            <a:pPr algn="l"/>
            <a:r>
              <a:rPr sz="3200" b="1">
                <a:solidFill>
                  <a:srgbClr val="12263A"/>
                </a:solidFill>
                <a:latin typeface="Palatino Linotype"/>
              </a:rPr>
              <a:t>A8   Backup answers</a:t>
            </a:r>
          </a:p>
        </p:txBody>
      </p:sp>
      <p:sp>
        <p:nvSpPr>
          <p:cNvPr id="9" name="Rectangle 8"/>
          <p:cNvSpPr/>
          <p:nvPr/>
        </p:nvSpPr>
        <p:spPr>
          <a:xfrm>
            <a:off x="502920" y="1143000"/>
            <a:ext cx="11155680" cy="86868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 y="1197864"/>
            <a:ext cx="10789920" cy="292608"/>
          </a:xfrm>
          <a:prstGeom prst="rect">
            <a:avLst/>
          </a:prstGeom>
          <a:noFill/>
        </p:spPr>
        <p:txBody>
          <a:bodyPr wrap="square"/>
          <a:lstStyle/>
          <a:p>
            <a:pPr algn="l"/>
            <a:r>
              <a:rPr sz="1600" b="1">
                <a:solidFill>
                  <a:srgbClr val="12263A"/>
                </a:solidFill>
                <a:latin typeface="Palatino Linotype"/>
              </a:rPr>
              <a:t>Can you catch a second phone?</a:t>
            </a:r>
          </a:p>
        </p:txBody>
      </p:sp>
      <p:sp>
        <p:nvSpPr>
          <p:cNvPr id="11" name="TextBox 10"/>
          <p:cNvSpPr txBox="1"/>
          <p:nvPr/>
        </p:nvSpPr>
        <p:spPr>
          <a:xfrm>
            <a:off x="658368" y="1527048"/>
            <a:ext cx="10789920" cy="384048"/>
          </a:xfrm>
          <a:prstGeom prst="rect">
            <a:avLst/>
          </a:prstGeom>
          <a:noFill/>
        </p:spPr>
        <p:txBody>
          <a:bodyPr wrap="square"/>
          <a:lstStyle/>
          <a:p>
            <a:pPr algn="l"/>
            <a:r>
              <a:rPr sz="1400" b="0">
                <a:solidFill>
                  <a:srgbClr val="1C1917"/>
                </a:solidFill>
                <a:latin typeface="Segoe UI"/>
              </a:rPr>
              <a:t>No. A second phone is outside the threat model. Say so before anyone asks.</a:t>
            </a:r>
          </a:p>
        </p:txBody>
      </p:sp>
      <p:sp>
        <p:nvSpPr>
          <p:cNvPr id="12" name="Rectangle 11"/>
          <p:cNvSpPr/>
          <p:nvPr/>
        </p:nvSpPr>
        <p:spPr>
          <a:xfrm>
            <a:off x="502920" y="2103120"/>
            <a:ext cx="11155680" cy="86868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 y="2157984"/>
            <a:ext cx="10789920" cy="292608"/>
          </a:xfrm>
          <a:prstGeom prst="rect">
            <a:avLst/>
          </a:prstGeom>
          <a:noFill/>
        </p:spPr>
        <p:txBody>
          <a:bodyPr wrap="square"/>
          <a:lstStyle/>
          <a:p>
            <a:pPr algn="l"/>
            <a:r>
              <a:rPr sz="1600" b="1">
                <a:solidFill>
                  <a:srgbClr val="12263A"/>
                </a:solidFill>
                <a:latin typeface="Palatino Linotype"/>
              </a:rPr>
              <a:t>Is a high score guilt?</a:t>
            </a:r>
          </a:p>
        </p:txBody>
      </p:sp>
      <p:sp>
        <p:nvSpPr>
          <p:cNvPr id="14" name="TextBox 13"/>
          <p:cNvSpPr txBox="1"/>
          <p:nvPr/>
        </p:nvSpPr>
        <p:spPr>
          <a:xfrm>
            <a:off x="658368" y="2487168"/>
            <a:ext cx="10789920" cy="384048"/>
          </a:xfrm>
          <a:prstGeom prst="rect">
            <a:avLst/>
          </a:prstGeom>
          <a:noFill/>
        </p:spPr>
        <p:txBody>
          <a:bodyPr wrap="square"/>
          <a:lstStyle/>
          <a:p>
            <a:pPr algn="l"/>
            <a:r>
              <a:rPr sz="1400" b="0">
                <a:solidFill>
                  <a:srgbClr val="1C1917"/>
                </a:solidFill>
                <a:latin typeface="Segoe UI"/>
              </a:rPr>
              <a:t>No. The score is a reproducible reading of the log. Flagged or Cleared is a person’s decision.</a:t>
            </a:r>
          </a:p>
        </p:txBody>
      </p:sp>
      <p:sp>
        <p:nvSpPr>
          <p:cNvPr id="15" name="Rectangle 14"/>
          <p:cNvSpPr/>
          <p:nvPr/>
        </p:nvSpPr>
        <p:spPr>
          <a:xfrm>
            <a:off x="502920" y="3063240"/>
            <a:ext cx="11155680" cy="86868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3118104"/>
            <a:ext cx="10789920" cy="292608"/>
          </a:xfrm>
          <a:prstGeom prst="rect">
            <a:avLst/>
          </a:prstGeom>
          <a:noFill/>
        </p:spPr>
        <p:txBody>
          <a:bodyPr wrap="square"/>
          <a:lstStyle/>
          <a:p>
            <a:pPr algn="l"/>
            <a:r>
              <a:rPr sz="1600" b="1">
                <a:solidFill>
                  <a:srgbClr val="12263A"/>
                </a:solidFill>
                <a:latin typeface="Palatino Linotype"/>
              </a:rPr>
              <a:t>What already runs?</a:t>
            </a:r>
          </a:p>
        </p:txBody>
      </p:sp>
      <p:sp>
        <p:nvSpPr>
          <p:cNvPr id="17" name="TextBox 16"/>
          <p:cNvSpPr txBox="1"/>
          <p:nvPr/>
        </p:nvSpPr>
        <p:spPr>
          <a:xfrm>
            <a:off x="658368" y="3447288"/>
            <a:ext cx="10789920" cy="384048"/>
          </a:xfrm>
          <a:prstGeom prst="rect">
            <a:avLst/>
          </a:prstGeom>
          <a:noFill/>
        </p:spPr>
        <p:txBody>
          <a:bodyPr wrap="square"/>
          <a:lstStyle/>
          <a:p>
            <a:pPr algn="l"/>
            <a:r>
              <a:rPr sz="1400" b="0">
                <a:solidFill>
                  <a:srgbClr val="1C1917"/>
                </a:solidFill>
                <a:latin typeface="Segoe UI"/>
              </a:rPr>
              <a:t>The prototype already ingests browser and agent events and writes a report. It is the backup, not the claim.</a:t>
            </a:r>
          </a:p>
        </p:txBody>
      </p:sp>
      <p:sp>
        <p:nvSpPr>
          <p:cNvPr id="18" name="Rectangle 17"/>
          <p:cNvSpPr/>
          <p:nvPr/>
        </p:nvSpPr>
        <p:spPr>
          <a:xfrm>
            <a:off x="502920" y="4023360"/>
            <a:ext cx="11155680" cy="86868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8368" y="4078224"/>
            <a:ext cx="10789920" cy="292608"/>
          </a:xfrm>
          <a:prstGeom prst="rect">
            <a:avLst/>
          </a:prstGeom>
          <a:noFill/>
        </p:spPr>
        <p:txBody>
          <a:bodyPr wrap="square"/>
          <a:lstStyle/>
          <a:p>
            <a:pPr algn="l"/>
            <a:r>
              <a:rPr sz="1600" b="1">
                <a:solidFill>
                  <a:srgbClr val="12263A"/>
                </a:solidFill>
                <a:latin typeface="Palatino Linotype"/>
              </a:rPr>
              <a:t>What does objective 4 measure?</a:t>
            </a:r>
          </a:p>
        </p:txBody>
      </p:sp>
      <p:sp>
        <p:nvSpPr>
          <p:cNvPr id="20" name="TextBox 19"/>
          <p:cNvSpPr txBox="1"/>
          <p:nvPr/>
        </p:nvSpPr>
        <p:spPr>
          <a:xfrm>
            <a:off x="658368" y="4407408"/>
            <a:ext cx="10789920" cy="384048"/>
          </a:xfrm>
          <a:prstGeom prst="rect">
            <a:avLst/>
          </a:prstGeom>
          <a:noFill/>
        </p:spPr>
        <p:txBody>
          <a:bodyPr wrap="square"/>
          <a:lstStyle/>
          <a:p>
            <a:pPr algn="l"/>
            <a:r>
              <a:rPr sz="1400" b="0">
                <a:solidFill>
                  <a:srgbClr val="1C1917"/>
                </a:solidFill>
                <a:latin typeface="Segoe UI"/>
              </a:rPr>
              <a:t>Exam publishing across devices. Two student devices and one faculty device share one exam, then a review is exported.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5957</Words>
  <Application>Microsoft Office PowerPoint</Application>
  <PresentationFormat>Widescreen</PresentationFormat>
  <Paragraphs>561</Paragraphs>
  <Slides>29</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Palatino Linotype</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Rudransh Mishra</cp:lastModifiedBy>
  <cp:revision>1</cp:revision>
  <dcterms:created xsi:type="dcterms:W3CDTF">2013-01-27T09:14:16Z</dcterms:created>
  <dcterms:modified xsi:type="dcterms:W3CDTF">2026-10-03T18:06:02Z</dcterms:modified>
  <cp:category/>
</cp:coreProperties>
</file>