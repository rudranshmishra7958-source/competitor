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2011680" cy="1270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a:latin="Calibri">
                <a:solidFill>
                  <a:srgbClr val="B08968"/>
                </a:solidFill>
                <a:latin typeface="Calibri"/>
              </a:rPr>
              <a:t>BACSE291    ·    REVIEW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515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a:latin="Georgia">
                <a:solidFill>
                  <a:srgbClr val="FFFFFF"/>
                </a:solidFill>
                <a:latin typeface="Georgia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a:latin="Calibri">
                <a:solidFill>
                  <a:srgbClr val="F4F0E6"/>
                </a:solidFill>
                <a:latin typeface="Calibri"/>
              </a:rPr>
              <a:t>A1–A6  comparison tables, six clusters.
A7  52 references.  38 from 2021–2026.  14 foundational.
A8  backup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B08968"/>
                </a:solidFill>
                <a:latin typeface="Calibri"/>
              </a:rPr>
              <a:t>Review I   ·   BACSE291   ·   Appendix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A1   Surveys of proctoring  (1/3)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Arnò, Galassi, Tommasi, Saggino and Vittorini,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Feature review of commercial systems plus two case studies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29 commercial proctoring systems; automated and live exams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LMS fit, lockdown, monitoring, GDPR flag, live versus automated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Automated detection was unreliable; still recommends webcam support for a human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Butler-Henderson and Crawford, 2020  ·  foundational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Systematic review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36 papers, 2009–2018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Exam design, security, student experience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Stops at 2018 and is thin on privacy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Draaijer, Jefferies and Somers, 2018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Survey of EU practice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Higher-education providers in the EU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Live, recorded, and automated proctoring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 state-of-play survey, not a privacy-bounded design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Han, Nikou and Ayele, 2023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Systematic literature review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Digital-proctoring studies through 2022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Privacy, ethics, bias, effectiveness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Reviews the field; does not specify an open scoring rule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Heinrich, 2025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Systematic-narrative review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33 commercial online proctoring systems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Biometric capture, flag types, published rules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Biometrics dominate, and flags lack an open standard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A1   Surveys of proctoring  (2/3)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Holden, Norris and Kuhlmeier,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Narrative review of integrity research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Studies of online higher-education assessment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Causes of dishonesty; prevention and detection methods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Recommends a mix of measures; privacy is named, not engineered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Hussein, Yusuf, Deb, Fong and Naidu, 2020  ·  foundational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Tool evaluation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Commercial proctoring products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Feature lists: webcam, lockdown, identity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Feature lists, not a privacy-bounded design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Nigam, Pasricha, Singh and Churi,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Review of AI and non-AI systems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43 systems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Webcam, voice, lockdown, identity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Privacy is named, not designed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Noorbehbahani, Mohammadi and Aminazadeh, 2022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Systematic mapping review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58 publications, January 2010 to February 2021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Motivation, type, detection, prevention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Maps the field through early 2021; does not test a bounded monitor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Topuz, Saka, Fatsa and Kurşun, 2022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Systematic feature analysis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Academic studies of online assessment systems published in 2020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Platforms, security features, common features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Security is described as a feature list, not as a minimised event log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A1   Surveys of proctoring  (3/3)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46888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246888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Khalil, Prinsloo and Slade, 2022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PRISMA-informed systematic review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27 peer-reviewed articles and papers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Cost, usability, integrity, privacy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Institutions chose on cost and ease; student privacy was often absent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A2   Lockdown browsers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123444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Burgess, Ginsberg, Felten and Cohney, 2022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Reverse engineering of four exam suites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Examplify, Exam360, Exam4, Electronic Blue Book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Process allow-lists and facial checks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Renaming a process bypasses the allow-list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Mohammed and Ali, 2022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Case study of Safe Exam Browser with Moodle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One e-exam, with and without SEB; Wireshark and Registry Changes View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Local programs, Windows tools, network use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Lockdown reduces local access and remains bypassable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Slusky, 2020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Cybersecurity review of proctoring systems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Commercial platforms including lockdown browsers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Authentication, process control, recording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Names the attack surface; does not publish a bypass-resistant rule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A3   Browser-only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a:latin="Calibri">
                <a:solidFill>
                  <a:srgbClr val="C45C26"/>
                </a:solidFill>
                <a:latin typeface="Calibri"/>
              </a:rPr>
              <a:t>This cluster is thin on purpose: almost nobody publishes a non-biometric browser signal.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0020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10515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Diedenhofen and Musch, 2016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JavaScript page-focus detection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Lab plus online samples (115 lab, 186 online; 510 online)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Tab and window leave; sensitivity and specificity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Knows the page was left, not which application opened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A4   Webcam and AI proctors  (1/3)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Atoum, Chen, Liu, Hsu and Liu, 2017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Multimodal biometric proctor: webcam, wearcam, microphone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24 subjects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Six visual and audio components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Requires biometrics and a second camera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Bergmans, Bouali, Luttikhuis and Rensink, 2021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Controlled experiment with an AI proctor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30 computer-science students; 6 asked to cheat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Automatic flags versus a later human check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The model flagged none of the six cheaters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Erdem and Karabatak, 2025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Deep-learning and machine-learning classifiers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Visual behaviour in online exams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XGBoost with SHAP and LIME explanations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The explanation is added after the decision, and the cues are visual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Fidas, Belk, Constantinides, Portugal, Martins, Pietron, Pitsillides and Avouris, 2023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Longitudinal study of continuous identity checks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TRUSTID proof of concept in tertiary settings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Face embedding and voice identification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Still depends on face and voice, which this project will not collect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Hylton, Levy and Dringus, 2016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Webcam as a deterrent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Online exam with and without a webcam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Misconduct and the feeling of being watched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Surveillance, not an explainable score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A4   Webcam and AI proctors  (2/3)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Labayen, Vea, Flórez, Aginako and Sierra,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 paper: continuous multimodal biometrics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SMOWL deployment; usability and privacy survey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Face, voice, typing, lockdown, human review of uncertain cases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Identity is biometric, and the paper is from the vendor's authors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Li, Chang, Yuan and Hauptmann, 2015  ·  foundational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Early automated MOOC proctor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Video of exam behaviour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Visual cues of suspicious behaviour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An early biometric line, with no published non-visual rule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Nurpeisova, Shaushenova, Mutalova, Zulpykhar, Ongarbayeva, Niyazbekova, Semenov and Maisigova, 2022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Comparison of face-recognition models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Proctoring prototypes for online exams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Face-recognition accuracy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The detector is the face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Nurpeisova, Shaushenova, Mutalova, Ongarbayeva, Niyazbekova, Bekenova, Zhumaliyeva and Zhumasseitova, 2023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 build: Proctor SU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Django and Python exam setting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YOLO face, voice, keyboard, browser lockdown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Collects face, voice, and keystrokes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Özseven and Esin Özseven, 2026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Explainable neuro-symbolic detector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Exam video of gaze, head, and hands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Gaze, head pose, hand-object interaction, device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Explainable, but the cues are still the body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A4   Webcam and AI proctors  (3/3)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46888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246888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Potluri, Sistla and Kolli, 2023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Attentive-net on video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Clips labelled as mischievous behaviour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Visual attention features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Still a visual detector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A5   Privacy and ethics  (1/3)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Alessio and Messinger,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Faculty and student survey on proctoring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University respondents; mixed views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Privacy invasion: 53% faculty, 70% students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Documents the objection; does not design a non-biometric monitor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Balash, Kim, Shaibekova, Fainchtein, Sherr and Aviv, 2021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Review analysis plus student survey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Browser-extension reviews and n = 102 students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Identity checks, webcam, screen, browser history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Students feel compelled by the institution; no alternative design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Coghlan, Miller and Paterson,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Ethical analysis of supervision technologies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Published systems and policy arguments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Consent, proportionality, surveillance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No system design follows the critique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Conijn, Kleingeld, Matzat and Snijders, 2022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Four-wave multilevel survey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1,760 students in 105 courses at one Dutch faculty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Temptation to cheat, anxiety, difficulty, grade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Proctoring raised anxiety and did not reduce temptation to cheat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Gudiño Paredes, Jasso Peña and de la Fuente Alcázar,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Mixed-methods study of remote proctoring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Online graduate students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Honesty, privacy, anxiety, technology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Students felt watched; privacy and anxiety remained the concern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A5   Privacy and ethics  (2/3)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Kharbat and Abu Daabes,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Mixed-methods student study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About 92–106 students, June 2020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Webcam practicality and privacy concern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Most students called the webcam a privacy breach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Lee and Fanguy, 2022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Qualitative case study using Foucault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Large South Korean university, Safe Exam Browser and Zoom, autumn 2020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Student subjectivity, trust, pedagogical relationship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Shows the harm of surveillance; does not specify a bounded monitor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Meulmeester, Dubois, Krommenhoek-van Es et al.,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Post-test questionnaire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Medical students at one Dutch school, September 2020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Invalidation from network, noise, webcam; privacy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Worry about a false flag can itself change the sitting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Milone, Cortese, Balestrieri and Pittenger, 2017  ·  foundational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Student-experience study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Pharmacy students in proctored online exams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Stress, fairness, technical failure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Experience of surveillance, not an explainable rule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Mutimukwe, Viberg, McGrath and Cerratto-Pargman, 2025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Stakeholder interviews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10 interviews, Scandinavia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What is collected, who sees it, and for how long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Privacy is negotiated in talk; the systems still default to biometrics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A5   Privacy and ethics  (3/3)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46888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246888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Selwyn, O'Neill, Smith, Andrejevic and Gu, 2023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Domestication study of adoption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Interviews, documents, news, and marketing, first pandemic year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Who controls the system; hidden labour; student vulnerability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Universities surrendered control to vendors; automation still needs people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A6   Generative AI and answer-pattern cheating  (1/3)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Dendir and Maxwell, 2020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Score comparison under proctoring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Online course exams before and after proctoring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Score change when a proctor is added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Does not open the scoring black box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Golden and Kohlbeck, 2020  ·  foundational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Study of test-bank item leakage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Online accounting classes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Item exposure and score patterns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About reused items, not about what the endpoint is doing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Henderson, Chung, Awdry, Mundy, Bryant, Ashford and Ryan, 2023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Large post-exam self-report survey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7,839 students; 216 reported cheating; one Australian university, 2021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Security measure, design, conditions, demographics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Cheating occurred across security measures; proctoring was incomplete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Ibrahim, Liu, Asim, Battu, Benabderrahmane, Alhafni, Adnan et al., 2023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ChatGPT answers compared with student work, then run through detectors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32 courses, 8 disciplines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Detector accuracy; obfuscation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Detectors fail, and light editing evades them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Ilgaz and Afacan Adanır, 2020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Learner survey on online exams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Online learners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Preference for online exams and perceived fairness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About whether exams matter to learners, not how to score an event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A6   Generative AI and answer-pattern cheating  (2/3)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Kirsanov, Kushwah and Selvaretnam, 2025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Student survey on generative-AI use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31 of 174 economics undergraduates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Concealment of AI use; views on detection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Students hide AI use; detection is the wrong lever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Kofinas, Tsay and Pike, 2025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Exploratory experiment on authentic assessment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Higher-education written tasks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What generative AI can reproduce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Small sample; explicit written knowledge is easy for the model to redo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Lee and Vispoel, 2025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Answer-pattern biclustering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Simulation on mixed-format tests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Response similarity, not behaviour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Detects answer copying, not the other application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Newton and Essex, 2024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Systematic review of self-reported cheating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Studies of online-exam cheating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Prevalence; proctored versus unproctored comparisons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About 44.7% admitted cheating; the effect of proctoring is not settled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Ravesloot, Donkers, Meiboom, Langers, Jacobs, Tio, van der Vleuten and Bremers, 2026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Score comparison across test formats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Dutch progress test; more than 10,000 sittings, five schools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Paper versus computer; remote proctor versus live supervision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Authors cite Bergmans: remote proctoring may deter rather than detect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A6   Generative AI and answer-pattern cheating  (3/3)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Author and year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Dataset or testbed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a:latin="Calibri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t" marL="54864" marR="54864" marT="36576">
                    <a:solidFill>
                      <a:srgbClr val="1226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Rios and Liu, 2017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Score comparison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Low-stakes internet tests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Proctored versus unproctored scores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Low-stakes only, and the mechanism is not opened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Scarfe, Watcham, Clarke and Roesch, 2024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100% AI exam scripts submitted into real modules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University of Reading psychology examinations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Detection rate and grade boundary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94% of AI scripts were undetected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Stanoyevitch, 2024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Observational score comparison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Introductory statistics, in person, online, and after ChatGPT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Mean score shift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A score jump is not evidence of who cheated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Vazquez, Chiang and Sarmiento-Barbieri, 2021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Two randomized field experiments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One face-to-face class and one online class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Live proctor versus web proctor; score gap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Unproctored scores were about 11% higher; the online web proctor had the smaller effect</a:t>
                      </a:r>
                    </a:p>
                  </a:txBody>
                  <a:tcPr anchor="t" marL="54864" marR="54864" marT="36576">
                    <a:solidFill>
                      <a:srgbClr val="F4F0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Weiner and Hurtz, 2017  ·  foundational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Quasi-experiment on score equivalence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Three professional licensing exams; kiosk video versus test centre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Reliability and measurement equivalence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a:latin="Calibri">
                          <a:solidFill>
                            <a:srgbClr val="1C1917"/>
                          </a:solidFill>
                          <a:latin typeface="Calibri"/>
                        </a:rPr>
                        <a:t>Equivalence of video kiosks, not a reason to record the face by default</a:t>
                      </a:r>
                    </a:p>
                  </a:txBody>
                  <a:tcPr anchor="t" marL="54864" marR="54864" marT="36576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(1/9)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Alessio and Messinger (2021). Faculty and student perceptions of academic integrity in technology-assisted learning and testing. Frontiers in Education, 6, 629220. https://doi.org/10.3389/feduc.2021.629220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Arnò, Galassi, Tommasi, Saggino and Vittorini (2021). State-of-the-art of commercial proctoring systems and their use in academic online exams. International Journal of Distance Education Technologies, 19(2), 41–62. https://doi.org/10.4018/IJDET.20210401.oa3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Atoum, Chen, Liu, Hsu and Liu (2017). Automated online exam proctoring. IEEE Transactions on Multimedia, 19(7), 1609–1624. https://doi.org/10.1109/TMM.2017.2656064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Balash, Kim, Shaibekova, Fainchtein, Sherr and Aviv (2021). Examining the examiners: Students' privacy and security perceptions of online proctoring services. USENIX SOUPS 2021, pp. 633–652. https://www.usenix.org/conference/soups2021/presentation/balash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Bergmans, Bouali, Luttikhuis and Rensink (2021). On the efficacy of online proctoring using Proctorio. CSEDU 2021, pp. 279–290. https://doi.org/10.5220/0010399602790290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Burgess, Ginsberg, Felten and Cohney (2022). Watching the watchers: Bias and vulnerability in remote proctoring software. USENIX Security 2022. https://www.usenix.org/conference/usenixsecurity22/presentation/burgess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(2/9)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Butler-Henderson and Crawford (2020). A systematic review of online examinations. Computers &amp; Education, 159, 104024. https://doi.org/10.1016/j.compedu.2020.104024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Coghlan, Miller and Paterson (2021). Good proctor or 'Big Brother'? Ethics of online exam supervision technologies. Philosophy &amp; Technology, 34(4), 1581–1606. https://doi.org/10.1007/s13347-021-00476-1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Conijn, Kleingeld, Matzat and Snijders (2022). The fear of big brother: The potential negative side-effects of proctored exams. Journal of Computer Assisted Learning, 38(6), 1521–1534. https://doi.org/10.1111/jcal.12651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Dendir and Maxwell (2020). Cheating in online courses: Evidence from online proctoring. Computers in Human Behavior Reports, 2, 100033. https://doi.org/10.1016/j.chbr.2020.100033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Diedenhofen and Musch (2016). PageFocus: Using paradata to detect and prevent cheating on online achievement tests. Behavior Research Methods. https://doi.org/10.3758/s13428-016-0800-7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Draaijer, Jefferies and Somers (2018). Online proctoring for remote examination: A state of play in higher education in the EU. Communications in Computer and Information Science, 829, 96–108. https://doi.org/10.1007/978-3-319-97807-9_8  [foundational]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(3/9)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Erdem and Karabatak (2025). Cheating detection in online exams using deep learning and machine learning. Applied Sciences, 15, 400. Appl. Sci. 2025, 15, 400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Fidas, Belk, Constantinides, Portugal, Martins, Pietron, Pitsillides and Avouris (2023). Ensuring academic integrity and trust in online learning environments. Education Sciences, 13(6), 566. https://doi.org/10.3390/educsci13060566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Golden and Kohlbeck (2020). Addressing cheating when using test bank questions in online classes. Journal of Accounting Education, 52. https://doi.org/10.1016/j.jaccedu.2020.100671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Gudiño Paredes, Jasso Peña and de la Fuente Alcázar (2021). Remote proctored exams: Integrity assurance in online education?. Distance Education, 42, 200–218. Distance Education, 42, 200–218 (2021)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Han, Nikou and Ayele (2023). Digital proctoring in higher education: A systematic literature review. International Journal of Educational Management. https://doi.org/10.1108/ijem-12-2022-0522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Heinrich (2025). A systematic-narrative review of online proctoring systems and a case for open standards. Open Praxis. https://doi.org/10.55982/openpraxis.17.3.836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(4/9)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Henderson, Chung, Awdry, Mundy, Bryant, Ashford and Ryan (2023). Factors associated with online examination cheating. Assessment &amp; Evaluation in Higher Education, 48(7), 980–994. https://doi.org/10.1080/02602938.2022.2144802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Holden, Norris and Kuhlmeier (2021). Academic integrity in online assessment: A research review. Frontiers in Education, 6, 639814. https://doi.org/10.3389/feduc.2021.639814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Hussein, Yusuf, Deb, Fong and Naidu (2020). An evaluation of online proctoring tools. Open Praxis, 12(4), 509–525. https://doi.org/10.5944/openpraxis.12.4.1113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Hylton, Levy and Dringus (2016). Utilizing webcam-based proctoring to deter misconduct in online exams. Computers &amp; Education, 92–93, 53–63. https://doi.org/10.1016/j.compedu.2015.10.002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Ibrahim, Liu, Asim, Battu, Benabderrahmane, Alhafni, Adnan et al. (2023). Perception, performance, and detectability of conversational artificial intelligence across 32 university courses. Scientific Reports. https://doi.org/10.1038/s41598-023-38964-3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Ilgaz and Afacan Adanır (2020). Providing online exams for online learners: Does it really matter for them?. Education and Information Technologies, 25(2), 1255–1269. https://doi.org/10.1007/s10639-019-10020-6  [foundational]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(5/9)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Khalil, Prinsloo and Slade (2022). In the nexus of integrity and surveillance: Proctoring (re)considered. Journal of Computer Assisted Learning, 38(6), 1589–1602. https://doi.org/10.1111/jcal.12713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Kharbat and Abu Daabes (2021). E-proctored exams during the COVID-19 pandemic: A close understanding. Education and Information Technologies. https://doi.org/10.1007/s10639-021-10458-7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Kirsanov, Kushwah and Selvaretnam (2025). Beyond detection: How students use and hide AI in online assessments and what authentic tasks can do about it. Journal of Academic Ethics. https://doi.org/10.1007/s10805-025-09691-3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Kofinas, Tsay and Pike (2025). The impact of generative AI on academic integrity of authentic assessments. British Journal of Educational Technology, 56(6), 2522–2549. https://doi.org/10.1111/bjet.13585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Labayen, Vea, Flórez, Aginako and Sierra (2021). Online student authentication and proctoring system based on multimodal biometrics technology. IEEE Access. https://doi.org/10.1109/ACCESS.2021.3079375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Lee and Fanguy (2022). Online exam proctoring technologies: Educational innovation or deterioration?. British Journal of Educational Technology, 53(3), 475–490. https://doi.org/10.1111/bjet.13182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(6/9)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Lee and Vispoel (2025). A real-time biclustering method for detecting cheating in mixed-format tests. Educational and Psychological Measurement, 85(5), 956–982. https://doi.org/10.1177/00131644251333143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Li, Chang, Yuan and Hauptmann (2015). Massive open online proctor: Toward automating the detection of suspicious behaviors. ACM CSCW, pp. 1129–1137. https://doi.org/10.1145/2675133.2675245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Meulmeester, Dubois, Krommenhoek-van Es et al. (2021). Medical students' perspectives on online proctoring during remote digital progress test. Medical Science Educator, 31, 1773–1777. https://doi.org/10.1007/s40670-021-01420-w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Milone, Cortese, Balestrieri and Pittenger (2017). The impact of proctored online exams on the educational experience. Currents in Pharmacy Teaching and Learning, 9(1), 108–114. https://doi.org/10.1016/j.cptl.2016.08.037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Mohammed and Ali (2022). Cheating prevention in e-proctoring systems using secure exam browsers: A case study. JITEKI, 8(4), 634–648. https://doi.org/10.26555/jiteki.v8i4.25094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Mutimukwe, Viberg, McGrath and Cerratto-Pargman (2025). Privacy in online proctoring systems in higher education: Stakeholders' perceptions, awareness and responsibility. Journal of Computing in Higher Education. https://doi.org/10.1007/s12528-025-09461-5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(7/9)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Newton and Essex (2024). How common is cheating in online exams and did it increase during the COVID-19 pandemic? A systematic review. Journal of Academic Ethics, 22, 323–343. https://doi.org/10.1007/s10805-023-09485-5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Nigam, Pasricha, Singh and Churi (2021). A systematic review on AI-based proctoring systems: Past, present and future. Education and Information Technologies, 26, 6421–6445. https://doi.org/10.1007/s10639-021-10597-x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Noorbehbahani, Mohammadi and Aminazadeh (2022). A systematic review of research on cheating in online exams from 2010 to 2021. Education and Information Technologies, 27(6), 8413–8460. https://doi.org/10.1007/s10639-022-10927-7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Nurpeisova, Shaushenova, Mutalova, Ongarbayeva, Niyazbekova, Bekenova, Zhumaliyeva and Zhumasseitova (2023). Research on the development of a proctoring system for conducting online exams in Kazakhstan. Computation, 11(6), 120. https://doi.org/10.3390/computation11060120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Nurpeisova, Shaushenova, Mutalova, Zulpykhar, Ongarbayeva, Niyazbekova, Semenov and Maisigova (2022). The study of mathematical models and algorithms for face recognition in images using Python in a proctoring system. Computation, 10, 136. https://doi.org/10.3390/computation10080136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Potluri, Sistla and Kolli (2023). An automated online proctoring system using attentive-net. Multimedia Tools and Applications, 82, 30375–30404. https://doi.org/10.1007/s11042-023-14604-w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(8/9)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Ravesloot, Donkers, Meiboom, Langers, Jacobs, Tio, van der Vleuten and Bremers (2026). Computer testing, formative or summative, and proctoring: Does it matter?. Perspectives on Medical Education, 15(1), 122–133. https://doi.org/10.5334/pme.1771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Rios and Liu (2017). Online proctored versus unproctored low-stakes internet test administration. American Journal of Distance Education, 31(4), 226–241. https://doi.org/10.1080/08923647.2017.1258628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Scarfe, Watcham, Clarke and Roesch (2024). A real-world test of artificial intelligence infiltration of a university examinations system: A Turing Test case study. PLOS ONE. https://doi.org/10.1371/journal.pone.0305354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Selwyn, O'Neill, Smith, Andrejevic and Gu (2023). A necessary evil? The rise of online exam proctoring in Australian universities. Media International Australia, 186(1), 149–164. https://doi.org/10.1177/1329878X211005862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Slusky (2020). Cybersecurity of online proctoring systems. Journal of International Technology and Information Management, 29. Journal of International Technology and Information Management, 29 (2020)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Stanoyevitch (2024). Online assessment in the age of artificial intelligence. Discover Education. https://doi.org/10.1007/s44217-024-00212-9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A7   References  (9/9)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Topuz, Saka, Fatsa and Kurşun (2022). Emerging trends of online assessment systems in the emergency remote teaching period. Smart Learning Environments, 9, 17. https://doi.org/10.1186/s40561-022-00199-6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Vazquez, Chiang and Sarmiento-Barbieri (2021). Can we stay one step ahead of cheaters? A field experiment in proctoring online open book exams. Journal of Behavioral and Experimental Economics, 90, 101653. https://doi.org/10.1016/j.socec.2020.101653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Weiner and Hurtz (2017). A comparative study of online remote proctored versus onsite proctored high-stakes exams. Journal of Applied Testing Technology, 18(1), 13–20. https://jattjournal.net/index.php/atp/article/view/113061  [foundational]</a:t>
            </a:r>
          </a:p>
          <a:p>
            <a:pPr algn="l">
              <a:spcAft>
                <a:spcPts val="800"/>
              </a:spcAft>
            </a:pPr>
            <a:r>
              <a:rPr sz="1300" b="0" a:latin="Calibri">
                <a:solidFill>
                  <a:srgbClr val="1C1917"/>
                </a:solidFill>
                <a:latin typeface="Calibri"/>
              </a:rPr>
              <a:t>Özseven and Esin Özseven (2026). An explainable neuro-symbolic approach for cheating detection in online exams. Applied Sciences, 16(6), 2884. https://doi.org/10.3390/app16062884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11155680" cy="9525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20624"/>
            <a:ext cx="11155680" cy="6350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a:latin="Calibri">
                <a:solidFill>
                  <a:srgbClr val="5C564E"/>
                </a:solidFill>
                <a:latin typeface="Calibri"/>
              </a:rPr>
              <a:t>Review I   ·   BACSE291   ·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a:latin="Calibri">
                <a:solidFill>
                  <a:srgbClr val="5C564E"/>
                </a:solidFill>
                <a:latin typeface="Calibri"/>
              </a:rPr>
              <a:t>A8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a:latin="Georgia">
                <a:solidFill>
                  <a:srgbClr val="12263A"/>
                </a:solidFill>
                <a:latin typeface="Georgia"/>
              </a:rPr>
              <a:t>A8   Backup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155680" cy="107899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a:latin="Georgia">
                <a:solidFill>
                  <a:srgbClr val="12263A"/>
                </a:solidFill>
                <a:latin typeface="Georgia"/>
              </a:rPr>
              <a:t>Can you catch a second phone?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10789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a:latin="Calibri">
                <a:solidFill>
                  <a:srgbClr val="1C1917"/>
                </a:solidFill>
                <a:latin typeface="Calibri"/>
              </a:rPr>
              <a:t>No. A second phone is outside the threat model. Say so before anyone 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11155680" cy="107899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a:latin="Georgia">
                <a:solidFill>
                  <a:srgbClr val="12263A"/>
                </a:solidFill>
                <a:latin typeface="Georgia"/>
              </a:rPr>
              <a:t>Is a high score guilt?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a:latin="Calibri">
                <a:solidFill>
                  <a:srgbClr val="1C1917"/>
                </a:solidFill>
                <a:latin typeface="Calibri"/>
              </a:rPr>
              <a:t>No. The score is a reproducible reading of the log. Flagged or Cleared is a person’s decision.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49039"/>
            <a:ext cx="11155680" cy="107899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22191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a:latin="Georgia">
                <a:solidFill>
                  <a:srgbClr val="12263A"/>
                </a:solidFill>
                <a:latin typeface="Georgia"/>
              </a:rPr>
              <a:t>What already runs?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1"/>
            <a:ext cx="10789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a:latin="Calibri">
                <a:solidFill>
                  <a:srgbClr val="1C1917"/>
                </a:solidFill>
                <a:latin typeface="Calibri"/>
              </a:rPr>
              <a:t>The prototype already ingests browser and agent events and writes a report. It is the backup, not the claim.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37760"/>
            <a:ext cx="11155680" cy="107899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10912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a:latin="Georgia">
                <a:solidFill>
                  <a:srgbClr val="12263A"/>
                </a:solidFill>
                <a:latin typeface="Georgia"/>
              </a:rPr>
              <a:t>What does objective 4 measure?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76672"/>
            <a:ext cx="10789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a:latin="Calibri">
                <a:solidFill>
                  <a:srgbClr val="1C1917"/>
                </a:solidFill>
                <a:latin typeface="Calibri"/>
              </a:rPr>
              <a:t>Exam publishing across devices. Two student devices and one faculty device share one exam, then a review is exported.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