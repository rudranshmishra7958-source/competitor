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4"/>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256032"/>
            <a:ext cx="1920240" cy="635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73952"/>
            <a:ext cx="8595360" cy="256032"/>
          </a:xfrm>
          <a:prstGeom prst="rect">
            <a:avLst/>
          </a:prstGeom>
          <a:noFill/>
        </p:spPr>
        <p:txBody>
          <a:bodyPr wrap="square">
            <a:spAutoFit/>
          </a:bodyPr>
          <a:lstStyle/>
          <a:p>
            <a:pPr algn="l"/>
            <a:r>
              <a:rPr sz="1100" b="0">
                <a:solidFill>
                  <a:srgbClr val="8B949E"/>
                </a:solidFill>
                <a:latin typeface="Segoe UI"/>
              </a:rPr>
              <a:t>BACSE291  ·  Innovative Design Project  |  First Review  |  Fall Semester 2026</a:t>
            </a:r>
          </a:p>
        </p:txBody>
      </p:sp>
      <p:sp>
        <p:nvSpPr>
          <p:cNvPr id="5" name="TextBox 4"/>
          <p:cNvSpPr txBox="1"/>
          <p:nvPr/>
        </p:nvSpPr>
        <p:spPr>
          <a:xfrm>
            <a:off x="9326880" y="6473952"/>
            <a:ext cx="2468880" cy="256032"/>
          </a:xfrm>
          <a:prstGeom prst="rect">
            <a:avLst/>
          </a:prstGeom>
          <a:noFill/>
        </p:spPr>
        <p:txBody>
          <a:bodyPr wrap="square">
            <a:spAutoFit/>
          </a:bodyPr>
          <a:lstStyle/>
          <a:p>
            <a:pPr algn="r"/>
            <a:r>
              <a:rPr sz="1100" b="0">
                <a:solidFill>
                  <a:srgbClr val="00E5FF"/>
                </a:solidFill>
                <a:latin typeface="Cascadia Mono"/>
              </a:rPr>
              <a:t>APPENDIX   1</a:t>
            </a:r>
          </a:p>
        </p:txBody>
      </p:sp>
      <p:sp>
        <p:nvSpPr>
          <p:cNvPr id="6" name="TextBox 5"/>
          <p:cNvSpPr txBox="1"/>
          <p:nvPr/>
        </p:nvSpPr>
        <p:spPr>
          <a:xfrm>
            <a:off x="457200" y="2011680"/>
            <a:ext cx="10972800" cy="274320"/>
          </a:xfrm>
          <a:prstGeom prst="rect">
            <a:avLst/>
          </a:prstGeom>
          <a:noFill/>
        </p:spPr>
        <p:txBody>
          <a:bodyPr wrap="square">
            <a:spAutoFit/>
          </a:bodyPr>
          <a:lstStyle/>
          <a:p>
            <a:pPr algn="l"/>
            <a:r>
              <a:rPr sz="1400" b="1">
                <a:solidFill>
                  <a:srgbClr val="00E5FF"/>
                </a:solidFill>
                <a:latin typeface="Cascadia Mono"/>
              </a:rPr>
              <a:t>// FULL MATRIX</a:t>
            </a:r>
          </a:p>
        </p:txBody>
      </p:sp>
      <p:sp>
        <p:nvSpPr>
          <p:cNvPr id="7" name="TextBox 6"/>
          <p:cNvSpPr txBox="1"/>
          <p:nvPr/>
        </p:nvSpPr>
        <p:spPr>
          <a:xfrm>
            <a:off x="457200" y="2377440"/>
            <a:ext cx="10972800" cy="731520"/>
          </a:xfrm>
          <a:prstGeom prst="rect">
            <a:avLst/>
          </a:prstGeom>
          <a:noFill/>
        </p:spPr>
        <p:txBody>
          <a:bodyPr wrap="square">
            <a:spAutoFit/>
          </a:bodyPr>
          <a:lstStyle/>
          <a:p>
            <a:pPr algn="l"/>
            <a:r>
              <a:rPr sz="4000" b="1">
                <a:solidFill>
                  <a:srgbClr val="E8EAED"/>
                </a:solidFill>
                <a:latin typeface="Bahnschrift"/>
              </a:rPr>
              <a:t>Appendix</a:t>
            </a:r>
          </a:p>
        </p:txBody>
      </p:sp>
      <p:sp>
        <p:nvSpPr>
          <p:cNvPr id="8" name="Rectangle 7"/>
          <p:cNvSpPr/>
          <p:nvPr/>
        </p:nvSpPr>
        <p:spPr>
          <a:xfrm>
            <a:off x="457200" y="3246120"/>
            <a:ext cx="2011680" cy="12700"/>
          </a:xfrm>
          <a:prstGeom prst="rect">
            <a:avLst/>
          </a:prstGeom>
          <a:solidFill>
            <a:srgbClr val="FF2D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3474720"/>
            <a:ext cx="10515600" cy="1280160"/>
          </a:xfrm>
          <a:prstGeom prst="rect">
            <a:avLst/>
          </a:prstGeom>
          <a:noFill/>
        </p:spPr>
        <p:txBody>
          <a:bodyPr wrap="square">
            <a:spAutoFit/>
          </a:bodyPr>
          <a:lstStyle/>
          <a:p>
            <a:pPr algn="l"/>
            <a:r>
              <a:rPr sz="1800" b="0">
                <a:solidFill>
                  <a:srgbClr val="E8EAED"/>
                </a:solidFill>
                <a:latin typeface="Segoe UI"/>
              </a:rPr>
              <a:t>Six comparison tables.
52 references.  38 from 2021–2026.  14 foundational.
Backup answers at the end.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4"/>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256032"/>
            <a:ext cx="1920240" cy="635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73952"/>
            <a:ext cx="8595360" cy="256032"/>
          </a:xfrm>
          <a:prstGeom prst="rect">
            <a:avLst/>
          </a:prstGeom>
          <a:noFill/>
        </p:spPr>
        <p:txBody>
          <a:bodyPr wrap="square">
            <a:spAutoFit/>
          </a:bodyPr>
          <a:lstStyle/>
          <a:p>
            <a:pPr algn="l"/>
            <a:r>
              <a:rPr sz="1100" b="0">
                <a:solidFill>
                  <a:srgbClr val="8B949E"/>
                </a:solidFill>
                <a:latin typeface="Segoe UI"/>
              </a:rPr>
              <a:t>BACSE291  ·  Innovative Design Project  |  First Review  |  Fall Semester 2026</a:t>
            </a:r>
          </a:p>
        </p:txBody>
      </p:sp>
      <p:sp>
        <p:nvSpPr>
          <p:cNvPr id="5" name="TextBox 4"/>
          <p:cNvSpPr txBox="1"/>
          <p:nvPr/>
        </p:nvSpPr>
        <p:spPr>
          <a:xfrm>
            <a:off x="9326880" y="6473952"/>
            <a:ext cx="2468880" cy="256032"/>
          </a:xfrm>
          <a:prstGeom prst="rect">
            <a:avLst/>
          </a:prstGeom>
          <a:noFill/>
        </p:spPr>
        <p:txBody>
          <a:bodyPr wrap="square">
            <a:spAutoFit/>
          </a:bodyPr>
          <a:lstStyle/>
          <a:p>
            <a:pPr algn="r"/>
            <a:r>
              <a:rPr sz="1100" b="0">
                <a:solidFill>
                  <a:srgbClr val="00E5FF"/>
                </a:solidFill>
                <a:latin typeface="Cascadia Mono"/>
              </a:rPr>
              <a:t>APPENDIX   2</a:t>
            </a:r>
          </a:p>
        </p:txBody>
      </p:sp>
      <p:sp>
        <p:nvSpPr>
          <p:cNvPr id="6" name="TextBox 5"/>
          <p:cNvSpPr txBox="1"/>
          <p:nvPr/>
        </p:nvSpPr>
        <p:spPr>
          <a:xfrm>
            <a:off x="365760" y="347472"/>
            <a:ext cx="10972800" cy="256032"/>
          </a:xfrm>
          <a:prstGeom prst="rect">
            <a:avLst/>
          </a:prstGeom>
          <a:noFill/>
        </p:spPr>
        <p:txBody>
          <a:bodyPr wrap="square">
            <a:spAutoFit/>
          </a:bodyPr>
          <a:lstStyle/>
          <a:p>
            <a:pPr algn="l"/>
            <a:r>
              <a:rPr sz="1200" b="1">
                <a:solidFill>
                  <a:srgbClr val="00E5FF"/>
                </a:solidFill>
                <a:latin typeface="Cascadia Mono"/>
              </a:rPr>
              <a:t>// APPENDIX</a:t>
            </a:r>
          </a:p>
        </p:txBody>
      </p:sp>
      <p:sp>
        <p:nvSpPr>
          <p:cNvPr id="7" name="TextBox 6"/>
          <p:cNvSpPr txBox="1"/>
          <p:nvPr/>
        </p:nvSpPr>
        <p:spPr>
          <a:xfrm>
            <a:off x="365760" y="603504"/>
            <a:ext cx="11338560" cy="457200"/>
          </a:xfrm>
          <a:prstGeom prst="rect">
            <a:avLst/>
          </a:prstGeom>
          <a:noFill/>
        </p:spPr>
        <p:txBody>
          <a:bodyPr wrap="square">
            <a:spAutoFit/>
          </a:bodyPr>
          <a:lstStyle/>
          <a:p>
            <a:pPr algn="l"/>
            <a:r>
              <a:rPr sz="2800" b="1">
                <a:solidFill>
                  <a:srgbClr val="E8EAED"/>
                </a:solidFill>
                <a:latin typeface="Bahnschrift"/>
              </a:rPr>
              <a:t>A1   Surveys of proctoring  (1/2)</a:t>
            </a:r>
          </a:p>
        </p:txBody>
      </p:sp>
      <p:graphicFrame>
        <p:nvGraphicFramePr>
          <p:cNvPr id="8" name="Table 7"/>
          <p:cNvGraphicFramePr>
            <a:graphicFrameLocks noGrp="1"/>
          </p:cNvGraphicFramePr>
          <p:nvPr/>
        </p:nvGraphicFramePr>
        <p:xfrm>
          <a:off x="256032" y="1188720"/>
          <a:ext cx="11430000" cy="4864608"/>
        </p:xfrm>
        <a:graphic>
          <a:graphicData uri="http://schemas.openxmlformats.org/drawingml/2006/table">
            <a:tbl>
              <a:tblPr firstRow="1" bandRow="1">
                <a:tableStyleId>{5C22544A-7EE6-4342-B048-85BDC9FD1C3A}</a:tableStyleId>
              </a:tblPr>
              <a:tblGrid>
                <a:gridCol w="2331720"/>
                <a:gridCol w="2194560"/>
                <a:gridCol w="2286000"/>
                <a:gridCol w="2286000"/>
                <a:gridCol w="2331720"/>
              </a:tblGrid>
              <a:tr h="540512">
                <a:tc>
                  <a:txBody>
                    <a:bodyPr wrap="square"/>
                    <a:lstStyle/>
                    <a:p>
                      <a:r>
                        <a:rPr sz="1000" b="1">
                          <a:solidFill>
                            <a:srgbClr val="0B0F14"/>
                          </a:solidFill>
                          <a:latin typeface="Segoe UI"/>
                        </a:rPr>
                        <a:t>Author and year</a:t>
                      </a:r>
                    </a:p>
                  </a:txBody>
                  <a:tcPr anchor="t" marL="45720" marR="36576" marT="27432">
                    <a:solidFill>
                      <a:srgbClr val="00E5FF"/>
                    </a:solidFill>
                  </a:tcPr>
                </a:tc>
                <a:tc>
                  <a:txBody>
                    <a:bodyPr wrap="square"/>
                    <a:lstStyle/>
                    <a:p>
                      <a:r>
                        <a:rPr sz="1000" b="1">
                          <a:solidFill>
                            <a:srgbClr val="0B0F14"/>
                          </a:solidFill>
                          <a:latin typeface="Segoe UI"/>
                        </a:rPr>
                        <a:t>Method</a:t>
                      </a:r>
                    </a:p>
                  </a:txBody>
                  <a:tcPr anchor="t" marL="45720" marR="36576" marT="27432">
                    <a:solidFill>
                      <a:srgbClr val="00E5FF"/>
                    </a:solidFill>
                  </a:tcPr>
                </a:tc>
                <a:tc>
                  <a:txBody>
                    <a:bodyPr wrap="square"/>
                    <a:lstStyle/>
                    <a:p>
                      <a:r>
                        <a:rPr sz="1000" b="1">
                          <a:solidFill>
                            <a:srgbClr val="0B0F14"/>
                          </a:solidFill>
                          <a:latin typeface="Segoe UI"/>
                        </a:rPr>
                        <a:t>Dataset or testbed</a:t>
                      </a:r>
                    </a:p>
                  </a:txBody>
                  <a:tcPr anchor="t" marL="45720" marR="36576" marT="27432">
                    <a:solidFill>
                      <a:srgbClr val="00E5FF"/>
                    </a:solidFill>
                  </a:tcPr>
                </a:tc>
                <a:tc>
                  <a:txBody>
                    <a:bodyPr wrap="square"/>
                    <a:lstStyle/>
                    <a:p>
                      <a:r>
                        <a:rPr sz="1000" b="1">
                          <a:solidFill>
                            <a:srgbClr val="0B0F14"/>
                          </a:solidFill>
                          <a:latin typeface="Segoe UI"/>
                        </a:rPr>
                        <a:t>Key parameters</a:t>
                      </a:r>
                    </a:p>
                  </a:txBody>
                  <a:tcPr anchor="t" marL="45720" marR="36576" marT="27432">
                    <a:solidFill>
                      <a:srgbClr val="00E5FF"/>
                    </a:solidFill>
                  </a:tcPr>
                </a:tc>
                <a:tc>
                  <a:txBody>
                    <a:bodyPr wrap="square"/>
                    <a:lstStyle/>
                    <a:p>
                      <a:r>
                        <a:rPr sz="1000" b="1">
                          <a:solidFill>
                            <a:srgbClr val="0B0F14"/>
                          </a:solidFill>
                          <a:latin typeface="Segoe UI"/>
                        </a:rPr>
                        <a:t>Limitation</a:t>
                      </a:r>
                    </a:p>
                  </a:txBody>
                  <a:tcPr anchor="t" marL="45720" marR="36576" marT="27432">
                    <a:solidFill>
                      <a:srgbClr val="00E5FF"/>
                    </a:solidFill>
                  </a:tcPr>
                </a:tc>
              </a:tr>
              <a:tr h="540512">
                <a:tc>
                  <a:txBody>
                    <a:bodyPr wrap="square"/>
                    <a:lstStyle/>
                    <a:p>
                      <a:r>
                        <a:rPr sz="1000" b="0">
                          <a:solidFill>
                            <a:srgbClr val="E8EAED"/>
                          </a:solidFill>
                          <a:latin typeface="Segoe UI"/>
                        </a:rPr>
                        <a:t>Arnò, Galassi, Tommasi, Saggino and Vittorini, 2021</a:t>
                      </a:r>
                    </a:p>
                  </a:txBody>
                  <a:tcPr anchor="t" marL="45720" marR="36576" marT="27432">
                    <a:solidFill>
                      <a:srgbClr val="121820"/>
                    </a:solidFill>
                  </a:tcPr>
                </a:tc>
                <a:tc>
                  <a:txBody>
                    <a:bodyPr wrap="square"/>
                    <a:lstStyle/>
                    <a:p>
                      <a:r>
                        <a:rPr sz="1000" b="0">
                          <a:solidFill>
                            <a:srgbClr val="E8EAED"/>
                          </a:solidFill>
                          <a:latin typeface="Segoe UI"/>
                        </a:rPr>
                        <a:t>Feature review of commercial systems plus two case studies</a:t>
                      </a:r>
                    </a:p>
                  </a:txBody>
                  <a:tcPr anchor="t" marL="45720" marR="36576" marT="27432">
                    <a:solidFill>
                      <a:srgbClr val="121820"/>
                    </a:solidFill>
                  </a:tcPr>
                </a:tc>
                <a:tc>
                  <a:txBody>
                    <a:bodyPr wrap="square"/>
                    <a:lstStyle/>
                    <a:p>
                      <a:r>
                        <a:rPr sz="1000" b="0">
                          <a:solidFill>
                            <a:srgbClr val="E8EAED"/>
                          </a:solidFill>
                          <a:latin typeface="Segoe UI"/>
                        </a:rPr>
                        <a:t>29 commercial proctoring systems; automated and live exams</a:t>
                      </a:r>
                    </a:p>
                  </a:txBody>
                  <a:tcPr anchor="t" marL="45720" marR="36576" marT="27432">
                    <a:solidFill>
                      <a:srgbClr val="121820"/>
                    </a:solidFill>
                  </a:tcPr>
                </a:tc>
                <a:tc>
                  <a:txBody>
                    <a:bodyPr wrap="square"/>
                    <a:lstStyle/>
                    <a:p>
                      <a:r>
                        <a:rPr sz="1000" b="0">
                          <a:solidFill>
                            <a:srgbClr val="E8EAED"/>
                          </a:solidFill>
                          <a:latin typeface="Segoe UI"/>
                        </a:rPr>
                        <a:t>LMS fit, lockdown, monitoring, GDPR flag, live versus automated</a:t>
                      </a:r>
                    </a:p>
                  </a:txBody>
                  <a:tcPr anchor="t" marL="45720" marR="36576" marT="27432">
                    <a:solidFill>
                      <a:srgbClr val="121820"/>
                    </a:solidFill>
                  </a:tcPr>
                </a:tc>
                <a:tc>
                  <a:txBody>
                    <a:bodyPr wrap="square"/>
                    <a:lstStyle/>
                    <a:p>
                      <a:r>
                        <a:rPr sz="1000" b="0">
                          <a:solidFill>
                            <a:srgbClr val="E8EAED"/>
                          </a:solidFill>
                          <a:latin typeface="Segoe UI"/>
                        </a:rPr>
                        <a:t>Automated detection was unreliable; still recommends webcam support for a human</a:t>
                      </a:r>
                    </a:p>
                  </a:txBody>
                  <a:tcPr anchor="t" marL="45720" marR="36576" marT="27432">
                    <a:solidFill>
                      <a:srgbClr val="121820"/>
                    </a:solidFill>
                  </a:tcPr>
                </a:tc>
              </a:tr>
              <a:tr h="540512">
                <a:tc>
                  <a:txBody>
                    <a:bodyPr wrap="square"/>
                    <a:lstStyle/>
                    <a:p>
                      <a:r>
                        <a:rPr sz="1000" b="0">
                          <a:solidFill>
                            <a:srgbClr val="E8EAED"/>
                          </a:solidFill>
                          <a:latin typeface="Segoe UI"/>
                        </a:rPr>
                        <a:t>Butler-Henderson and Crawford, 2020 · foundational</a:t>
                      </a:r>
                    </a:p>
                  </a:txBody>
                  <a:tcPr anchor="t" marL="45720" marR="36576" marT="27432">
                    <a:solidFill>
                      <a:srgbClr val="0E141C"/>
                    </a:solidFill>
                  </a:tcPr>
                </a:tc>
                <a:tc>
                  <a:txBody>
                    <a:bodyPr wrap="square"/>
                    <a:lstStyle/>
                    <a:p>
                      <a:r>
                        <a:rPr sz="1000" b="0">
                          <a:solidFill>
                            <a:srgbClr val="E8EAED"/>
                          </a:solidFill>
                          <a:latin typeface="Segoe UI"/>
                        </a:rPr>
                        <a:t>Systematic review</a:t>
                      </a:r>
                    </a:p>
                  </a:txBody>
                  <a:tcPr anchor="t" marL="45720" marR="36576" marT="27432">
                    <a:solidFill>
                      <a:srgbClr val="0E141C"/>
                    </a:solidFill>
                  </a:tcPr>
                </a:tc>
                <a:tc>
                  <a:txBody>
                    <a:bodyPr wrap="square"/>
                    <a:lstStyle/>
                    <a:p>
                      <a:r>
                        <a:rPr sz="1000" b="0">
                          <a:solidFill>
                            <a:srgbClr val="E8EAED"/>
                          </a:solidFill>
                          <a:latin typeface="Segoe UI"/>
                        </a:rPr>
                        <a:t>36 papers, 2009–2018</a:t>
                      </a:r>
                    </a:p>
                  </a:txBody>
                  <a:tcPr anchor="t" marL="45720" marR="36576" marT="27432">
                    <a:solidFill>
                      <a:srgbClr val="0E141C"/>
                    </a:solidFill>
                  </a:tcPr>
                </a:tc>
                <a:tc>
                  <a:txBody>
                    <a:bodyPr wrap="square"/>
                    <a:lstStyle/>
                    <a:p>
                      <a:r>
                        <a:rPr sz="1000" b="0">
                          <a:solidFill>
                            <a:srgbClr val="E8EAED"/>
                          </a:solidFill>
                          <a:latin typeface="Segoe UI"/>
                        </a:rPr>
                        <a:t>Exam design, security, student experience</a:t>
                      </a:r>
                    </a:p>
                  </a:txBody>
                  <a:tcPr anchor="t" marL="45720" marR="36576" marT="27432">
                    <a:solidFill>
                      <a:srgbClr val="0E141C"/>
                    </a:solidFill>
                  </a:tcPr>
                </a:tc>
                <a:tc>
                  <a:txBody>
                    <a:bodyPr wrap="square"/>
                    <a:lstStyle/>
                    <a:p>
                      <a:r>
                        <a:rPr sz="1000" b="0">
                          <a:solidFill>
                            <a:srgbClr val="E8EAED"/>
                          </a:solidFill>
                          <a:latin typeface="Segoe UI"/>
                        </a:rPr>
                        <a:t>Stops at 2018 and is thin on privacy</a:t>
                      </a:r>
                    </a:p>
                  </a:txBody>
                  <a:tcPr anchor="t" marL="45720" marR="36576" marT="27432">
                    <a:solidFill>
                      <a:srgbClr val="0E141C"/>
                    </a:solidFill>
                  </a:tcPr>
                </a:tc>
              </a:tr>
              <a:tr h="540512">
                <a:tc>
                  <a:txBody>
                    <a:bodyPr wrap="square"/>
                    <a:lstStyle/>
                    <a:p>
                      <a:r>
                        <a:rPr sz="1000" b="0">
                          <a:solidFill>
                            <a:srgbClr val="E8EAED"/>
                          </a:solidFill>
                          <a:latin typeface="Segoe UI"/>
                        </a:rPr>
                        <a:t>Draaijer, Jefferies and Somers, 2018 · foundational</a:t>
                      </a:r>
                    </a:p>
                  </a:txBody>
                  <a:tcPr anchor="t" marL="45720" marR="36576" marT="27432">
                    <a:solidFill>
                      <a:srgbClr val="121820"/>
                    </a:solidFill>
                  </a:tcPr>
                </a:tc>
                <a:tc>
                  <a:txBody>
                    <a:bodyPr wrap="square"/>
                    <a:lstStyle/>
                    <a:p>
                      <a:r>
                        <a:rPr sz="1000" b="0">
                          <a:solidFill>
                            <a:srgbClr val="E8EAED"/>
                          </a:solidFill>
                          <a:latin typeface="Segoe UI"/>
                        </a:rPr>
                        <a:t>Survey of EU practice</a:t>
                      </a:r>
                    </a:p>
                  </a:txBody>
                  <a:tcPr anchor="t" marL="45720" marR="36576" marT="27432">
                    <a:solidFill>
                      <a:srgbClr val="121820"/>
                    </a:solidFill>
                  </a:tcPr>
                </a:tc>
                <a:tc>
                  <a:txBody>
                    <a:bodyPr wrap="square"/>
                    <a:lstStyle/>
                    <a:p>
                      <a:r>
                        <a:rPr sz="1000" b="0">
                          <a:solidFill>
                            <a:srgbClr val="E8EAED"/>
                          </a:solidFill>
                          <a:latin typeface="Segoe UI"/>
                        </a:rPr>
                        <a:t>Higher-education providers in the EU</a:t>
                      </a:r>
                    </a:p>
                  </a:txBody>
                  <a:tcPr anchor="t" marL="45720" marR="36576" marT="27432">
                    <a:solidFill>
                      <a:srgbClr val="121820"/>
                    </a:solidFill>
                  </a:tcPr>
                </a:tc>
                <a:tc>
                  <a:txBody>
                    <a:bodyPr wrap="square"/>
                    <a:lstStyle/>
                    <a:p>
                      <a:r>
                        <a:rPr sz="1000" b="0">
                          <a:solidFill>
                            <a:srgbClr val="E8EAED"/>
                          </a:solidFill>
                          <a:latin typeface="Segoe UI"/>
                        </a:rPr>
                        <a:t>Live, recorded, and automated proctoring</a:t>
                      </a:r>
                    </a:p>
                  </a:txBody>
                  <a:tcPr anchor="t" marL="45720" marR="36576" marT="27432">
                    <a:solidFill>
                      <a:srgbClr val="121820"/>
                    </a:solidFill>
                  </a:tcPr>
                </a:tc>
                <a:tc>
                  <a:txBody>
                    <a:bodyPr wrap="square"/>
                    <a:lstStyle/>
                    <a:p>
                      <a:r>
                        <a:rPr sz="1000" b="0">
                          <a:solidFill>
                            <a:srgbClr val="E8EAED"/>
                          </a:solidFill>
                          <a:latin typeface="Segoe UI"/>
                        </a:rPr>
                        <a:t>A state-of-play survey, not a privacy-bounded design</a:t>
                      </a:r>
                    </a:p>
                  </a:txBody>
                  <a:tcPr anchor="t" marL="45720" marR="36576" marT="27432">
                    <a:solidFill>
                      <a:srgbClr val="121820"/>
                    </a:solidFill>
                  </a:tcPr>
                </a:tc>
              </a:tr>
              <a:tr h="540512">
                <a:tc>
                  <a:txBody>
                    <a:bodyPr wrap="square"/>
                    <a:lstStyle/>
                    <a:p>
                      <a:r>
                        <a:rPr sz="1000" b="0">
                          <a:solidFill>
                            <a:srgbClr val="E8EAED"/>
                          </a:solidFill>
                          <a:latin typeface="Segoe UI"/>
                        </a:rPr>
                        <a:t>Han, Nikou and Ayele, 2023</a:t>
                      </a:r>
                    </a:p>
                  </a:txBody>
                  <a:tcPr anchor="t" marL="45720" marR="36576" marT="27432">
                    <a:solidFill>
                      <a:srgbClr val="0E141C"/>
                    </a:solidFill>
                  </a:tcPr>
                </a:tc>
                <a:tc>
                  <a:txBody>
                    <a:bodyPr wrap="square"/>
                    <a:lstStyle/>
                    <a:p>
                      <a:r>
                        <a:rPr sz="1000" b="0">
                          <a:solidFill>
                            <a:srgbClr val="E8EAED"/>
                          </a:solidFill>
                          <a:latin typeface="Segoe UI"/>
                        </a:rPr>
                        <a:t>Systematic literature review</a:t>
                      </a:r>
                    </a:p>
                  </a:txBody>
                  <a:tcPr anchor="t" marL="45720" marR="36576" marT="27432">
                    <a:solidFill>
                      <a:srgbClr val="0E141C"/>
                    </a:solidFill>
                  </a:tcPr>
                </a:tc>
                <a:tc>
                  <a:txBody>
                    <a:bodyPr wrap="square"/>
                    <a:lstStyle/>
                    <a:p>
                      <a:r>
                        <a:rPr sz="1000" b="0">
                          <a:solidFill>
                            <a:srgbClr val="E8EAED"/>
                          </a:solidFill>
                          <a:latin typeface="Segoe UI"/>
                        </a:rPr>
                        <a:t>Digital-proctoring studies through 2022</a:t>
                      </a:r>
                    </a:p>
                  </a:txBody>
                  <a:tcPr anchor="t" marL="45720" marR="36576" marT="27432">
                    <a:solidFill>
                      <a:srgbClr val="0E141C"/>
                    </a:solidFill>
                  </a:tcPr>
                </a:tc>
                <a:tc>
                  <a:txBody>
                    <a:bodyPr wrap="square"/>
                    <a:lstStyle/>
                    <a:p>
                      <a:r>
                        <a:rPr sz="1000" b="0">
                          <a:solidFill>
                            <a:srgbClr val="E8EAED"/>
                          </a:solidFill>
                          <a:latin typeface="Segoe UI"/>
                        </a:rPr>
                        <a:t>Privacy, ethics, bias, effectiveness</a:t>
                      </a:r>
                    </a:p>
                  </a:txBody>
                  <a:tcPr anchor="t" marL="45720" marR="36576" marT="27432">
                    <a:solidFill>
                      <a:srgbClr val="0E141C"/>
                    </a:solidFill>
                  </a:tcPr>
                </a:tc>
                <a:tc>
                  <a:txBody>
                    <a:bodyPr wrap="square"/>
                    <a:lstStyle/>
                    <a:p>
                      <a:r>
                        <a:rPr sz="1000" b="0">
                          <a:solidFill>
                            <a:srgbClr val="E8EAED"/>
                          </a:solidFill>
                          <a:latin typeface="Segoe UI"/>
                        </a:rPr>
                        <a:t>Reviews the field; does not specify an open scoring rule</a:t>
                      </a:r>
                    </a:p>
                  </a:txBody>
                  <a:tcPr anchor="t" marL="45720" marR="36576" marT="27432">
                    <a:solidFill>
                      <a:srgbClr val="0E141C"/>
                    </a:solidFill>
                  </a:tcPr>
                </a:tc>
              </a:tr>
              <a:tr h="540512">
                <a:tc>
                  <a:txBody>
                    <a:bodyPr wrap="square"/>
                    <a:lstStyle/>
                    <a:p>
                      <a:r>
                        <a:rPr sz="1000" b="0">
                          <a:solidFill>
                            <a:srgbClr val="E8EAED"/>
                          </a:solidFill>
                          <a:latin typeface="Segoe UI"/>
                        </a:rPr>
                        <a:t>Heinrich, 2025</a:t>
                      </a:r>
                    </a:p>
                  </a:txBody>
                  <a:tcPr anchor="t" marL="45720" marR="36576" marT="27432">
                    <a:solidFill>
                      <a:srgbClr val="121820"/>
                    </a:solidFill>
                  </a:tcPr>
                </a:tc>
                <a:tc>
                  <a:txBody>
                    <a:bodyPr wrap="square"/>
                    <a:lstStyle/>
                    <a:p>
                      <a:r>
                        <a:rPr sz="1000" b="0">
                          <a:solidFill>
                            <a:srgbClr val="E8EAED"/>
                          </a:solidFill>
                          <a:latin typeface="Segoe UI"/>
                        </a:rPr>
                        <a:t>Systematic-narrative review</a:t>
                      </a:r>
                    </a:p>
                  </a:txBody>
                  <a:tcPr anchor="t" marL="45720" marR="36576" marT="27432">
                    <a:solidFill>
                      <a:srgbClr val="121820"/>
                    </a:solidFill>
                  </a:tcPr>
                </a:tc>
                <a:tc>
                  <a:txBody>
                    <a:bodyPr wrap="square"/>
                    <a:lstStyle/>
                    <a:p>
                      <a:r>
                        <a:rPr sz="1000" b="0">
                          <a:solidFill>
                            <a:srgbClr val="E8EAED"/>
                          </a:solidFill>
                          <a:latin typeface="Segoe UI"/>
                        </a:rPr>
                        <a:t>33 commercial online proctoring systems</a:t>
                      </a:r>
                    </a:p>
                  </a:txBody>
                  <a:tcPr anchor="t" marL="45720" marR="36576" marT="27432">
                    <a:solidFill>
                      <a:srgbClr val="121820"/>
                    </a:solidFill>
                  </a:tcPr>
                </a:tc>
                <a:tc>
                  <a:txBody>
                    <a:bodyPr wrap="square"/>
                    <a:lstStyle/>
                    <a:p>
                      <a:r>
                        <a:rPr sz="1000" b="0">
                          <a:solidFill>
                            <a:srgbClr val="E8EAED"/>
                          </a:solidFill>
                          <a:latin typeface="Segoe UI"/>
                        </a:rPr>
                        <a:t>Biometric capture, flag types, published rules</a:t>
                      </a:r>
                    </a:p>
                  </a:txBody>
                  <a:tcPr anchor="t" marL="45720" marR="36576" marT="27432">
                    <a:solidFill>
                      <a:srgbClr val="121820"/>
                    </a:solidFill>
                  </a:tcPr>
                </a:tc>
                <a:tc>
                  <a:txBody>
                    <a:bodyPr wrap="square"/>
                    <a:lstStyle/>
                    <a:p>
                      <a:r>
                        <a:rPr sz="1000" b="0">
                          <a:solidFill>
                            <a:srgbClr val="E8EAED"/>
                          </a:solidFill>
                          <a:latin typeface="Segoe UI"/>
                        </a:rPr>
                        <a:t>Biometrics dominate, and flags lack an open standard</a:t>
                      </a:r>
                    </a:p>
                  </a:txBody>
                  <a:tcPr anchor="t" marL="45720" marR="36576" marT="27432">
                    <a:solidFill>
                      <a:srgbClr val="121820"/>
                    </a:solidFill>
                  </a:tcPr>
                </a:tc>
              </a:tr>
              <a:tr h="540512">
                <a:tc>
                  <a:txBody>
                    <a:bodyPr wrap="square"/>
                    <a:lstStyle/>
                    <a:p>
                      <a:r>
                        <a:rPr sz="1000" b="0">
                          <a:solidFill>
                            <a:srgbClr val="E8EAED"/>
                          </a:solidFill>
                          <a:latin typeface="Segoe UI"/>
                        </a:rPr>
                        <a:t>Holden, Norris and Kuhlmeier, 2021</a:t>
                      </a:r>
                    </a:p>
                  </a:txBody>
                  <a:tcPr anchor="t" marL="45720" marR="36576" marT="27432">
                    <a:solidFill>
                      <a:srgbClr val="0E141C"/>
                    </a:solidFill>
                  </a:tcPr>
                </a:tc>
                <a:tc>
                  <a:txBody>
                    <a:bodyPr wrap="square"/>
                    <a:lstStyle/>
                    <a:p>
                      <a:r>
                        <a:rPr sz="1000" b="0">
                          <a:solidFill>
                            <a:srgbClr val="E8EAED"/>
                          </a:solidFill>
                          <a:latin typeface="Segoe UI"/>
                        </a:rPr>
                        <a:t>Narrative review of integrity research</a:t>
                      </a:r>
                    </a:p>
                  </a:txBody>
                  <a:tcPr anchor="t" marL="45720" marR="36576" marT="27432">
                    <a:solidFill>
                      <a:srgbClr val="0E141C"/>
                    </a:solidFill>
                  </a:tcPr>
                </a:tc>
                <a:tc>
                  <a:txBody>
                    <a:bodyPr wrap="square"/>
                    <a:lstStyle/>
                    <a:p>
                      <a:r>
                        <a:rPr sz="1000" b="0">
                          <a:solidFill>
                            <a:srgbClr val="E8EAED"/>
                          </a:solidFill>
                          <a:latin typeface="Segoe UI"/>
                        </a:rPr>
                        <a:t>Studies of online higher-education assessment</a:t>
                      </a:r>
                    </a:p>
                  </a:txBody>
                  <a:tcPr anchor="t" marL="45720" marR="36576" marT="27432">
                    <a:solidFill>
                      <a:srgbClr val="0E141C"/>
                    </a:solidFill>
                  </a:tcPr>
                </a:tc>
                <a:tc>
                  <a:txBody>
                    <a:bodyPr wrap="square"/>
                    <a:lstStyle/>
                    <a:p>
                      <a:r>
                        <a:rPr sz="1000" b="0">
                          <a:solidFill>
                            <a:srgbClr val="E8EAED"/>
                          </a:solidFill>
                          <a:latin typeface="Segoe UI"/>
                        </a:rPr>
                        <a:t>Causes of dishonesty; prevention and detection methods</a:t>
                      </a:r>
                    </a:p>
                  </a:txBody>
                  <a:tcPr anchor="t" marL="45720" marR="36576" marT="27432">
                    <a:solidFill>
                      <a:srgbClr val="0E141C"/>
                    </a:solidFill>
                  </a:tcPr>
                </a:tc>
                <a:tc>
                  <a:txBody>
                    <a:bodyPr wrap="square"/>
                    <a:lstStyle/>
                    <a:p>
                      <a:r>
                        <a:rPr sz="1000" b="0">
                          <a:solidFill>
                            <a:srgbClr val="E8EAED"/>
                          </a:solidFill>
                          <a:latin typeface="Segoe UI"/>
                        </a:rPr>
                        <a:t>Recommends a mix of measures; privacy is named, not engineered</a:t>
                      </a:r>
                    </a:p>
                  </a:txBody>
                  <a:tcPr anchor="t" marL="45720" marR="36576" marT="27432">
                    <a:solidFill>
                      <a:srgbClr val="0E141C"/>
                    </a:solidFill>
                  </a:tcPr>
                </a:tc>
              </a:tr>
              <a:tr h="540512">
                <a:tc>
                  <a:txBody>
                    <a:bodyPr wrap="square"/>
                    <a:lstStyle/>
                    <a:p>
                      <a:r>
                        <a:rPr sz="1000" b="0">
                          <a:solidFill>
                            <a:srgbClr val="E8EAED"/>
                          </a:solidFill>
                          <a:latin typeface="Segoe UI"/>
                        </a:rPr>
                        <a:t>Hussein, Yusuf, Deb, Fong and Naidu, 2020 · foundational</a:t>
                      </a:r>
                    </a:p>
                  </a:txBody>
                  <a:tcPr anchor="t" marL="45720" marR="36576" marT="27432">
                    <a:solidFill>
                      <a:srgbClr val="121820"/>
                    </a:solidFill>
                  </a:tcPr>
                </a:tc>
                <a:tc>
                  <a:txBody>
                    <a:bodyPr wrap="square"/>
                    <a:lstStyle/>
                    <a:p>
                      <a:r>
                        <a:rPr sz="1000" b="0">
                          <a:solidFill>
                            <a:srgbClr val="E8EAED"/>
                          </a:solidFill>
                          <a:latin typeface="Segoe UI"/>
                        </a:rPr>
                        <a:t>Tool evaluation</a:t>
                      </a:r>
                    </a:p>
                  </a:txBody>
                  <a:tcPr anchor="t" marL="45720" marR="36576" marT="27432">
                    <a:solidFill>
                      <a:srgbClr val="121820"/>
                    </a:solidFill>
                  </a:tcPr>
                </a:tc>
                <a:tc>
                  <a:txBody>
                    <a:bodyPr wrap="square"/>
                    <a:lstStyle/>
                    <a:p>
                      <a:r>
                        <a:rPr sz="1000" b="0">
                          <a:solidFill>
                            <a:srgbClr val="E8EAED"/>
                          </a:solidFill>
                          <a:latin typeface="Segoe UI"/>
                        </a:rPr>
                        <a:t>Commercial proctoring products</a:t>
                      </a:r>
                    </a:p>
                  </a:txBody>
                  <a:tcPr anchor="t" marL="45720" marR="36576" marT="27432">
                    <a:solidFill>
                      <a:srgbClr val="121820"/>
                    </a:solidFill>
                  </a:tcPr>
                </a:tc>
                <a:tc>
                  <a:txBody>
                    <a:bodyPr wrap="square"/>
                    <a:lstStyle/>
                    <a:p>
                      <a:r>
                        <a:rPr sz="1000" b="0">
                          <a:solidFill>
                            <a:srgbClr val="E8EAED"/>
                          </a:solidFill>
                          <a:latin typeface="Segoe UI"/>
                        </a:rPr>
                        <a:t>Feature lists: webcam, lockdown, identity</a:t>
                      </a:r>
                    </a:p>
                  </a:txBody>
                  <a:tcPr anchor="t" marL="45720" marR="36576" marT="27432">
                    <a:solidFill>
                      <a:srgbClr val="121820"/>
                    </a:solidFill>
                  </a:tcPr>
                </a:tc>
                <a:tc>
                  <a:txBody>
                    <a:bodyPr wrap="square"/>
                    <a:lstStyle/>
                    <a:p>
                      <a:r>
                        <a:rPr sz="1000" b="0">
                          <a:solidFill>
                            <a:srgbClr val="E8EAED"/>
                          </a:solidFill>
                          <a:latin typeface="Segoe UI"/>
                        </a:rPr>
                        <a:t>Feature lists, not a privacy-bounded design</a:t>
                      </a:r>
                    </a:p>
                  </a:txBody>
                  <a:tcPr anchor="t" marL="45720" marR="36576" marT="27432">
                    <a:solidFill>
                      <a:srgbClr val="121820"/>
                    </a:solidFill>
                  </a:tcPr>
                </a:tc>
              </a:tr>
              <a:tr h="540512">
                <a:tc>
                  <a:txBody>
                    <a:bodyPr wrap="square"/>
                    <a:lstStyle/>
                    <a:p>
                      <a:r>
                        <a:rPr sz="1000" b="0">
                          <a:solidFill>
                            <a:srgbClr val="E8EAED"/>
                          </a:solidFill>
                          <a:latin typeface="Segoe UI"/>
                        </a:rPr>
                        <a:t>Nigam, Pasricha, Singh and Churi, 2021</a:t>
                      </a:r>
                    </a:p>
                  </a:txBody>
                  <a:tcPr anchor="t" marL="45720" marR="36576" marT="27432">
                    <a:solidFill>
                      <a:srgbClr val="0E141C"/>
                    </a:solidFill>
                  </a:tcPr>
                </a:tc>
                <a:tc>
                  <a:txBody>
                    <a:bodyPr wrap="square"/>
                    <a:lstStyle/>
                    <a:p>
                      <a:r>
                        <a:rPr sz="1000" b="0">
                          <a:solidFill>
                            <a:srgbClr val="E8EAED"/>
                          </a:solidFill>
                          <a:latin typeface="Segoe UI"/>
                        </a:rPr>
                        <a:t>Review of AI and non-AI systems</a:t>
                      </a:r>
                    </a:p>
                  </a:txBody>
                  <a:tcPr anchor="t" marL="45720" marR="36576" marT="27432">
                    <a:solidFill>
                      <a:srgbClr val="0E141C"/>
                    </a:solidFill>
                  </a:tcPr>
                </a:tc>
                <a:tc>
                  <a:txBody>
                    <a:bodyPr wrap="square"/>
                    <a:lstStyle/>
                    <a:p>
                      <a:r>
                        <a:rPr sz="1000" b="0">
                          <a:solidFill>
                            <a:srgbClr val="E8EAED"/>
                          </a:solidFill>
                          <a:latin typeface="Segoe UI"/>
                        </a:rPr>
                        <a:t>43 systems</a:t>
                      </a:r>
                    </a:p>
                  </a:txBody>
                  <a:tcPr anchor="t" marL="45720" marR="36576" marT="27432">
                    <a:solidFill>
                      <a:srgbClr val="0E141C"/>
                    </a:solidFill>
                  </a:tcPr>
                </a:tc>
                <a:tc>
                  <a:txBody>
                    <a:bodyPr wrap="square"/>
                    <a:lstStyle/>
                    <a:p>
                      <a:r>
                        <a:rPr sz="1000" b="0">
                          <a:solidFill>
                            <a:srgbClr val="E8EAED"/>
                          </a:solidFill>
                          <a:latin typeface="Segoe UI"/>
                        </a:rPr>
                        <a:t>Webcam, voice, lockdown, identity</a:t>
                      </a:r>
                    </a:p>
                  </a:txBody>
                  <a:tcPr anchor="t" marL="45720" marR="36576" marT="27432">
                    <a:solidFill>
                      <a:srgbClr val="0E141C"/>
                    </a:solidFill>
                  </a:tcPr>
                </a:tc>
                <a:tc>
                  <a:txBody>
                    <a:bodyPr wrap="square"/>
                    <a:lstStyle/>
                    <a:p>
                      <a:r>
                        <a:rPr sz="1000" b="0">
                          <a:solidFill>
                            <a:srgbClr val="E8EAED"/>
                          </a:solidFill>
                          <a:latin typeface="Segoe UI"/>
                        </a:rPr>
                        <a:t>Privacy is named, not designed</a:t>
                      </a:r>
                    </a:p>
                  </a:txBody>
                  <a:tcPr anchor="t" marL="45720" marR="36576" marT="27432">
                    <a:solidFill>
                      <a:srgbClr val="0E141C"/>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4"/>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256032"/>
            <a:ext cx="1920240" cy="635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73952"/>
            <a:ext cx="8595360" cy="256032"/>
          </a:xfrm>
          <a:prstGeom prst="rect">
            <a:avLst/>
          </a:prstGeom>
          <a:noFill/>
        </p:spPr>
        <p:txBody>
          <a:bodyPr wrap="square">
            <a:spAutoFit/>
          </a:bodyPr>
          <a:lstStyle/>
          <a:p>
            <a:pPr algn="l"/>
            <a:r>
              <a:rPr sz="1100" b="0">
                <a:solidFill>
                  <a:srgbClr val="8B949E"/>
                </a:solidFill>
                <a:latin typeface="Segoe UI"/>
              </a:rPr>
              <a:t>BACSE291  ·  Innovative Design Project  |  First Review  |  Fall Semester 2026</a:t>
            </a:r>
          </a:p>
        </p:txBody>
      </p:sp>
      <p:sp>
        <p:nvSpPr>
          <p:cNvPr id="5" name="TextBox 4"/>
          <p:cNvSpPr txBox="1"/>
          <p:nvPr/>
        </p:nvSpPr>
        <p:spPr>
          <a:xfrm>
            <a:off x="9326880" y="6473952"/>
            <a:ext cx="2468880" cy="256032"/>
          </a:xfrm>
          <a:prstGeom prst="rect">
            <a:avLst/>
          </a:prstGeom>
          <a:noFill/>
        </p:spPr>
        <p:txBody>
          <a:bodyPr wrap="square">
            <a:spAutoFit/>
          </a:bodyPr>
          <a:lstStyle/>
          <a:p>
            <a:pPr algn="r"/>
            <a:r>
              <a:rPr sz="1100" b="0">
                <a:solidFill>
                  <a:srgbClr val="00E5FF"/>
                </a:solidFill>
                <a:latin typeface="Cascadia Mono"/>
              </a:rPr>
              <a:t>APPENDIX   3</a:t>
            </a:r>
          </a:p>
        </p:txBody>
      </p:sp>
      <p:sp>
        <p:nvSpPr>
          <p:cNvPr id="6" name="TextBox 5"/>
          <p:cNvSpPr txBox="1"/>
          <p:nvPr/>
        </p:nvSpPr>
        <p:spPr>
          <a:xfrm>
            <a:off x="365760" y="347472"/>
            <a:ext cx="10972800" cy="256032"/>
          </a:xfrm>
          <a:prstGeom prst="rect">
            <a:avLst/>
          </a:prstGeom>
          <a:noFill/>
        </p:spPr>
        <p:txBody>
          <a:bodyPr wrap="square">
            <a:spAutoFit/>
          </a:bodyPr>
          <a:lstStyle/>
          <a:p>
            <a:pPr algn="l"/>
            <a:r>
              <a:rPr sz="1200" b="1">
                <a:solidFill>
                  <a:srgbClr val="00E5FF"/>
                </a:solidFill>
                <a:latin typeface="Cascadia Mono"/>
              </a:rPr>
              <a:t>// APPENDIX</a:t>
            </a:r>
          </a:p>
        </p:txBody>
      </p:sp>
      <p:sp>
        <p:nvSpPr>
          <p:cNvPr id="7" name="TextBox 6"/>
          <p:cNvSpPr txBox="1"/>
          <p:nvPr/>
        </p:nvSpPr>
        <p:spPr>
          <a:xfrm>
            <a:off x="365760" y="603504"/>
            <a:ext cx="11338560" cy="457200"/>
          </a:xfrm>
          <a:prstGeom prst="rect">
            <a:avLst/>
          </a:prstGeom>
          <a:noFill/>
        </p:spPr>
        <p:txBody>
          <a:bodyPr wrap="square">
            <a:spAutoFit/>
          </a:bodyPr>
          <a:lstStyle/>
          <a:p>
            <a:pPr algn="l"/>
            <a:r>
              <a:rPr sz="2800" b="1">
                <a:solidFill>
                  <a:srgbClr val="E8EAED"/>
                </a:solidFill>
                <a:latin typeface="Bahnschrift"/>
              </a:rPr>
              <a:t>A1 continued  ·  A2 lockdown  ·  A3 browser signals</a:t>
            </a:r>
          </a:p>
        </p:txBody>
      </p:sp>
      <p:sp>
        <p:nvSpPr>
          <p:cNvPr id="8" name="TextBox 7"/>
          <p:cNvSpPr txBox="1"/>
          <p:nvPr/>
        </p:nvSpPr>
        <p:spPr>
          <a:xfrm>
            <a:off x="320040" y="1143000"/>
            <a:ext cx="10972800" cy="237744"/>
          </a:xfrm>
          <a:prstGeom prst="rect">
            <a:avLst/>
          </a:prstGeom>
          <a:noFill/>
        </p:spPr>
        <p:txBody>
          <a:bodyPr wrap="square">
            <a:spAutoFit/>
          </a:bodyPr>
          <a:lstStyle/>
          <a:p>
            <a:pPr algn="l"/>
            <a:r>
              <a:rPr sz="1200" b="1">
                <a:solidFill>
                  <a:srgbClr val="B6FF00"/>
                </a:solidFill>
                <a:latin typeface="Cascadia Mono"/>
              </a:rPr>
              <a:t>Surveys, continued</a:t>
            </a:r>
          </a:p>
        </p:txBody>
      </p:sp>
      <p:graphicFrame>
        <p:nvGraphicFramePr>
          <p:cNvPr id="9" name="Table 8"/>
          <p:cNvGraphicFramePr>
            <a:graphicFrameLocks noGrp="1"/>
          </p:cNvGraphicFramePr>
          <p:nvPr/>
        </p:nvGraphicFramePr>
        <p:xfrm>
          <a:off x="256032" y="1399032"/>
          <a:ext cx="11430000" cy="1609344"/>
        </p:xfrm>
        <a:graphic>
          <a:graphicData uri="http://schemas.openxmlformats.org/drawingml/2006/table">
            <a:tbl>
              <a:tblPr firstRow="1" bandRow="1">
                <a:tableStyleId>{5C22544A-7EE6-4342-B048-85BDC9FD1C3A}</a:tableStyleId>
              </a:tblPr>
              <a:tblGrid>
                <a:gridCol w="2331720"/>
                <a:gridCol w="2194560"/>
                <a:gridCol w="2286000"/>
                <a:gridCol w="2286000"/>
                <a:gridCol w="2331720"/>
              </a:tblGrid>
              <a:tr h="402336">
                <a:tc>
                  <a:txBody>
                    <a:bodyPr wrap="square"/>
                    <a:lstStyle/>
                    <a:p>
                      <a:r>
                        <a:rPr sz="1000" b="1">
                          <a:solidFill>
                            <a:srgbClr val="0B0F14"/>
                          </a:solidFill>
                          <a:latin typeface="Segoe UI"/>
                        </a:rPr>
                        <a:t>Author and year</a:t>
                      </a:r>
                    </a:p>
                  </a:txBody>
                  <a:tcPr anchor="t" marL="45720" marR="36576" marT="27432">
                    <a:solidFill>
                      <a:srgbClr val="00E5FF"/>
                    </a:solidFill>
                  </a:tcPr>
                </a:tc>
                <a:tc>
                  <a:txBody>
                    <a:bodyPr wrap="square"/>
                    <a:lstStyle/>
                    <a:p>
                      <a:r>
                        <a:rPr sz="1000" b="1">
                          <a:solidFill>
                            <a:srgbClr val="0B0F14"/>
                          </a:solidFill>
                          <a:latin typeface="Segoe UI"/>
                        </a:rPr>
                        <a:t>Method</a:t>
                      </a:r>
                    </a:p>
                  </a:txBody>
                  <a:tcPr anchor="t" marL="45720" marR="36576" marT="27432">
                    <a:solidFill>
                      <a:srgbClr val="00E5FF"/>
                    </a:solidFill>
                  </a:tcPr>
                </a:tc>
                <a:tc>
                  <a:txBody>
                    <a:bodyPr wrap="square"/>
                    <a:lstStyle/>
                    <a:p>
                      <a:r>
                        <a:rPr sz="1000" b="1">
                          <a:solidFill>
                            <a:srgbClr val="0B0F14"/>
                          </a:solidFill>
                          <a:latin typeface="Segoe UI"/>
                        </a:rPr>
                        <a:t>Dataset or testbed</a:t>
                      </a:r>
                    </a:p>
                  </a:txBody>
                  <a:tcPr anchor="t" marL="45720" marR="36576" marT="27432">
                    <a:solidFill>
                      <a:srgbClr val="00E5FF"/>
                    </a:solidFill>
                  </a:tcPr>
                </a:tc>
                <a:tc>
                  <a:txBody>
                    <a:bodyPr wrap="square"/>
                    <a:lstStyle/>
                    <a:p>
                      <a:r>
                        <a:rPr sz="1000" b="1">
                          <a:solidFill>
                            <a:srgbClr val="0B0F14"/>
                          </a:solidFill>
                          <a:latin typeface="Segoe UI"/>
                        </a:rPr>
                        <a:t>Key parameters</a:t>
                      </a:r>
                    </a:p>
                  </a:txBody>
                  <a:tcPr anchor="t" marL="45720" marR="36576" marT="27432">
                    <a:solidFill>
                      <a:srgbClr val="00E5FF"/>
                    </a:solidFill>
                  </a:tcPr>
                </a:tc>
                <a:tc>
                  <a:txBody>
                    <a:bodyPr wrap="square"/>
                    <a:lstStyle/>
                    <a:p>
                      <a:r>
                        <a:rPr sz="1000" b="1">
                          <a:solidFill>
                            <a:srgbClr val="0B0F14"/>
                          </a:solidFill>
                          <a:latin typeface="Segoe UI"/>
                        </a:rPr>
                        <a:t>Limitation</a:t>
                      </a:r>
                    </a:p>
                  </a:txBody>
                  <a:tcPr anchor="t" marL="45720" marR="36576" marT="27432">
                    <a:solidFill>
                      <a:srgbClr val="00E5FF"/>
                    </a:solidFill>
                  </a:tcPr>
                </a:tc>
              </a:tr>
              <a:tr h="402336">
                <a:tc>
                  <a:txBody>
                    <a:bodyPr wrap="square"/>
                    <a:lstStyle/>
                    <a:p>
                      <a:r>
                        <a:rPr sz="1000" b="0">
                          <a:solidFill>
                            <a:srgbClr val="E8EAED"/>
                          </a:solidFill>
                          <a:latin typeface="Segoe UI"/>
                        </a:rPr>
                        <a:t>Noorbehbahani, Mohammadi and Aminazadeh, 2022</a:t>
                      </a:r>
                    </a:p>
                  </a:txBody>
                  <a:tcPr anchor="t" marL="45720" marR="36576" marT="27432">
                    <a:solidFill>
                      <a:srgbClr val="121820"/>
                    </a:solidFill>
                  </a:tcPr>
                </a:tc>
                <a:tc>
                  <a:txBody>
                    <a:bodyPr wrap="square"/>
                    <a:lstStyle/>
                    <a:p>
                      <a:r>
                        <a:rPr sz="1000" b="0">
                          <a:solidFill>
                            <a:srgbClr val="E8EAED"/>
                          </a:solidFill>
                          <a:latin typeface="Segoe UI"/>
                        </a:rPr>
                        <a:t>Systematic mapping review</a:t>
                      </a:r>
                    </a:p>
                  </a:txBody>
                  <a:tcPr anchor="t" marL="45720" marR="36576" marT="27432">
                    <a:solidFill>
                      <a:srgbClr val="121820"/>
                    </a:solidFill>
                  </a:tcPr>
                </a:tc>
                <a:tc>
                  <a:txBody>
                    <a:bodyPr wrap="square"/>
                    <a:lstStyle/>
                    <a:p>
                      <a:r>
                        <a:rPr sz="1000" b="0">
                          <a:solidFill>
                            <a:srgbClr val="E8EAED"/>
                          </a:solidFill>
                          <a:latin typeface="Segoe UI"/>
                        </a:rPr>
                        <a:t>58 publications, January 2010 to February 2021</a:t>
                      </a:r>
                    </a:p>
                  </a:txBody>
                  <a:tcPr anchor="t" marL="45720" marR="36576" marT="27432">
                    <a:solidFill>
                      <a:srgbClr val="121820"/>
                    </a:solidFill>
                  </a:tcPr>
                </a:tc>
                <a:tc>
                  <a:txBody>
                    <a:bodyPr wrap="square"/>
                    <a:lstStyle/>
                    <a:p>
                      <a:r>
                        <a:rPr sz="1000" b="0">
                          <a:solidFill>
                            <a:srgbClr val="E8EAED"/>
                          </a:solidFill>
                          <a:latin typeface="Segoe UI"/>
                        </a:rPr>
                        <a:t>Motivation, type, detection, prevention</a:t>
                      </a:r>
                    </a:p>
                  </a:txBody>
                  <a:tcPr anchor="t" marL="45720" marR="36576" marT="27432">
                    <a:solidFill>
                      <a:srgbClr val="121820"/>
                    </a:solidFill>
                  </a:tcPr>
                </a:tc>
                <a:tc>
                  <a:txBody>
                    <a:bodyPr wrap="square"/>
                    <a:lstStyle/>
                    <a:p>
                      <a:r>
                        <a:rPr sz="1000" b="0">
                          <a:solidFill>
                            <a:srgbClr val="E8EAED"/>
                          </a:solidFill>
                          <a:latin typeface="Segoe UI"/>
                        </a:rPr>
                        <a:t>Maps the field through early 2021; does not test a bounded monitor</a:t>
                      </a:r>
                    </a:p>
                  </a:txBody>
                  <a:tcPr anchor="t" marL="45720" marR="36576" marT="27432">
                    <a:solidFill>
                      <a:srgbClr val="121820"/>
                    </a:solidFill>
                  </a:tcPr>
                </a:tc>
              </a:tr>
              <a:tr h="402336">
                <a:tc>
                  <a:txBody>
                    <a:bodyPr wrap="square"/>
                    <a:lstStyle/>
                    <a:p>
                      <a:r>
                        <a:rPr sz="1000" b="0">
                          <a:solidFill>
                            <a:srgbClr val="E8EAED"/>
                          </a:solidFill>
                          <a:latin typeface="Segoe UI"/>
                        </a:rPr>
                        <a:t>Topuz, Saka, Fatsa and Kurşun, 2022</a:t>
                      </a:r>
                    </a:p>
                  </a:txBody>
                  <a:tcPr anchor="t" marL="45720" marR="36576" marT="27432">
                    <a:solidFill>
                      <a:srgbClr val="0E141C"/>
                    </a:solidFill>
                  </a:tcPr>
                </a:tc>
                <a:tc>
                  <a:txBody>
                    <a:bodyPr wrap="square"/>
                    <a:lstStyle/>
                    <a:p>
                      <a:r>
                        <a:rPr sz="1000" b="0">
                          <a:solidFill>
                            <a:srgbClr val="E8EAED"/>
                          </a:solidFill>
                          <a:latin typeface="Segoe UI"/>
                        </a:rPr>
                        <a:t>Systematic feature analysis</a:t>
                      </a:r>
                    </a:p>
                  </a:txBody>
                  <a:tcPr anchor="t" marL="45720" marR="36576" marT="27432">
                    <a:solidFill>
                      <a:srgbClr val="0E141C"/>
                    </a:solidFill>
                  </a:tcPr>
                </a:tc>
                <a:tc>
                  <a:txBody>
                    <a:bodyPr wrap="square"/>
                    <a:lstStyle/>
                    <a:p>
                      <a:r>
                        <a:rPr sz="1000" b="0">
                          <a:solidFill>
                            <a:srgbClr val="E8EAED"/>
                          </a:solidFill>
                          <a:latin typeface="Segoe UI"/>
                        </a:rPr>
                        <a:t>Academic studies of online assessment systems published in 2020</a:t>
                      </a:r>
                    </a:p>
                  </a:txBody>
                  <a:tcPr anchor="t" marL="45720" marR="36576" marT="27432">
                    <a:solidFill>
                      <a:srgbClr val="0E141C"/>
                    </a:solidFill>
                  </a:tcPr>
                </a:tc>
                <a:tc>
                  <a:txBody>
                    <a:bodyPr wrap="square"/>
                    <a:lstStyle/>
                    <a:p>
                      <a:r>
                        <a:rPr sz="1000" b="0">
                          <a:solidFill>
                            <a:srgbClr val="E8EAED"/>
                          </a:solidFill>
                          <a:latin typeface="Segoe UI"/>
                        </a:rPr>
                        <a:t>Platforms, security features, common features</a:t>
                      </a:r>
                    </a:p>
                  </a:txBody>
                  <a:tcPr anchor="t" marL="45720" marR="36576" marT="27432">
                    <a:solidFill>
                      <a:srgbClr val="0E141C"/>
                    </a:solidFill>
                  </a:tcPr>
                </a:tc>
                <a:tc>
                  <a:txBody>
                    <a:bodyPr wrap="square"/>
                    <a:lstStyle/>
                    <a:p>
                      <a:r>
                        <a:rPr sz="1000" b="0">
                          <a:solidFill>
                            <a:srgbClr val="E8EAED"/>
                          </a:solidFill>
                          <a:latin typeface="Segoe UI"/>
                        </a:rPr>
                        <a:t>Security is described as a feature list, not as a minimised event log</a:t>
                      </a:r>
                    </a:p>
                  </a:txBody>
                  <a:tcPr anchor="t" marL="45720" marR="36576" marT="27432">
                    <a:solidFill>
                      <a:srgbClr val="0E141C"/>
                    </a:solidFill>
                  </a:tcPr>
                </a:tc>
              </a:tr>
              <a:tr h="402336">
                <a:tc>
                  <a:txBody>
                    <a:bodyPr wrap="square"/>
                    <a:lstStyle/>
                    <a:p>
                      <a:r>
                        <a:rPr sz="1000" b="0">
                          <a:solidFill>
                            <a:srgbClr val="E8EAED"/>
                          </a:solidFill>
                          <a:latin typeface="Segoe UI"/>
                        </a:rPr>
                        <a:t>Khalil, Prinsloo and Slade, 2022</a:t>
                      </a:r>
                    </a:p>
                  </a:txBody>
                  <a:tcPr anchor="t" marL="45720" marR="36576" marT="27432">
                    <a:solidFill>
                      <a:srgbClr val="121820"/>
                    </a:solidFill>
                  </a:tcPr>
                </a:tc>
                <a:tc>
                  <a:txBody>
                    <a:bodyPr wrap="square"/>
                    <a:lstStyle/>
                    <a:p>
                      <a:r>
                        <a:rPr sz="1000" b="0">
                          <a:solidFill>
                            <a:srgbClr val="E8EAED"/>
                          </a:solidFill>
                          <a:latin typeface="Segoe UI"/>
                        </a:rPr>
                        <a:t>PRISMA-informed systematic review</a:t>
                      </a:r>
                    </a:p>
                  </a:txBody>
                  <a:tcPr anchor="t" marL="45720" marR="36576" marT="27432">
                    <a:solidFill>
                      <a:srgbClr val="121820"/>
                    </a:solidFill>
                  </a:tcPr>
                </a:tc>
                <a:tc>
                  <a:txBody>
                    <a:bodyPr wrap="square"/>
                    <a:lstStyle/>
                    <a:p>
                      <a:r>
                        <a:rPr sz="1000" b="0">
                          <a:solidFill>
                            <a:srgbClr val="E8EAED"/>
                          </a:solidFill>
                          <a:latin typeface="Segoe UI"/>
                        </a:rPr>
                        <a:t>27 peer-reviewed articles and papers</a:t>
                      </a:r>
                    </a:p>
                  </a:txBody>
                  <a:tcPr anchor="t" marL="45720" marR="36576" marT="27432">
                    <a:solidFill>
                      <a:srgbClr val="121820"/>
                    </a:solidFill>
                  </a:tcPr>
                </a:tc>
                <a:tc>
                  <a:txBody>
                    <a:bodyPr wrap="square"/>
                    <a:lstStyle/>
                    <a:p>
                      <a:r>
                        <a:rPr sz="1000" b="0">
                          <a:solidFill>
                            <a:srgbClr val="E8EAED"/>
                          </a:solidFill>
                          <a:latin typeface="Segoe UI"/>
                        </a:rPr>
                        <a:t>Cost, usability, integrity, privacy</a:t>
                      </a:r>
                    </a:p>
                  </a:txBody>
                  <a:tcPr anchor="t" marL="45720" marR="36576" marT="27432">
                    <a:solidFill>
                      <a:srgbClr val="121820"/>
                    </a:solidFill>
                  </a:tcPr>
                </a:tc>
                <a:tc>
                  <a:txBody>
                    <a:bodyPr wrap="square"/>
                    <a:lstStyle/>
                    <a:p>
                      <a:r>
                        <a:rPr sz="1000" b="0">
                          <a:solidFill>
                            <a:srgbClr val="E8EAED"/>
                          </a:solidFill>
                          <a:latin typeface="Segoe UI"/>
                        </a:rPr>
                        <a:t>Institutions chose on cost and ease; student privacy was often absent</a:t>
                      </a:r>
                    </a:p>
                  </a:txBody>
                  <a:tcPr anchor="t" marL="45720" marR="36576" marT="27432">
                    <a:solidFill>
                      <a:srgbClr val="121820"/>
                    </a:solidFill>
                  </a:tcPr>
                </a:tc>
              </a:tr>
            </a:tbl>
          </a:graphicData>
        </a:graphic>
      </p:graphicFrame>
      <p:sp>
        <p:nvSpPr>
          <p:cNvPr id="10" name="TextBox 9"/>
          <p:cNvSpPr txBox="1"/>
          <p:nvPr/>
        </p:nvSpPr>
        <p:spPr>
          <a:xfrm>
            <a:off x="320040" y="3118104"/>
            <a:ext cx="10972800" cy="237744"/>
          </a:xfrm>
          <a:prstGeom prst="rect">
            <a:avLst/>
          </a:prstGeom>
          <a:noFill/>
        </p:spPr>
        <p:txBody>
          <a:bodyPr wrap="square">
            <a:spAutoFit/>
          </a:bodyPr>
          <a:lstStyle/>
          <a:p>
            <a:pPr algn="l"/>
            <a:r>
              <a:rPr sz="1200" b="1">
                <a:solidFill>
                  <a:srgbClr val="B6FF00"/>
                </a:solidFill>
                <a:latin typeface="Cascadia Mono"/>
              </a:rPr>
              <a:t>Lockdown browsers</a:t>
            </a:r>
          </a:p>
        </p:txBody>
      </p:sp>
      <p:graphicFrame>
        <p:nvGraphicFramePr>
          <p:cNvPr id="11" name="Table 10"/>
          <p:cNvGraphicFramePr>
            <a:graphicFrameLocks noGrp="1"/>
          </p:cNvGraphicFramePr>
          <p:nvPr/>
        </p:nvGraphicFramePr>
        <p:xfrm>
          <a:off x="256032" y="3374136"/>
          <a:ext cx="11430000" cy="1609344"/>
        </p:xfrm>
        <a:graphic>
          <a:graphicData uri="http://schemas.openxmlformats.org/drawingml/2006/table">
            <a:tbl>
              <a:tblPr firstRow="1" bandRow="1">
                <a:tableStyleId>{5C22544A-7EE6-4342-B048-85BDC9FD1C3A}</a:tableStyleId>
              </a:tblPr>
              <a:tblGrid>
                <a:gridCol w="2331720"/>
                <a:gridCol w="2194560"/>
                <a:gridCol w="2286000"/>
                <a:gridCol w="2286000"/>
                <a:gridCol w="2331720"/>
              </a:tblGrid>
              <a:tr h="402336">
                <a:tc>
                  <a:txBody>
                    <a:bodyPr wrap="square"/>
                    <a:lstStyle/>
                    <a:p>
                      <a:r>
                        <a:rPr sz="1000" b="1">
                          <a:solidFill>
                            <a:srgbClr val="0B0F14"/>
                          </a:solidFill>
                          <a:latin typeface="Segoe UI"/>
                        </a:rPr>
                        <a:t>Author and year</a:t>
                      </a:r>
                    </a:p>
                  </a:txBody>
                  <a:tcPr anchor="t" marL="45720" marR="36576" marT="27432">
                    <a:solidFill>
                      <a:srgbClr val="00E5FF"/>
                    </a:solidFill>
                  </a:tcPr>
                </a:tc>
                <a:tc>
                  <a:txBody>
                    <a:bodyPr wrap="square"/>
                    <a:lstStyle/>
                    <a:p>
                      <a:r>
                        <a:rPr sz="1000" b="1">
                          <a:solidFill>
                            <a:srgbClr val="0B0F14"/>
                          </a:solidFill>
                          <a:latin typeface="Segoe UI"/>
                        </a:rPr>
                        <a:t>Method</a:t>
                      </a:r>
                    </a:p>
                  </a:txBody>
                  <a:tcPr anchor="t" marL="45720" marR="36576" marT="27432">
                    <a:solidFill>
                      <a:srgbClr val="00E5FF"/>
                    </a:solidFill>
                  </a:tcPr>
                </a:tc>
                <a:tc>
                  <a:txBody>
                    <a:bodyPr wrap="square"/>
                    <a:lstStyle/>
                    <a:p>
                      <a:r>
                        <a:rPr sz="1000" b="1">
                          <a:solidFill>
                            <a:srgbClr val="0B0F14"/>
                          </a:solidFill>
                          <a:latin typeface="Segoe UI"/>
                        </a:rPr>
                        <a:t>Dataset or testbed</a:t>
                      </a:r>
                    </a:p>
                  </a:txBody>
                  <a:tcPr anchor="t" marL="45720" marR="36576" marT="27432">
                    <a:solidFill>
                      <a:srgbClr val="00E5FF"/>
                    </a:solidFill>
                  </a:tcPr>
                </a:tc>
                <a:tc>
                  <a:txBody>
                    <a:bodyPr wrap="square"/>
                    <a:lstStyle/>
                    <a:p>
                      <a:r>
                        <a:rPr sz="1000" b="1">
                          <a:solidFill>
                            <a:srgbClr val="0B0F14"/>
                          </a:solidFill>
                          <a:latin typeface="Segoe UI"/>
                        </a:rPr>
                        <a:t>Key parameters</a:t>
                      </a:r>
                    </a:p>
                  </a:txBody>
                  <a:tcPr anchor="t" marL="45720" marR="36576" marT="27432">
                    <a:solidFill>
                      <a:srgbClr val="00E5FF"/>
                    </a:solidFill>
                  </a:tcPr>
                </a:tc>
                <a:tc>
                  <a:txBody>
                    <a:bodyPr wrap="square"/>
                    <a:lstStyle/>
                    <a:p>
                      <a:r>
                        <a:rPr sz="1000" b="1">
                          <a:solidFill>
                            <a:srgbClr val="0B0F14"/>
                          </a:solidFill>
                          <a:latin typeface="Segoe UI"/>
                        </a:rPr>
                        <a:t>Limitation</a:t>
                      </a:r>
                    </a:p>
                  </a:txBody>
                  <a:tcPr anchor="t" marL="45720" marR="36576" marT="27432">
                    <a:solidFill>
                      <a:srgbClr val="00E5FF"/>
                    </a:solidFill>
                  </a:tcPr>
                </a:tc>
              </a:tr>
              <a:tr h="402336">
                <a:tc>
                  <a:txBody>
                    <a:bodyPr wrap="square"/>
                    <a:lstStyle/>
                    <a:p>
                      <a:r>
                        <a:rPr sz="1000" b="0">
                          <a:solidFill>
                            <a:srgbClr val="E8EAED"/>
                          </a:solidFill>
                          <a:latin typeface="Segoe UI"/>
                        </a:rPr>
                        <a:t>Burgess, Ginsberg, Felten and Cohney, 2022</a:t>
                      </a:r>
                    </a:p>
                  </a:txBody>
                  <a:tcPr anchor="t" marL="45720" marR="36576" marT="27432">
                    <a:solidFill>
                      <a:srgbClr val="121820"/>
                    </a:solidFill>
                  </a:tcPr>
                </a:tc>
                <a:tc>
                  <a:txBody>
                    <a:bodyPr wrap="square"/>
                    <a:lstStyle/>
                    <a:p>
                      <a:r>
                        <a:rPr sz="1000" b="0">
                          <a:solidFill>
                            <a:srgbClr val="E8EAED"/>
                          </a:solidFill>
                          <a:latin typeface="Segoe UI"/>
                        </a:rPr>
                        <a:t>Reverse engineering of four exam suites</a:t>
                      </a:r>
                    </a:p>
                  </a:txBody>
                  <a:tcPr anchor="t" marL="45720" marR="36576" marT="27432">
                    <a:solidFill>
                      <a:srgbClr val="121820"/>
                    </a:solidFill>
                  </a:tcPr>
                </a:tc>
                <a:tc>
                  <a:txBody>
                    <a:bodyPr wrap="square"/>
                    <a:lstStyle/>
                    <a:p>
                      <a:r>
                        <a:rPr sz="1000" b="0">
                          <a:solidFill>
                            <a:srgbClr val="E8EAED"/>
                          </a:solidFill>
                          <a:latin typeface="Segoe UI"/>
                        </a:rPr>
                        <a:t>Examplify, Exam360, Exam4, Electronic Blue Book</a:t>
                      </a:r>
                    </a:p>
                  </a:txBody>
                  <a:tcPr anchor="t" marL="45720" marR="36576" marT="27432">
                    <a:solidFill>
                      <a:srgbClr val="121820"/>
                    </a:solidFill>
                  </a:tcPr>
                </a:tc>
                <a:tc>
                  <a:txBody>
                    <a:bodyPr wrap="square"/>
                    <a:lstStyle/>
                    <a:p>
                      <a:r>
                        <a:rPr sz="1000" b="0">
                          <a:solidFill>
                            <a:srgbClr val="E8EAED"/>
                          </a:solidFill>
                          <a:latin typeface="Segoe UI"/>
                        </a:rPr>
                        <a:t>Process allow-lists and facial checks</a:t>
                      </a:r>
                    </a:p>
                  </a:txBody>
                  <a:tcPr anchor="t" marL="45720" marR="36576" marT="27432">
                    <a:solidFill>
                      <a:srgbClr val="121820"/>
                    </a:solidFill>
                  </a:tcPr>
                </a:tc>
                <a:tc>
                  <a:txBody>
                    <a:bodyPr wrap="square"/>
                    <a:lstStyle/>
                    <a:p>
                      <a:r>
                        <a:rPr sz="1000" b="0">
                          <a:solidFill>
                            <a:srgbClr val="E8EAED"/>
                          </a:solidFill>
                          <a:latin typeface="Segoe UI"/>
                        </a:rPr>
                        <a:t>Renaming a process bypasses the allow-list</a:t>
                      </a:r>
                    </a:p>
                  </a:txBody>
                  <a:tcPr anchor="t" marL="45720" marR="36576" marT="27432">
                    <a:solidFill>
                      <a:srgbClr val="121820"/>
                    </a:solidFill>
                  </a:tcPr>
                </a:tc>
              </a:tr>
              <a:tr h="402336">
                <a:tc>
                  <a:txBody>
                    <a:bodyPr wrap="square"/>
                    <a:lstStyle/>
                    <a:p>
                      <a:r>
                        <a:rPr sz="1000" b="0">
                          <a:solidFill>
                            <a:srgbClr val="E8EAED"/>
                          </a:solidFill>
                          <a:latin typeface="Segoe UI"/>
                        </a:rPr>
                        <a:t>Mohammed and Ali, 2022</a:t>
                      </a:r>
                    </a:p>
                  </a:txBody>
                  <a:tcPr anchor="t" marL="45720" marR="36576" marT="27432">
                    <a:solidFill>
                      <a:srgbClr val="0E141C"/>
                    </a:solidFill>
                  </a:tcPr>
                </a:tc>
                <a:tc>
                  <a:txBody>
                    <a:bodyPr wrap="square"/>
                    <a:lstStyle/>
                    <a:p>
                      <a:r>
                        <a:rPr sz="1000" b="0">
                          <a:solidFill>
                            <a:srgbClr val="E8EAED"/>
                          </a:solidFill>
                          <a:latin typeface="Segoe UI"/>
                        </a:rPr>
                        <a:t>Case study of Safe Exam Browser with Moodle</a:t>
                      </a:r>
                    </a:p>
                  </a:txBody>
                  <a:tcPr anchor="t" marL="45720" marR="36576" marT="27432">
                    <a:solidFill>
                      <a:srgbClr val="0E141C"/>
                    </a:solidFill>
                  </a:tcPr>
                </a:tc>
                <a:tc>
                  <a:txBody>
                    <a:bodyPr wrap="square"/>
                    <a:lstStyle/>
                    <a:p>
                      <a:r>
                        <a:rPr sz="1000" b="0">
                          <a:solidFill>
                            <a:srgbClr val="E8EAED"/>
                          </a:solidFill>
                          <a:latin typeface="Segoe UI"/>
                        </a:rPr>
                        <a:t>One e-exam, with and without SEB; Wireshark and Registry Changes View</a:t>
                      </a:r>
                    </a:p>
                  </a:txBody>
                  <a:tcPr anchor="t" marL="45720" marR="36576" marT="27432">
                    <a:solidFill>
                      <a:srgbClr val="0E141C"/>
                    </a:solidFill>
                  </a:tcPr>
                </a:tc>
                <a:tc>
                  <a:txBody>
                    <a:bodyPr wrap="square"/>
                    <a:lstStyle/>
                    <a:p>
                      <a:r>
                        <a:rPr sz="1000" b="0">
                          <a:solidFill>
                            <a:srgbClr val="E8EAED"/>
                          </a:solidFill>
                          <a:latin typeface="Segoe UI"/>
                        </a:rPr>
                        <a:t>Local programs, Windows tools, network use</a:t>
                      </a:r>
                    </a:p>
                  </a:txBody>
                  <a:tcPr anchor="t" marL="45720" marR="36576" marT="27432">
                    <a:solidFill>
                      <a:srgbClr val="0E141C"/>
                    </a:solidFill>
                  </a:tcPr>
                </a:tc>
                <a:tc>
                  <a:txBody>
                    <a:bodyPr wrap="square"/>
                    <a:lstStyle/>
                    <a:p>
                      <a:r>
                        <a:rPr sz="1000" b="0">
                          <a:solidFill>
                            <a:srgbClr val="E8EAED"/>
                          </a:solidFill>
                          <a:latin typeface="Segoe UI"/>
                        </a:rPr>
                        <a:t>Lockdown reduces local access and remains bypassable</a:t>
                      </a:r>
                    </a:p>
                  </a:txBody>
                  <a:tcPr anchor="t" marL="45720" marR="36576" marT="27432">
                    <a:solidFill>
                      <a:srgbClr val="0E141C"/>
                    </a:solidFill>
                  </a:tcPr>
                </a:tc>
              </a:tr>
              <a:tr h="402336">
                <a:tc>
                  <a:txBody>
                    <a:bodyPr wrap="square"/>
                    <a:lstStyle/>
                    <a:p>
                      <a:r>
                        <a:rPr sz="1000" b="0">
                          <a:solidFill>
                            <a:srgbClr val="E8EAED"/>
                          </a:solidFill>
                          <a:latin typeface="Segoe UI"/>
                        </a:rPr>
                        <a:t>Slusky, 2020 · foundational</a:t>
                      </a:r>
                    </a:p>
                  </a:txBody>
                  <a:tcPr anchor="t" marL="45720" marR="36576" marT="27432">
                    <a:solidFill>
                      <a:srgbClr val="121820"/>
                    </a:solidFill>
                  </a:tcPr>
                </a:tc>
                <a:tc>
                  <a:txBody>
                    <a:bodyPr wrap="square"/>
                    <a:lstStyle/>
                    <a:p>
                      <a:r>
                        <a:rPr sz="1000" b="0">
                          <a:solidFill>
                            <a:srgbClr val="E8EAED"/>
                          </a:solidFill>
                          <a:latin typeface="Segoe UI"/>
                        </a:rPr>
                        <a:t>Cybersecurity review of proctoring systems</a:t>
                      </a:r>
                    </a:p>
                  </a:txBody>
                  <a:tcPr anchor="t" marL="45720" marR="36576" marT="27432">
                    <a:solidFill>
                      <a:srgbClr val="121820"/>
                    </a:solidFill>
                  </a:tcPr>
                </a:tc>
                <a:tc>
                  <a:txBody>
                    <a:bodyPr wrap="square"/>
                    <a:lstStyle/>
                    <a:p>
                      <a:r>
                        <a:rPr sz="1000" b="0">
                          <a:solidFill>
                            <a:srgbClr val="E8EAED"/>
                          </a:solidFill>
                          <a:latin typeface="Segoe UI"/>
                        </a:rPr>
                        <a:t>Commercial platforms including lockdown browsers</a:t>
                      </a:r>
                    </a:p>
                  </a:txBody>
                  <a:tcPr anchor="t" marL="45720" marR="36576" marT="27432">
                    <a:solidFill>
                      <a:srgbClr val="121820"/>
                    </a:solidFill>
                  </a:tcPr>
                </a:tc>
                <a:tc>
                  <a:txBody>
                    <a:bodyPr wrap="square"/>
                    <a:lstStyle/>
                    <a:p>
                      <a:r>
                        <a:rPr sz="1000" b="0">
                          <a:solidFill>
                            <a:srgbClr val="E8EAED"/>
                          </a:solidFill>
                          <a:latin typeface="Segoe UI"/>
                        </a:rPr>
                        <a:t>Authentication, process control, recording</a:t>
                      </a:r>
                    </a:p>
                  </a:txBody>
                  <a:tcPr anchor="t" marL="45720" marR="36576" marT="27432">
                    <a:solidFill>
                      <a:srgbClr val="121820"/>
                    </a:solidFill>
                  </a:tcPr>
                </a:tc>
                <a:tc>
                  <a:txBody>
                    <a:bodyPr wrap="square"/>
                    <a:lstStyle/>
                    <a:p>
                      <a:r>
                        <a:rPr sz="1000" b="0">
                          <a:solidFill>
                            <a:srgbClr val="E8EAED"/>
                          </a:solidFill>
                          <a:latin typeface="Segoe UI"/>
                        </a:rPr>
                        <a:t>Names the attack surface; does not publish a bypass-resistant rule</a:t>
                      </a:r>
                    </a:p>
                  </a:txBody>
                  <a:tcPr anchor="t" marL="45720" marR="36576" marT="27432">
                    <a:solidFill>
                      <a:srgbClr val="121820"/>
                    </a:solidFill>
                  </a:tcPr>
                </a:tc>
              </a:tr>
            </a:tbl>
          </a:graphicData>
        </a:graphic>
      </p:graphicFrame>
      <p:sp>
        <p:nvSpPr>
          <p:cNvPr id="12" name="TextBox 11"/>
          <p:cNvSpPr txBox="1"/>
          <p:nvPr/>
        </p:nvSpPr>
        <p:spPr>
          <a:xfrm>
            <a:off x="320040" y="5093208"/>
            <a:ext cx="10972800" cy="237744"/>
          </a:xfrm>
          <a:prstGeom prst="rect">
            <a:avLst/>
          </a:prstGeom>
          <a:noFill/>
        </p:spPr>
        <p:txBody>
          <a:bodyPr wrap="square">
            <a:spAutoFit/>
          </a:bodyPr>
          <a:lstStyle/>
          <a:p>
            <a:pPr algn="l"/>
            <a:r>
              <a:rPr sz="1200" b="1">
                <a:solidFill>
                  <a:srgbClr val="B6FF00"/>
                </a:solidFill>
                <a:latin typeface="Cascadia Mono"/>
              </a:rPr>
              <a:t>Browser-only signals</a:t>
            </a:r>
          </a:p>
        </p:txBody>
      </p:sp>
      <p:graphicFrame>
        <p:nvGraphicFramePr>
          <p:cNvPr id="13" name="Table 12"/>
          <p:cNvGraphicFramePr>
            <a:graphicFrameLocks noGrp="1"/>
          </p:cNvGraphicFramePr>
          <p:nvPr/>
        </p:nvGraphicFramePr>
        <p:xfrm>
          <a:off x="256032" y="5349240"/>
          <a:ext cx="11430000" cy="731520"/>
        </p:xfrm>
        <a:graphic>
          <a:graphicData uri="http://schemas.openxmlformats.org/drawingml/2006/table">
            <a:tbl>
              <a:tblPr firstRow="1" bandRow="1">
                <a:tableStyleId>{5C22544A-7EE6-4342-B048-85BDC9FD1C3A}</a:tableStyleId>
              </a:tblPr>
              <a:tblGrid>
                <a:gridCol w="2331720"/>
                <a:gridCol w="2194560"/>
                <a:gridCol w="2286000"/>
                <a:gridCol w="2286000"/>
                <a:gridCol w="2331720"/>
              </a:tblGrid>
              <a:tr h="365760">
                <a:tc>
                  <a:txBody>
                    <a:bodyPr wrap="square"/>
                    <a:lstStyle/>
                    <a:p>
                      <a:r>
                        <a:rPr sz="1000" b="1">
                          <a:solidFill>
                            <a:srgbClr val="0B0F14"/>
                          </a:solidFill>
                          <a:latin typeface="Segoe UI"/>
                        </a:rPr>
                        <a:t>Author and year</a:t>
                      </a:r>
                    </a:p>
                  </a:txBody>
                  <a:tcPr anchor="t" marL="45720" marR="36576" marT="27432">
                    <a:solidFill>
                      <a:srgbClr val="00E5FF"/>
                    </a:solidFill>
                  </a:tcPr>
                </a:tc>
                <a:tc>
                  <a:txBody>
                    <a:bodyPr wrap="square"/>
                    <a:lstStyle/>
                    <a:p>
                      <a:r>
                        <a:rPr sz="1000" b="1">
                          <a:solidFill>
                            <a:srgbClr val="0B0F14"/>
                          </a:solidFill>
                          <a:latin typeface="Segoe UI"/>
                        </a:rPr>
                        <a:t>Method</a:t>
                      </a:r>
                    </a:p>
                  </a:txBody>
                  <a:tcPr anchor="t" marL="45720" marR="36576" marT="27432">
                    <a:solidFill>
                      <a:srgbClr val="00E5FF"/>
                    </a:solidFill>
                  </a:tcPr>
                </a:tc>
                <a:tc>
                  <a:txBody>
                    <a:bodyPr wrap="square"/>
                    <a:lstStyle/>
                    <a:p>
                      <a:r>
                        <a:rPr sz="1000" b="1">
                          <a:solidFill>
                            <a:srgbClr val="0B0F14"/>
                          </a:solidFill>
                          <a:latin typeface="Segoe UI"/>
                        </a:rPr>
                        <a:t>Dataset or testbed</a:t>
                      </a:r>
                    </a:p>
                  </a:txBody>
                  <a:tcPr anchor="t" marL="45720" marR="36576" marT="27432">
                    <a:solidFill>
                      <a:srgbClr val="00E5FF"/>
                    </a:solidFill>
                  </a:tcPr>
                </a:tc>
                <a:tc>
                  <a:txBody>
                    <a:bodyPr wrap="square"/>
                    <a:lstStyle/>
                    <a:p>
                      <a:r>
                        <a:rPr sz="1000" b="1">
                          <a:solidFill>
                            <a:srgbClr val="0B0F14"/>
                          </a:solidFill>
                          <a:latin typeface="Segoe UI"/>
                        </a:rPr>
                        <a:t>Key parameters</a:t>
                      </a:r>
                    </a:p>
                  </a:txBody>
                  <a:tcPr anchor="t" marL="45720" marR="36576" marT="27432">
                    <a:solidFill>
                      <a:srgbClr val="00E5FF"/>
                    </a:solidFill>
                  </a:tcPr>
                </a:tc>
                <a:tc>
                  <a:txBody>
                    <a:bodyPr wrap="square"/>
                    <a:lstStyle/>
                    <a:p>
                      <a:r>
                        <a:rPr sz="1000" b="1">
                          <a:solidFill>
                            <a:srgbClr val="0B0F14"/>
                          </a:solidFill>
                          <a:latin typeface="Segoe UI"/>
                        </a:rPr>
                        <a:t>Limitation</a:t>
                      </a:r>
                    </a:p>
                  </a:txBody>
                  <a:tcPr anchor="t" marL="45720" marR="36576" marT="27432">
                    <a:solidFill>
                      <a:srgbClr val="00E5FF"/>
                    </a:solidFill>
                  </a:tcPr>
                </a:tc>
              </a:tr>
              <a:tr h="365760">
                <a:tc>
                  <a:txBody>
                    <a:bodyPr wrap="square"/>
                    <a:lstStyle/>
                    <a:p>
                      <a:r>
                        <a:rPr sz="1000" b="0">
                          <a:solidFill>
                            <a:srgbClr val="E8EAED"/>
                          </a:solidFill>
                          <a:latin typeface="Segoe UI"/>
                        </a:rPr>
                        <a:t>Diedenhofen and Musch, 2016 · foundational</a:t>
                      </a:r>
                    </a:p>
                  </a:txBody>
                  <a:tcPr anchor="t" marL="45720" marR="36576" marT="27432">
                    <a:solidFill>
                      <a:srgbClr val="121820"/>
                    </a:solidFill>
                  </a:tcPr>
                </a:tc>
                <a:tc>
                  <a:txBody>
                    <a:bodyPr wrap="square"/>
                    <a:lstStyle/>
                    <a:p>
                      <a:r>
                        <a:rPr sz="1000" b="0">
                          <a:solidFill>
                            <a:srgbClr val="E8EAED"/>
                          </a:solidFill>
                          <a:latin typeface="Segoe UI"/>
                        </a:rPr>
                        <a:t>JavaScript page-focus detection</a:t>
                      </a:r>
                    </a:p>
                  </a:txBody>
                  <a:tcPr anchor="t" marL="45720" marR="36576" marT="27432">
                    <a:solidFill>
                      <a:srgbClr val="121820"/>
                    </a:solidFill>
                  </a:tcPr>
                </a:tc>
                <a:tc>
                  <a:txBody>
                    <a:bodyPr wrap="square"/>
                    <a:lstStyle/>
                    <a:p>
                      <a:r>
                        <a:rPr sz="1000" b="0">
                          <a:solidFill>
                            <a:srgbClr val="E8EAED"/>
                          </a:solidFill>
                          <a:latin typeface="Segoe UI"/>
                        </a:rPr>
                        <a:t>Lab plus online samples (115 lab, 186 online; 510 online)</a:t>
                      </a:r>
                    </a:p>
                  </a:txBody>
                  <a:tcPr anchor="t" marL="45720" marR="36576" marT="27432">
                    <a:solidFill>
                      <a:srgbClr val="121820"/>
                    </a:solidFill>
                  </a:tcPr>
                </a:tc>
                <a:tc>
                  <a:txBody>
                    <a:bodyPr wrap="square"/>
                    <a:lstStyle/>
                    <a:p>
                      <a:r>
                        <a:rPr sz="1000" b="0">
                          <a:solidFill>
                            <a:srgbClr val="E8EAED"/>
                          </a:solidFill>
                          <a:latin typeface="Segoe UI"/>
                        </a:rPr>
                        <a:t>Tab and window leave; sensitivity and specificity</a:t>
                      </a:r>
                    </a:p>
                  </a:txBody>
                  <a:tcPr anchor="t" marL="45720" marR="36576" marT="27432">
                    <a:solidFill>
                      <a:srgbClr val="121820"/>
                    </a:solidFill>
                  </a:tcPr>
                </a:tc>
                <a:tc>
                  <a:txBody>
                    <a:bodyPr wrap="square"/>
                    <a:lstStyle/>
                    <a:p>
                      <a:r>
                        <a:rPr sz="1000" b="0">
                          <a:solidFill>
                            <a:srgbClr val="E8EAED"/>
                          </a:solidFill>
                          <a:latin typeface="Segoe UI"/>
                        </a:rPr>
                        <a:t>Knows the page was left, not which application opened</a:t>
                      </a:r>
                    </a:p>
                  </a:txBody>
                  <a:tcPr anchor="t" marL="45720" marR="36576" marT="27432">
                    <a:solidFill>
                      <a:srgbClr val="121820"/>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4"/>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256032"/>
            <a:ext cx="1920240" cy="635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73952"/>
            <a:ext cx="8595360" cy="256032"/>
          </a:xfrm>
          <a:prstGeom prst="rect">
            <a:avLst/>
          </a:prstGeom>
          <a:noFill/>
        </p:spPr>
        <p:txBody>
          <a:bodyPr wrap="square">
            <a:spAutoFit/>
          </a:bodyPr>
          <a:lstStyle/>
          <a:p>
            <a:pPr algn="l"/>
            <a:r>
              <a:rPr sz="1100" b="0">
                <a:solidFill>
                  <a:srgbClr val="8B949E"/>
                </a:solidFill>
                <a:latin typeface="Segoe UI"/>
              </a:rPr>
              <a:t>BACSE291  ·  Innovative Design Project  |  First Review  |  Fall Semester 2026</a:t>
            </a:r>
          </a:p>
        </p:txBody>
      </p:sp>
      <p:sp>
        <p:nvSpPr>
          <p:cNvPr id="5" name="TextBox 4"/>
          <p:cNvSpPr txBox="1"/>
          <p:nvPr/>
        </p:nvSpPr>
        <p:spPr>
          <a:xfrm>
            <a:off x="9326880" y="6473952"/>
            <a:ext cx="2468880" cy="256032"/>
          </a:xfrm>
          <a:prstGeom prst="rect">
            <a:avLst/>
          </a:prstGeom>
          <a:noFill/>
        </p:spPr>
        <p:txBody>
          <a:bodyPr wrap="square">
            <a:spAutoFit/>
          </a:bodyPr>
          <a:lstStyle/>
          <a:p>
            <a:pPr algn="r"/>
            <a:r>
              <a:rPr sz="1100" b="0">
                <a:solidFill>
                  <a:srgbClr val="00E5FF"/>
                </a:solidFill>
                <a:latin typeface="Cascadia Mono"/>
              </a:rPr>
              <a:t>APPENDIX   4</a:t>
            </a:r>
          </a:p>
        </p:txBody>
      </p:sp>
      <p:sp>
        <p:nvSpPr>
          <p:cNvPr id="6" name="TextBox 5"/>
          <p:cNvSpPr txBox="1"/>
          <p:nvPr/>
        </p:nvSpPr>
        <p:spPr>
          <a:xfrm>
            <a:off x="365760" y="347472"/>
            <a:ext cx="10972800" cy="256032"/>
          </a:xfrm>
          <a:prstGeom prst="rect">
            <a:avLst/>
          </a:prstGeom>
          <a:noFill/>
        </p:spPr>
        <p:txBody>
          <a:bodyPr wrap="square">
            <a:spAutoFit/>
          </a:bodyPr>
          <a:lstStyle/>
          <a:p>
            <a:pPr algn="l"/>
            <a:r>
              <a:rPr sz="1200" b="1">
                <a:solidFill>
                  <a:srgbClr val="00E5FF"/>
                </a:solidFill>
                <a:latin typeface="Cascadia Mono"/>
              </a:rPr>
              <a:t>// APPENDIX</a:t>
            </a:r>
          </a:p>
        </p:txBody>
      </p:sp>
      <p:sp>
        <p:nvSpPr>
          <p:cNvPr id="7" name="TextBox 6"/>
          <p:cNvSpPr txBox="1"/>
          <p:nvPr/>
        </p:nvSpPr>
        <p:spPr>
          <a:xfrm>
            <a:off x="365760" y="603504"/>
            <a:ext cx="11338560" cy="457200"/>
          </a:xfrm>
          <a:prstGeom prst="rect">
            <a:avLst/>
          </a:prstGeom>
          <a:noFill/>
        </p:spPr>
        <p:txBody>
          <a:bodyPr wrap="square">
            <a:spAutoFit/>
          </a:bodyPr>
          <a:lstStyle/>
          <a:p>
            <a:pPr algn="l"/>
            <a:r>
              <a:rPr sz="2800" b="1">
                <a:solidFill>
                  <a:srgbClr val="E8EAED"/>
                </a:solidFill>
                <a:latin typeface="Bahnschrift"/>
              </a:rPr>
              <a:t>A4   Webcam and AI proctors  (1/2)</a:t>
            </a:r>
          </a:p>
        </p:txBody>
      </p:sp>
      <p:graphicFrame>
        <p:nvGraphicFramePr>
          <p:cNvPr id="8" name="Table 7"/>
          <p:cNvGraphicFramePr>
            <a:graphicFrameLocks noGrp="1"/>
          </p:cNvGraphicFramePr>
          <p:nvPr/>
        </p:nvGraphicFramePr>
        <p:xfrm>
          <a:off x="256032" y="1188720"/>
          <a:ext cx="11430000" cy="4864608"/>
        </p:xfrm>
        <a:graphic>
          <a:graphicData uri="http://schemas.openxmlformats.org/drawingml/2006/table">
            <a:tbl>
              <a:tblPr firstRow="1" bandRow="1">
                <a:tableStyleId>{5C22544A-7EE6-4342-B048-85BDC9FD1C3A}</a:tableStyleId>
              </a:tblPr>
              <a:tblGrid>
                <a:gridCol w="2331720"/>
                <a:gridCol w="2194560"/>
                <a:gridCol w="2286000"/>
                <a:gridCol w="2286000"/>
                <a:gridCol w="2331720"/>
              </a:tblGrid>
              <a:tr h="540512">
                <a:tc>
                  <a:txBody>
                    <a:bodyPr wrap="square"/>
                    <a:lstStyle/>
                    <a:p>
                      <a:r>
                        <a:rPr sz="1000" b="1">
                          <a:solidFill>
                            <a:srgbClr val="0B0F14"/>
                          </a:solidFill>
                          <a:latin typeface="Segoe UI"/>
                        </a:rPr>
                        <a:t>Author and year</a:t>
                      </a:r>
                    </a:p>
                  </a:txBody>
                  <a:tcPr anchor="t" marL="45720" marR="36576" marT="27432">
                    <a:solidFill>
                      <a:srgbClr val="00E5FF"/>
                    </a:solidFill>
                  </a:tcPr>
                </a:tc>
                <a:tc>
                  <a:txBody>
                    <a:bodyPr wrap="square"/>
                    <a:lstStyle/>
                    <a:p>
                      <a:r>
                        <a:rPr sz="1000" b="1">
                          <a:solidFill>
                            <a:srgbClr val="0B0F14"/>
                          </a:solidFill>
                          <a:latin typeface="Segoe UI"/>
                        </a:rPr>
                        <a:t>Method</a:t>
                      </a:r>
                    </a:p>
                  </a:txBody>
                  <a:tcPr anchor="t" marL="45720" marR="36576" marT="27432">
                    <a:solidFill>
                      <a:srgbClr val="00E5FF"/>
                    </a:solidFill>
                  </a:tcPr>
                </a:tc>
                <a:tc>
                  <a:txBody>
                    <a:bodyPr wrap="square"/>
                    <a:lstStyle/>
                    <a:p>
                      <a:r>
                        <a:rPr sz="1000" b="1">
                          <a:solidFill>
                            <a:srgbClr val="0B0F14"/>
                          </a:solidFill>
                          <a:latin typeface="Segoe UI"/>
                        </a:rPr>
                        <a:t>Dataset or testbed</a:t>
                      </a:r>
                    </a:p>
                  </a:txBody>
                  <a:tcPr anchor="t" marL="45720" marR="36576" marT="27432">
                    <a:solidFill>
                      <a:srgbClr val="00E5FF"/>
                    </a:solidFill>
                  </a:tcPr>
                </a:tc>
                <a:tc>
                  <a:txBody>
                    <a:bodyPr wrap="square"/>
                    <a:lstStyle/>
                    <a:p>
                      <a:r>
                        <a:rPr sz="1000" b="1">
                          <a:solidFill>
                            <a:srgbClr val="0B0F14"/>
                          </a:solidFill>
                          <a:latin typeface="Segoe UI"/>
                        </a:rPr>
                        <a:t>Key parameters</a:t>
                      </a:r>
                    </a:p>
                  </a:txBody>
                  <a:tcPr anchor="t" marL="45720" marR="36576" marT="27432">
                    <a:solidFill>
                      <a:srgbClr val="00E5FF"/>
                    </a:solidFill>
                  </a:tcPr>
                </a:tc>
                <a:tc>
                  <a:txBody>
                    <a:bodyPr wrap="square"/>
                    <a:lstStyle/>
                    <a:p>
                      <a:r>
                        <a:rPr sz="1000" b="1">
                          <a:solidFill>
                            <a:srgbClr val="0B0F14"/>
                          </a:solidFill>
                          <a:latin typeface="Segoe UI"/>
                        </a:rPr>
                        <a:t>Limitation</a:t>
                      </a:r>
                    </a:p>
                  </a:txBody>
                  <a:tcPr anchor="t" marL="45720" marR="36576" marT="27432">
                    <a:solidFill>
                      <a:srgbClr val="00E5FF"/>
                    </a:solidFill>
                  </a:tcPr>
                </a:tc>
              </a:tr>
              <a:tr h="540512">
                <a:tc>
                  <a:txBody>
                    <a:bodyPr wrap="square"/>
                    <a:lstStyle/>
                    <a:p>
                      <a:r>
                        <a:rPr sz="1000" b="0">
                          <a:solidFill>
                            <a:srgbClr val="E8EAED"/>
                          </a:solidFill>
                          <a:latin typeface="Segoe UI"/>
                        </a:rPr>
                        <a:t>Atoum, Chen, Liu, Hsu and Liu, 2017 · foundational</a:t>
                      </a:r>
                    </a:p>
                  </a:txBody>
                  <a:tcPr anchor="t" marL="45720" marR="36576" marT="27432">
                    <a:solidFill>
                      <a:srgbClr val="121820"/>
                    </a:solidFill>
                  </a:tcPr>
                </a:tc>
                <a:tc>
                  <a:txBody>
                    <a:bodyPr wrap="square"/>
                    <a:lstStyle/>
                    <a:p>
                      <a:r>
                        <a:rPr sz="1000" b="0">
                          <a:solidFill>
                            <a:srgbClr val="E8EAED"/>
                          </a:solidFill>
                          <a:latin typeface="Segoe UI"/>
                        </a:rPr>
                        <a:t>Multimodal biometric proctor: webcam, wearcam, microphone</a:t>
                      </a:r>
                    </a:p>
                  </a:txBody>
                  <a:tcPr anchor="t" marL="45720" marR="36576" marT="27432">
                    <a:solidFill>
                      <a:srgbClr val="121820"/>
                    </a:solidFill>
                  </a:tcPr>
                </a:tc>
                <a:tc>
                  <a:txBody>
                    <a:bodyPr wrap="square"/>
                    <a:lstStyle/>
                    <a:p>
                      <a:r>
                        <a:rPr sz="1000" b="0">
                          <a:solidFill>
                            <a:srgbClr val="E8EAED"/>
                          </a:solidFill>
                          <a:latin typeface="Segoe UI"/>
                        </a:rPr>
                        <a:t>24 subjects</a:t>
                      </a:r>
                    </a:p>
                  </a:txBody>
                  <a:tcPr anchor="t" marL="45720" marR="36576" marT="27432">
                    <a:solidFill>
                      <a:srgbClr val="121820"/>
                    </a:solidFill>
                  </a:tcPr>
                </a:tc>
                <a:tc>
                  <a:txBody>
                    <a:bodyPr wrap="square"/>
                    <a:lstStyle/>
                    <a:p>
                      <a:r>
                        <a:rPr sz="1000" b="0">
                          <a:solidFill>
                            <a:srgbClr val="E8EAED"/>
                          </a:solidFill>
                          <a:latin typeface="Segoe UI"/>
                        </a:rPr>
                        <a:t>Six visual and audio components</a:t>
                      </a:r>
                    </a:p>
                  </a:txBody>
                  <a:tcPr anchor="t" marL="45720" marR="36576" marT="27432">
                    <a:solidFill>
                      <a:srgbClr val="121820"/>
                    </a:solidFill>
                  </a:tcPr>
                </a:tc>
                <a:tc>
                  <a:txBody>
                    <a:bodyPr wrap="square"/>
                    <a:lstStyle/>
                    <a:p>
                      <a:r>
                        <a:rPr sz="1000" b="0">
                          <a:solidFill>
                            <a:srgbClr val="E8EAED"/>
                          </a:solidFill>
                          <a:latin typeface="Segoe UI"/>
                        </a:rPr>
                        <a:t>Requires biometrics and a second camera</a:t>
                      </a:r>
                    </a:p>
                  </a:txBody>
                  <a:tcPr anchor="t" marL="45720" marR="36576" marT="27432">
                    <a:solidFill>
                      <a:srgbClr val="121820"/>
                    </a:solidFill>
                  </a:tcPr>
                </a:tc>
              </a:tr>
              <a:tr h="540512">
                <a:tc>
                  <a:txBody>
                    <a:bodyPr wrap="square"/>
                    <a:lstStyle/>
                    <a:p>
                      <a:r>
                        <a:rPr sz="1000" b="0">
                          <a:solidFill>
                            <a:srgbClr val="E8EAED"/>
                          </a:solidFill>
                          <a:latin typeface="Segoe UI"/>
                        </a:rPr>
                        <a:t>Bergmans, Bouali, Luttikhuis and Rensink, 2021</a:t>
                      </a:r>
                    </a:p>
                  </a:txBody>
                  <a:tcPr anchor="t" marL="45720" marR="36576" marT="27432">
                    <a:solidFill>
                      <a:srgbClr val="0E141C"/>
                    </a:solidFill>
                  </a:tcPr>
                </a:tc>
                <a:tc>
                  <a:txBody>
                    <a:bodyPr wrap="square"/>
                    <a:lstStyle/>
                    <a:p>
                      <a:r>
                        <a:rPr sz="1000" b="0">
                          <a:solidFill>
                            <a:srgbClr val="E8EAED"/>
                          </a:solidFill>
                          <a:latin typeface="Segoe UI"/>
                        </a:rPr>
                        <a:t>Controlled experiment with an AI proctor</a:t>
                      </a:r>
                    </a:p>
                  </a:txBody>
                  <a:tcPr anchor="t" marL="45720" marR="36576" marT="27432">
                    <a:solidFill>
                      <a:srgbClr val="0E141C"/>
                    </a:solidFill>
                  </a:tcPr>
                </a:tc>
                <a:tc>
                  <a:txBody>
                    <a:bodyPr wrap="square"/>
                    <a:lstStyle/>
                    <a:p>
                      <a:r>
                        <a:rPr sz="1000" b="0">
                          <a:solidFill>
                            <a:srgbClr val="E8EAED"/>
                          </a:solidFill>
                          <a:latin typeface="Segoe UI"/>
                        </a:rPr>
                        <a:t>30 computer-science students; 6 asked to cheat</a:t>
                      </a:r>
                    </a:p>
                  </a:txBody>
                  <a:tcPr anchor="t" marL="45720" marR="36576" marT="27432">
                    <a:solidFill>
                      <a:srgbClr val="0E141C"/>
                    </a:solidFill>
                  </a:tcPr>
                </a:tc>
                <a:tc>
                  <a:txBody>
                    <a:bodyPr wrap="square"/>
                    <a:lstStyle/>
                    <a:p>
                      <a:r>
                        <a:rPr sz="1000" b="0">
                          <a:solidFill>
                            <a:srgbClr val="E8EAED"/>
                          </a:solidFill>
                          <a:latin typeface="Segoe UI"/>
                        </a:rPr>
                        <a:t>Automatic flags versus a later human check</a:t>
                      </a:r>
                    </a:p>
                  </a:txBody>
                  <a:tcPr anchor="t" marL="45720" marR="36576" marT="27432">
                    <a:solidFill>
                      <a:srgbClr val="0E141C"/>
                    </a:solidFill>
                  </a:tcPr>
                </a:tc>
                <a:tc>
                  <a:txBody>
                    <a:bodyPr wrap="square"/>
                    <a:lstStyle/>
                    <a:p>
                      <a:r>
                        <a:rPr sz="1000" b="0">
                          <a:solidFill>
                            <a:srgbClr val="E8EAED"/>
                          </a:solidFill>
                          <a:latin typeface="Segoe UI"/>
                        </a:rPr>
                        <a:t>The model flagged none of the six cheaters</a:t>
                      </a:r>
                    </a:p>
                  </a:txBody>
                  <a:tcPr anchor="t" marL="45720" marR="36576" marT="27432">
                    <a:solidFill>
                      <a:srgbClr val="0E141C"/>
                    </a:solidFill>
                  </a:tcPr>
                </a:tc>
              </a:tr>
              <a:tr h="540512">
                <a:tc>
                  <a:txBody>
                    <a:bodyPr wrap="square"/>
                    <a:lstStyle/>
                    <a:p>
                      <a:r>
                        <a:rPr sz="1000" b="0">
                          <a:solidFill>
                            <a:srgbClr val="E8EAED"/>
                          </a:solidFill>
                          <a:latin typeface="Segoe UI"/>
                        </a:rPr>
                        <a:t>Erdem and Karabatak, 2025</a:t>
                      </a:r>
                    </a:p>
                  </a:txBody>
                  <a:tcPr anchor="t" marL="45720" marR="36576" marT="27432">
                    <a:solidFill>
                      <a:srgbClr val="121820"/>
                    </a:solidFill>
                  </a:tcPr>
                </a:tc>
                <a:tc>
                  <a:txBody>
                    <a:bodyPr wrap="square"/>
                    <a:lstStyle/>
                    <a:p>
                      <a:r>
                        <a:rPr sz="1000" b="0">
                          <a:solidFill>
                            <a:srgbClr val="E8EAED"/>
                          </a:solidFill>
                          <a:latin typeface="Segoe UI"/>
                        </a:rPr>
                        <a:t>Deep-learning and machine-learning classifiers</a:t>
                      </a:r>
                    </a:p>
                  </a:txBody>
                  <a:tcPr anchor="t" marL="45720" marR="36576" marT="27432">
                    <a:solidFill>
                      <a:srgbClr val="121820"/>
                    </a:solidFill>
                  </a:tcPr>
                </a:tc>
                <a:tc>
                  <a:txBody>
                    <a:bodyPr wrap="square"/>
                    <a:lstStyle/>
                    <a:p>
                      <a:r>
                        <a:rPr sz="1000" b="0">
                          <a:solidFill>
                            <a:srgbClr val="E8EAED"/>
                          </a:solidFill>
                          <a:latin typeface="Segoe UI"/>
                        </a:rPr>
                        <a:t>Visual behaviour in online exams</a:t>
                      </a:r>
                    </a:p>
                  </a:txBody>
                  <a:tcPr anchor="t" marL="45720" marR="36576" marT="27432">
                    <a:solidFill>
                      <a:srgbClr val="121820"/>
                    </a:solidFill>
                  </a:tcPr>
                </a:tc>
                <a:tc>
                  <a:txBody>
                    <a:bodyPr wrap="square"/>
                    <a:lstStyle/>
                    <a:p>
                      <a:r>
                        <a:rPr sz="1000" b="0">
                          <a:solidFill>
                            <a:srgbClr val="E8EAED"/>
                          </a:solidFill>
                          <a:latin typeface="Segoe UI"/>
                        </a:rPr>
                        <a:t>XGBoost with SHAP and LIME explanations</a:t>
                      </a:r>
                    </a:p>
                  </a:txBody>
                  <a:tcPr anchor="t" marL="45720" marR="36576" marT="27432">
                    <a:solidFill>
                      <a:srgbClr val="121820"/>
                    </a:solidFill>
                  </a:tcPr>
                </a:tc>
                <a:tc>
                  <a:txBody>
                    <a:bodyPr wrap="square"/>
                    <a:lstStyle/>
                    <a:p>
                      <a:r>
                        <a:rPr sz="1000" b="0">
                          <a:solidFill>
                            <a:srgbClr val="E8EAED"/>
                          </a:solidFill>
                          <a:latin typeface="Segoe UI"/>
                        </a:rPr>
                        <a:t>The explanation is added after the decision, and the cues are visual</a:t>
                      </a:r>
                    </a:p>
                  </a:txBody>
                  <a:tcPr anchor="t" marL="45720" marR="36576" marT="27432">
                    <a:solidFill>
                      <a:srgbClr val="121820"/>
                    </a:solidFill>
                  </a:tcPr>
                </a:tc>
              </a:tr>
              <a:tr h="540512">
                <a:tc>
                  <a:txBody>
                    <a:bodyPr wrap="square"/>
                    <a:lstStyle/>
                    <a:p>
                      <a:r>
                        <a:rPr sz="1000" b="0">
                          <a:solidFill>
                            <a:srgbClr val="E8EAED"/>
                          </a:solidFill>
                          <a:latin typeface="Segoe UI"/>
                        </a:rPr>
                        <a:t>Fidas, Belk, Constantinides, Portugal, Martins, Pietron, Pitsillides and Avouri…</a:t>
                      </a:r>
                    </a:p>
                  </a:txBody>
                  <a:tcPr anchor="t" marL="45720" marR="36576" marT="27432">
                    <a:solidFill>
                      <a:srgbClr val="0E141C"/>
                    </a:solidFill>
                  </a:tcPr>
                </a:tc>
                <a:tc>
                  <a:txBody>
                    <a:bodyPr wrap="square"/>
                    <a:lstStyle/>
                    <a:p>
                      <a:r>
                        <a:rPr sz="1000" b="0">
                          <a:solidFill>
                            <a:srgbClr val="E8EAED"/>
                          </a:solidFill>
                          <a:latin typeface="Segoe UI"/>
                        </a:rPr>
                        <a:t>Longitudinal study of continuous identity checks</a:t>
                      </a:r>
                    </a:p>
                  </a:txBody>
                  <a:tcPr anchor="t" marL="45720" marR="36576" marT="27432">
                    <a:solidFill>
                      <a:srgbClr val="0E141C"/>
                    </a:solidFill>
                  </a:tcPr>
                </a:tc>
                <a:tc>
                  <a:txBody>
                    <a:bodyPr wrap="square"/>
                    <a:lstStyle/>
                    <a:p>
                      <a:r>
                        <a:rPr sz="1000" b="0">
                          <a:solidFill>
                            <a:srgbClr val="E8EAED"/>
                          </a:solidFill>
                          <a:latin typeface="Segoe UI"/>
                        </a:rPr>
                        <a:t>TRUSTID proof of concept in tertiary settings</a:t>
                      </a:r>
                    </a:p>
                  </a:txBody>
                  <a:tcPr anchor="t" marL="45720" marR="36576" marT="27432">
                    <a:solidFill>
                      <a:srgbClr val="0E141C"/>
                    </a:solidFill>
                  </a:tcPr>
                </a:tc>
                <a:tc>
                  <a:txBody>
                    <a:bodyPr wrap="square"/>
                    <a:lstStyle/>
                    <a:p>
                      <a:r>
                        <a:rPr sz="1000" b="0">
                          <a:solidFill>
                            <a:srgbClr val="E8EAED"/>
                          </a:solidFill>
                          <a:latin typeface="Segoe UI"/>
                        </a:rPr>
                        <a:t>Face embedding and voice identification</a:t>
                      </a:r>
                    </a:p>
                  </a:txBody>
                  <a:tcPr anchor="t" marL="45720" marR="36576" marT="27432">
                    <a:solidFill>
                      <a:srgbClr val="0E141C"/>
                    </a:solidFill>
                  </a:tcPr>
                </a:tc>
                <a:tc>
                  <a:txBody>
                    <a:bodyPr wrap="square"/>
                    <a:lstStyle/>
                    <a:p>
                      <a:r>
                        <a:rPr sz="1000" b="0">
                          <a:solidFill>
                            <a:srgbClr val="E8EAED"/>
                          </a:solidFill>
                          <a:latin typeface="Segoe UI"/>
                        </a:rPr>
                        <a:t>Still depends on face and voice, which this project will not collect</a:t>
                      </a:r>
                    </a:p>
                  </a:txBody>
                  <a:tcPr anchor="t" marL="45720" marR="36576" marT="27432">
                    <a:solidFill>
                      <a:srgbClr val="0E141C"/>
                    </a:solidFill>
                  </a:tcPr>
                </a:tc>
              </a:tr>
              <a:tr h="540512">
                <a:tc>
                  <a:txBody>
                    <a:bodyPr wrap="square"/>
                    <a:lstStyle/>
                    <a:p>
                      <a:r>
                        <a:rPr sz="1000" b="0">
                          <a:solidFill>
                            <a:srgbClr val="E8EAED"/>
                          </a:solidFill>
                          <a:latin typeface="Segoe UI"/>
                        </a:rPr>
                        <a:t>Hylton, Levy and Dringus, 2016 · foundational</a:t>
                      </a:r>
                    </a:p>
                  </a:txBody>
                  <a:tcPr anchor="t" marL="45720" marR="36576" marT="27432">
                    <a:solidFill>
                      <a:srgbClr val="121820"/>
                    </a:solidFill>
                  </a:tcPr>
                </a:tc>
                <a:tc>
                  <a:txBody>
                    <a:bodyPr wrap="square"/>
                    <a:lstStyle/>
                    <a:p>
                      <a:r>
                        <a:rPr sz="1000" b="0">
                          <a:solidFill>
                            <a:srgbClr val="E8EAED"/>
                          </a:solidFill>
                          <a:latin typeface="Segoe UI"/>
                        </a:rPr>
                        <a:t>Webcam as a deterrent</a:t>
                      </a:r>
                    </a:p>
                  </a:txBody>
                  <a:tcPr anchor="t" marL="45720" marR="36576" marT="27432">
                    <a:solidFill>
                      <a:srgbClr val="121820"/>
                    </a:solidFill>
                  </a:tcPr>
                </a:tc>
                <a:tc>
                  <a:txBody>
                    <a:bodyPr wrap="square"/>
                    <a:lstStyle/>
                    <a:p>
                      <a:r>
                        <a:rPr sz="1000" b="0">
                          <a:solidFill>
                            <a:srgbClr val="E8EAED"/>
                          </a:solidFill>
                          <a:latin typeface="Segoe UI"/>
                        </a:rPr>
                        <a:t>Online exam with and without a webcam</a:t>
                      </a:r>
                    </a:p>
                  </a:txBody>
                  <a:tcPr anchor="t" marL="45720" marR="36576" marT="27432">
                    <a:solidFill>
                      <a:srgbClr val="121820"/>
                    </a:solidFill>
                  </a:tcPr>
                </a:tc>
                <a:tc>
                  <a:txBody>
                    <a:bodyPr wrap="square"/>
                    <a:lstStyle/>
                    <a:p>
                      <a:r>
                        <a:rPr sz="1000" b="0">
                          <a:solidFill>
                            <a:srgbClr val="E8EAED"/>
                          </a:solidFill>
                          <a:latin typeface="Segoe UI"/>
                        </a:rPr>
                        <a:t>Misconduct and the feeling of being watched</a:t>
                      </a:r>
                    </a:p>
                  </a:txBody>
                  <a:tcPr anchor="t" marL="45720" marR="36576" marT="27432">
                    <a:solidFill>
                      <a:srgbClr val="121820"/>
                    </a:solidFill>
                  </a:tcPr>
                </a:tc>
                <a:tc>
                  <a:txBody>
                    <a:bodyPr wrap="square"/>
                    <a:lstStyle/>
                    <a:p>
                      <a:r>
                        <a:rPr sz="1000" b="0">
                          <a:solidFill>
                            <a:srgbClr val="E8EAED"/>
                          </a:solidFill>
                          <a:latin typeface="Segoe UI"/>
                        </a:rPr>
                        <a:t>Surveillance, not an explainable score</a:t>
                      </a:r>
                    </a:p>
                  </a:txBody>
                  <a:tcPr anchor="t" marL="45720" marR="36576" marT="27432">
                    <a:solidFill>
                      <a:srgbClr val="121820"/>
                    </a:solidFill>
                  </a:tcPr>
                </a:tc>
              </a:tr>
              <a:tr h="540512">
                <a:tc>
                  <a:txBody>
                    <a:bodyPr wrap="square"/>
                    <a:lstStyle/>
                    <a:p>
                      <a:r>
                        <a:rPr sz="1000" b="0">
                          <a:solidFill>
                            <a:srgbClr val="E8EAED"/>
                          </a:solidFill>
                          <a:latin typeface="Segoe UI"/>
                        </a:rPr>
                        <a:t>Labayen, Vea, Flórez, Aginako and Sierra, 2021</a:t>
                      </a:r>
                    </a:p>
                  </a:txBody>
                  <a:tcPr anchor="t" marL="45720" marR="36576" marT="27432">
                    <a:solidFill>
                      <a:srgbClr val="0E141C"/>
                    </a:solidFill>
                  </a:tcPr>
                </a:tc>
                <a:tc>
                  <a:txBody>
                    <a:bodyPr wrap="square"/>
                    <a:lstStyle/>
                    <a:p>
                      <a:r>
                        <a:rPr sz="1000" b="0">
                          <a:solidFill>
                            <a:srgbClr val="E8EAED"/>
                          </a:solidFill>
                          <a:latin typeface="Segoe UI"/>
                        </a:rPr>
                        <a:t>System paper: continuous multimodal biometrics</a:t>
                      </a:r>
                    </a:p>
                  </a:txBody>
                  <a:tcPr anchor="t" marL="45720" marR="36576" marT="27432">
                    <a:solidFill>
                      <a:srgbClr val="0E141C"/>
                    </a:solidFill>
                  </a:tcPr>
                </a:tc>
                <a:tc>
                  <a:txBody>
                    <a:bodyPr wrap="square"/>
                    <a:lstStyle/>
                    <a:p>
                      <a:r>
                        <a:rPr sz="1000" b="0">
                          <a:solidFill>
                            <a:srgbClr val="E8EAED"/>
                          </a:solidFill>
                          <a:latin typeface="Segoe UI"/>
                        </a:rPr>
                        <a:t>SMOWL deployment; usability and privacy survey</a:t>
                      </a:r>
                    </a:p>
                  </a:txBody>
                  <a:tcPr anchor="t" marL="45720" marR="36576" marT="27432">
                    <a:solidFill>
                      <a:srgbClr val="0E141C"/>
                    </a:solidFill>
                  </a:tcPr>
                </a:tc>
                <a:tc>
                  <a:txBody>
                    <a:bodyPr wrap="square"/>
                    <a:lstStyle/>
                    <a:p>
                      <a:r>
                        <a:rPr sz="1000" b="0">
                          <a:solidFill>
                            <a:srgbClr val="E8EAED"/>
                          </a:solidFill>
                          <a:latin typeface="Segoe UI"/>
                        </a:rPr>
                        <a:t>Face, voice, typing, lockdown, human review of uncertain cases</a:t>
                      </a:r>
                    </a:p>
                  </a:txBody>
                  <a:tcPr anchor="t" marL="45720" marR="36576" marT="27432">
                    <a:solidFill>
                      <a:srgbClr val="0E141C"/>
                    </a:solidFill>
                  </a:tcPr>
                </a:tc>
                <a:tc>
                  <a:txBody>
                    <a:bodyPr wrap="square"/>
                    <a:lstStyle/>
                    <a:p>
                      <a:r>
                        <a:rPr sz="1000" b="0">
                          <a:solidFill>
                            <a:srgbClr val="E8EAED"/>
                          </a:solidFill>
                          <a:latin typeface="Segoe UI"/>
                        </a:rPr>
                        <a:t>Identity is biometric, and the paper is from the vendor's authors</a:t>
                      </a:r>
                    </a:p>
                  </a:txBody>
                  <a:tcPr anchor="t" marL="45720" marR="36576" marT="27432">
                    <a:solidFill>
                      <a:srgbClr val="0E141C"/>
                    </a:solidFill>
                  </a:tcPr>
                </a:tc>
              </a:tr>
              <a:tr h="540512">
                <a:tc>
                  <a:txBody>
                    <a:bodyPr wrap="square"/>
                    <a:lstStyle/>
                    <a:p>
                      <a:r>
                        <a:rPr sz="1000" b="0">
                          <a:solidFill>
                            <a:srgbClr val="E8EAED"/>
                          </a:solidFill>
                          <a:latin typeface="Segoe UI"/>
                        </a:rPr>
                        <a:t>Li, Chang, Yuan and Hauptmann, 2015 · foundational</a:t>
                      </a:r>
                    </a:p>
                  </a:txBody>
                  <a:tcPr anchor="t" marL="45720" marR="36576" marT="27432">
                    <a:solidFill>
                      <a:srgbClr val="121820"/>
                    </a:solidFill>
                  </a:tcPr>
                </a:tc>
                <a:tc>
                  <a:txBody>
                    <a:bodyPr wrap="square"/>
                    <a:lstStyle/>
                    <a:p>
                      <a:r>
                        <a:rPr sz="1000" b="0">
                          <a:solidFill>
                            <a:srgbClr val="E8EAED"/>
                          </a:solidFill>
                          <a:latin typeface="Segoe UI"/>
                        </a:rPr>
                        <a:t>Early automated MOOC proctor</a:t>
                      </a:r>
                    </a:p>
                  </a:txBody>
                  <a:tcPr anchor="t" marL="45720" marR="36576" marT="27432">
                    <a:solidFill>
                      <a:srgbClr val="121820"/>
                    </a:solidFill>
                  </a:tcPr>
                </a:tc>
                <a:tc>
                  <a:txBody>
                    <a:bodyPr wrap="square"/>
                    <a:lstStyle/>
                    <a:p>
                      <a:r>
                        <a:rPr sz="1000" b="0">
                          <a:solidFill>
                            <a:srgbClr val="E8EAED"/>
                          </a:solidFill>
                          <a:latin typeface="Segoe UI"/>
                        </a:rPr>
                        <a:t>Video of exam behaviour</a:t>
                      </a:r>
                    </a:p>
                  </a:txBody>
                  <a:tcPr anchor="t" marL="45720" marR="36576" marT="27432">
                    <a:solidFill>
                      <a:srgbClr val="121820"/>
                    </a:solidFill>
                  </a:tcPr>
                </a:tc>
                <a:tc>
                  <a:txBody>
                    <a:bodyPr wrap="square"/>
                    <a:lstStyle/>
                    <a:p>
                      <a:r>
                        <a:rPr sz="1000" b="0">
                          <a:solidFill>
                            <a:srgbClr val="E8EAED"/>
                          </a:solidFill>
                          <a:latin typeface="Segoe UI"/>
                        </a:rPr>
                        <a:t>Visual cues of suspicious behaviour</a:t>
                      </a:r>
                    </a:p>
                  </a:txBody>
                  <a:tcPr anchor="t" marL="45720" marR="36576" marT="27432">
                    <a:solidFill>
                      <a:srgbClr val="121820"/>
                    </a:solidFill>
                  </a:tcPr>
                </a:tc>
                <a:tc>
                  <a:txBody>
                    <a:bodyPr wrap="square"/>
                    <a:lstStyle/>
                    <a:p>
                      <a:r>
                        <a:rPr sz="1000" b="0">
                          <a:solidFill>
                            <a:srgbClr val="E8EAED"/>
                          </a:solidFill>
                          <a:latin typeface="Segoe UI"/>
                        </a:rPr>
                        <a:t>An early biometric line, with no published non-visual rule</a:t>
                      </a:r>
                    </a:p>
                  </a:txBody>
                  <a:tcPr anchor="t" marL="45720" marR="36576" marT="27432">
                    <a:solidFill>
                      <a:srgbClr val="121820"/>
                    </a:solidFill>
                  </a:tcPr>
                </a:tc>
              </a:tr>
              <a:tr h="540512">
                <a:tc>
                  <a:txBody>
                    <a:bodyPr wrap="square"/>
                    <a:lstStyle/>
                    <a:p>
                      <a:r>
                        <a:rPr sz="1000" b="0">
                          <a:solidFill>
                            <a:srgbClr val="E8EAED"/>
                          </a:solidFill>
                          <a:latin typeface="Segoe UI"/>
                        </a:rPr>
                        <a:t>Nurpeisova, Shaushenova, Mutalova, Zulpykhar, Ongarbayeva, Niyazbekova, Semenov…</a:t>
                      </a:r>
                    </a:p>
                  </a:txBody>
                  <a:tcPr anchor="t" marL="45720" marR="36576" marT="27432">
                    <a:solidFill>
                      <a:srgbClr val="0E141C"/>
                    </a:solidFill>
                  </a:tcPr>
                </a:tc>
                <a:tc>
                  <a:txBody>
                    <a:bodyPr wrap="square"/>
                    <a:lstStyle/>
                    <a:p>
                      <a:r>
                        <a:rPr sz="1000" b="0">
                          <a:solidFill>
                            <a:srgbClr val="E8EAED"/>
                          </a:solidFill>
                          <a:latin typeface="Segoe UI"/>
                        </a:rPr>
                        <a:t>Comparison of face-recognition models</a:t>
                      </a:r>
                    </a:p>
                  </a:txBody>
                  <a:tcPr anchor="t" marL="45720" marR="36576" marT="27432">
                    <a:solidFill>
                      <a:srgbClr val="0E141C"/>
                    </a:solidFill>
                  </a:tcPr>
                </a:tc>
                <a:tc>
                  <a:txBody>
                    <a:bodyPr wrap="square"/>
                    <a:lstStyle/>
                    <a:p>
                      <a:r>
                        <a:rPr sz="1000" b="0">
                          <a:solidFill>
                            <a:srgbClr val="E8EAED"/>
                          </a:solidFill>
                          <a:latin typeface="Segoe UI"/>
                        </a:rPr>
                        <a:t>Proctoring prototypes for online exams</a:t>
                      </a:r>
                    </a:p>
                  </a:txBody>
                  <a:tcPr anchor="t" marL="45720" marR="36576" marT="27432">
                    <a:solidFill>
                      <a:srgbClr val="0E141C"/>
                    </a:solidFill>
                  </a:tcPr>
                </a:tc>
                <a:tc>
                  <a:txBody>
                    <a:bodyPr wrap="square"/>
                    <a:lstStyle/>
                    <a:p>
                      <a:r>
                        <a:rPr sz="1000" b="0">
                          <a:solidFill>
                            <a:srgbClr val="E8EAED"/>
                          </a:solidFill>
                          <a:latin typeface="Segoe UI"/>
                        </a:rPr>
                        <a:t>Face-recognition accuracy</a:t>
                      </a:r>
                    </a:p>
                  </a:txBody>
                  <a:tcPr anchor="t" marL="45720" marR="36576" marT="27432">
                    <a:solidFill>
                      <a:srgbClr val="0E141C"/>
                    </a:solidFill>
                  </a:tcPr>
                </a:tc>
                <a:tc>
                  <a:txBody>
                    <a:bodyPr wrap="square"/>
                    <a:lstStyle/>
                    <a:p>
                      <a:r>
                        <a:rPr sz="1000" b="0">
                          <a:solidFill>
                            <a:srgbClr val="E8EAED"/>
                          </a:solidFill>
                          <a:latin typeface="Segoe UI"/>
                        </a:rPr>
                        <a:t>The detector is the face</a:t>
                      </a:r>
                    </a:p>
                  </a:txBody>
                  <a:tcPr anchor="t" marL="45720" marR="36576" marT="27432">
                    <a:solidFill>
                      <a:srgbClr val="0E141C"/>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4"/>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256032"/>
            <a:ext cx="1920240" cy="635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73952"/>
            <a:ext cx="8595360" cy="256032"/>
          </a:xfrm>
          <a:prstGeom prst="rect">
            <a:avLst/>
          </a:prstGeom>
          <a:noFill/>
        </p:spPr>
        <p:txBody>
          <a:bodyPr wrap="square">
            <a:spAutoFit/>
          </a:bodyPr>
          <a:lstStyle/>
          <a:p>
            <a:pPr algn="l"/>
            <a:r>
              <a:rPr sz="1100" b="0">
                <a:solidFill>
                  <a:srgbClr val="8B949E"/>
                </a:solidFill>
                <a:latin typeface="Segoe UI"/>
              </a:rPr>
              <a:t>BACSE291  ·  Innovative Design Project  |  First Review  |  Fall Semester 2026</a:t>
            </a:r>
          </a:p>
        </p:txBody>
      </p:sp>
      <p:sp>
        <p:nvSpPr>
          <p:cNvPr id="5" name="TextBox 4"/>
          <p:cNvSpPr txBox="1"/>
          <p:nvPr/>
        </p:nvSpPr>
        <p:spPr>
          <a:xfrm>
            <a:off x="9326880" y="6473952"/>
            <a:ext cx="2468880" cy="256032"/>
          </a:xfrm>
          <a:prstGeom prst="rect">
            <a:avLst/>
          </a:prstGeom>
          <a:noFill/>
        </p:spPr>
        <p:txBody>
          <a:bodyPr wrap="square">
            <a:spAutoFit/>
          </a:bodyPr>
          <a:lstStyle/>
          <a:p>
            <a:pPr algn="r"/>
            <a:r>
              <a:rPr sz="1100" b="0">
                <a:solidFill>
                  <a:srgbClr val="00E5FF"/>
                </a:solidFill>
                <a:latin typeface="Cascadia Mono"/>
              </a:rPr>
              <a:t>APPENDIX   5</a:t>
            </a:r>
          </a:p>
        </p:txBody>
      </p:sp>
      <p:sp>
        <p:nvSpPr>
          <p:cNvPr id="6" name="TextBox 5"/>
          <p:cNvSpPr txBox="1"/>
          <p:nvPr/>
        </p:nvSpPr>
        <p:spPr>
          <a:xfrm>
            <a:off x="365760" y="347472"/>
            <a:ext cx="10972800" cy="256032"/>
          </a:xfrm>
          <a:prstGeom prst="rect">
            <a:avLst/>
          </a:prstGeom>
          <a:noFill/>
        </p:spPr>
        <p:txBody>
          <a:bodyPr wrap="square">
            <a:spAutoFit/>
          </a:bodyPr>
          <a:lstStyle/>
          <a:p>
            <a:pPr algn="l"/>
            <a:r>
              <a:rPr sz="1200" b="1">
                <a:solidFill>
                  <a:srgbClr val="00E5FF"/>
                </a:solidFill>
                <a:latin typeface="Cascadia Mono"/>
              </a:rPr>
              <a:t>// APPENDIX</a:t>
            </a:r>
          </a:p>
        </p:txBody>
      </p:sp>
      <p:sp>
        <p:nvSpPr>
          <p:cNvPr id="7" name="TextBox 6"/>
          <p:cNvSpPr txBox="1"/>
          <p:nvPr/>
        </p:nvSpPr>
        <p:spPr>
          <a:xfrm>
            <a:off x="365760" y="603504"/>
            <a:ext cx="11338560" cy="457200"/>
          </a:xfrm>
          <a:prstGeom prst="rect">
            <a:avLst/>
          </a:prstGeom>
          <a:noFill/>
        </p:spPr>
        <p:txBody>
          <a:bodyPr wrap="square">
            <a:spAutoFit/>
          </a:bodyPr>
          <a:lstStyle/>
          <a:p>
            <a:pPr algn="l"/>
            <a:r>
              <a:rPr sz="2800" b="1">
                <a:solidFill>
                  <a:srgbClr val="E8EAED"/>
                </a:solidFill>
                <a:latin typeface="Bahnschrift"/>
              </a:rPr>
              <a:t>A4   Webcam and AI proctors  (2/2)</a:t>
            </a:r>
          </a:p>
        </p:txBody>
      </p:sp>
      <p:graphicFrame>
        <p:nvGraphicFramePr>
          <p:cNvPr id="8" name="Table 7"/>
          <p:cNvGraphicFramePr>
            <a:graphicFrameLocks noGrp="1"/>
          </p:cNvGraphicFramePr>
          <p:nvPr/>
        </p:nvGraphicFramePr>
        <p:xfrm>
          <a:off x="256032" y="1188720"/>
          <a:ext cx="11430000" cy="2029967"/>
        </p:xfrm>
        <a:graphic>
          <a:graphicData uri="http://schemas.openxmlformats.org/drawingml/2006/table">
            <a:tbl>
              <a:tblPr firstRow="1" bandRow="1">
                <a:tableStyleId>{5C22544A-7EE6-4342-B048-85BDC9FD1C3A}</a:tableStyleId>
              </a:tblPr>
              <a:tblGrid>
                <a:gridCol w="2331720"/>
                <a:gridCol w="2194560"/>
                <a:gridCol w="2286000"/>
                <a:gridCol w="2286000"/>
                <a:gridCol w="2331720"/>
              </a:tblGrid>
              <a:tr h="507491">
                <a:tc>
                  <a:txBody>
                    <a:bodyPr wrap="square"/>
                    <a:lstStyle/>
                    <a:p>
                      <a:r>
                        <a:rPr sz="1000" b="1">
                          <a:solidFill>
                            <a:srgbClr val="0B0F14"/>
                          </a:solidFill>
                          <a:latin typeface="Segoe UI"/>
                        </a:rPr>
                        <a:t>Author and year</a:t>
                      </a:r>
                    </a:p>
                  </a:txBody>
                  <a:tcPr anchor="t" marL="45720" marR="36576" marT="27432">
                    <a:solidFill>
                      <a:srgbClr val="00E5FF"/>
                    </a:solidFill>
                  </a:tcPr>
                </a:tc>
                <a:tc>
                  <a:txBody>
                    <a:bodyPr wrap="square"/>
                    <a:lstStyle/>
                    <a:p>
                      <a:r>
                        <a:rPr sz="1000" b="1">
                          <a:solidFill>
                            <a:srgbClr val="0B0F14"/>
                          </a:solidFill>
                          <a:latin typeface="Segoe UI"/>
                        </a:rPr>
                        <a:t>Method</a:t>
                      </a:r>
                    </a:p>
                  </a:txBody>
                  <a:tcPr anchor="t" marL="45720" marR="36576" marT="27432">
                    <a:solidFill>
                      <a:srgbClr val="00E5FF"/>
                    </a:solidFill>
                  </a:tcPr>
                </a:tc>
                <a:tc>
                  <a:txBody>
                    <a:bodyPr wrap="square"/>
                    <a:lstStyle/>
                    <a:p>
                      <a:r>
                        <a:rPr sz="1000" b="1">
                          <a:solidFill>
                            <a:srgbClr val="0B0F14"/>
                          </a:solidFill>
                          <a:latin typeface="Segoe UI"/>
                        </a:rPr>
                        <a:t>Dataset or testbed</a:t>
                      </a:r>
                    </a:p>
                  </a:txBody>
                  <a:tcPr anchor="t" marL="45720" marR="36576" marT="27432">
                    <a:solidFill>
                      <a:srgbClr val="00E5FF"/>
                    </a:solidFill>
                  </a:tcPr>
                </a:tc>
                <a:tc>
                  <a:txBody>
                    <a:bodyPr wrap="square"/>
                    <a:lstStyle/>
                    <a:p>
                      <a:r>
                        <a:rPr sz="1000" b="1">
                          <a:solidFill>
                            <a:srgbClr val="0B0F14"/>
                          </a:solidFill>
                          <a:latin typeface="Segoe UI"/>
                        </a:rPr>
                        <a:t>Key parameters</a:t>
                      </a:r>
                    </a:p>
                  </a:txBody>
                  <a:tcPr anchor="t" marL="45720" marR="36576" marT="27432">
                    <a:solidFill>
                      <a:srgbClr val="00E5FF"/>
                    </a:solidFill>
                  </a:tcPr>
                </a:tc>
                <a:tc>
                  <a:txBody>
                    <a:bodyPr wrap="square"/>
                    <a:lstStyle/>
                    <a:p>
                      <a:r>
                        <a:rPr sz="1000" b="1">
                          <a:solidFill>
                            <a:srgbClr val="0B0F14"/>
                          </a:solidFill>
                          <a:latin typeface="Segoe UI"/>
                        </a:rPr>
                        <a:t>Limitation</a:t>
                      </a:r>
                    </a:p>
                  </a:txBody>
                  <a:tcPr anchor="t" marL="45720" marR="36576" marT="27432">
                    <a:solidFill>
                      <a:srgbClr val="00E5FF"/>
                    </a:solidFill>
                  </a:tcPr>
                </a:tc>
              </a:tr>
              <a:tr h="507491">
                <a:tc>
                  <a:txBody>
                    <a:bodyPr wrap="square"/>
                    <a:lstStyle/>
                    <a:p>
                      <a:r>
                        <a:rPr sz="1000" b="0">
                          <a:solidFill>
                            <a:srgbClr val="E8EAED"/>
                          </a:solidFill>
                          <a:latin typeface="Segoe UI"/>
                        </a:rPr>
                        <a:t>Nurpeisova, Shaushenova, Mutalova, Ongarbayeva, Niyazbekova, Bekenova, Zhumaliy…</a:t>
                      </a:r>
                    </a:p>
                  </a:txBody>
                  <a:tcPr anchor="t" marL="45720" marR="36576" marT="27432">
                    <a:solidFill>
                      <a:srgbClr val="121820"/>
                    </a:solidFill>
                  </a:tcPr>
                </a:tc>
                <a:tc>
                  <a:txBody>
                    <a:bodyPr wrap="square"/>
                    <a:lstStyle/>
                    <a:p>
                      <a:r>
                        <a:rPr sz="1000" b="0">
                          <a:solidFill>
                            <a:srgbClr val="E8EAED"/>
                          </a:solidFill>
                          <a:latin typeface="Segoe UI"/>
                        </a:rPr>
                        <a:t>System build: Proctor SU</a:t>
                      </a:r>
                    </a:p>
                  </a:txBody>
                  <a:tcPr anchor="t" marL="45720" marR="36576" marT="27432">
                    <a:solidFill>
                      <a:srgbClr val="121820"/>
                    </a:solidFill>
                  </a:tcPr>
                </a:tc>
                <a:tc>
                  <a:txBody>
                    <a:bodyPr wrap="square"/>
                    <a:lstStyle/>
                    <a:p>
                      <a:r>
                        <a:rPr sz="1000" b="0">
                          <a:solidFill>
                            <a:srgbClr val="E8EAED"/>
                          </a:solidFill>
                          <a:latin typeface="Segoe UI"/>
                        </a:rPr>
                        <a:t>Django and Python exam setting</a:t>
                      </a:r>
                    </a:p>
                  </a:txBody>
                  <a:tcPr anchor="t" marL="45720" marR="36576" marT="27432">
                    <a:solidFill>
                      <a:srgbClr val="121820"/>
                    </a:solidFill>
                  </a:tcPr>
                </a:tc>
                <a:tc>
                  <a:txBody>
                    <a:bodyPr wrap="square"/>
                    <a:lstStyle/>
                    <a:p>
                      <a:r>
                        <a:rPr sz="1000" b="0">
                          <a:solidFill>
                            <a:srgbClr val="E8EAED"/>
                          </a:solidFill>
                          <a:latin typeface="Segoe UI"/>
                        </a:rPr>
                        <a:t>YOLO face, voice, keyboard, browser lockdown</a:t>
                      </a:r>
                    </a:p>
                  </a:txBody>
                  <a:tcPr anchor="t" marL="45720" marR="36576" marT="27432">
                    <a:solidFill>
                      <a:srgbClr val="121820"/>
                    </a:solidFill>
                  </a:tcPr>
                </a:tc>
                <a:tc>
                  <a:txBody>
                    <a:bodyPr wrap="square"/>
                    <a:lstStyle/>
                    <a:p>
                      <a:r>
                        <a:rPr sz="1000" b="0">
                          <a:solidFill>
                            <a:srgbClr val="E8EAED"/>
                          </a:solidFill>
                          <a:latin typeface="Segoe UI"/>
                        </a:rPr>
                        <a:t>Collects face, voice, and keystrokes</a:t>
                      </a:r>
                    </a:p>
                  </a:txBody>
                  <a:tcPr anchor="t" marL="45720" marR="36576" marT="27432">
                    <a:solidFill>
                      <a:srgbClr val="121820"/>
                    </a:solidFill>
                  </a:tcPr>
                </a:tc>
              </a:tr>
              <a:tr h="507491">
                <a:tc>
                  <a:txBody>
                    <a:bodyPr wrap="square"/>
                    <a:lstStyle/>
                    <a:p>
                      <a:r>
                        <a:rPr sz="1000" b="0">
                          <a:solidFill>
                            <a:srgbClr val="E8EAED"/>
                          </a:solidFill>
                          <a:latin typeface="Segoe UI"/>
                        </a:rPr>
                        <a:t>Özseven and Esin Özseven, 2026</a:t>
                      </a:r>
                    </a:p>
                  </a:txBody>
                  <a:tcPr anchor="t" marL="45720" marR="36576" marT="27432">
                    <a:solidFill>
                      <a:srgbClr val="0E141C"/>
                    </a:solidFill>
                  </a:tcPr>
                </a:tc>
                <a:tc>
                  <a:txBody>
                    <a:bodyPr wrap="square"/>
                    <a:lstStyle/>
                    <a:p>
                      <a:r>
                        <a:rPr sz="1000" b="0">
                          <a:solidFill>
                            <a:srgbClr val="E8EAED"/>
                          </a:solidFill>
                          <a:latin typeface="Segoe UI"/>
                        </a:rPr>
                        <a:t>Explainable neuro-symbolic detector</a:t>
                      </a:r>
                    </a:p>
                  </a:txBody>
                  <a:tcPr anchor="t" marL="45720" marR="36576" marT="27432">
                    <a:solidFill>
                      <a:srgbClr val="0E141C"/>
                    </a:solidFill>
                  </a:tcPr>
                </a:tc>
                <a:tc>
                  <a:txBody>
                    <a:bodyPr wrap="square"/>
                    <a:lstStyle/>
                    <a:p>
                      <a:r>
                        <a:rPr sz="1000" b="0">
                          <a:solidFill>
                            <a:srgbClr val="E8EAED"/>
                          </a:solidFill>
                          <a:latin typeface="Segoe UI"/>
                        </a:rPr>
                        <a:t>Exam video of gaze, head, and hands</a:t>
                      </a:r>
                    </a:p>
                  </a:txBody>
                  <a:tcPr anchor="t" marL="45720" marR="36576" marT="27432">
                    <a:solidFill>
                      <a:srgbClr val="0E141C"/>
                    </a:solidFill>
                  </a:tcPr>
                </a:tc>
                <a:tc>
                  <a:txBody>
                    <a:bodyPr wrap="square"/>
                    <a:lstStyle/>
                    <a:p>
                      <a:r>
                        <a:rPr sz="1000" b="0">
                          <a:solidFill>
                            <a:srgbClr val="E8EAED"/>
                          </a:solidFill>
                          <a:latin typeface="Segoe UI"/>
                        </a:rPr>
                        <a:t>Gaze, head pose, hand-object interaction, device</a:t>
                      </a:r>
                    </a:p>
                  </a:txBody>
                  <a:tcPr anchor="t" marL="45720" marR="36576" marT="27432">
                    <a:solidFill>
                      <a:srgbClr val="0E141C"/>
                    </a:solidFill>
                  </a:tcPr>
                </a:tc>
                <a:tc>
                  <a:txBody>
                    <a:bodyPr wrap="square"/>
                    <a:lstStyle/>
                    <a:p>
                      <a:r>
                        <a:rPr sz="1000" b="0">
                          <a:solidFill>
                            <a:srgbClr val="E8EAED"/>
                          </a:solidFill>
                          <a:latin typeface="Segoe UI"/>
                        </a:rPr>
                        <a:t>Explainable, but the cues are still the body</a:t>
                      </a:r>
                    </a:p>
                  </a:txBody>
                  <a:tcPr anchor="t" marL="45720" marR="36576" marT="27432">
                    <a:solidFill>
                      <a:srgbClr val="0E141C"/>
                    </a:solidFill>
                  </a:tcPr>
                </a:tc>
              </a:tr>
              <a:tr h="507494">
                <a:tc>
                  <a:txBody>
                    <a:bodyPr wrap="square"/>
                    <a:lstStyle/>
                    <a:p>
                      <a:r>
                        <a:rPr sz="1000" b="0">
                          <a:solidFill>
                            <a:srgbClr val="E8EAED"/>
                          </a:solidFill>
                          <a:latin typeface="Segoe UI"/>
                        </a:rPr>
                        <a:t>Potluri, Sistla and Kolli, 2023</a:t>
                      </a:r>
                    </a:p>
                  </a:txBody>
                  <a:tcPr anchor="t" marL="45720" marR="36576" marT="27432">
                    <a:solidFill>
                      <a:srgbClr val="121820"/>
                    </a:solidFill>
                  </a:tcPr>
                </a:tc>
                <a:tc>
                  <a:txBody>
                    <a:bodyPr wrap="square"/>
                    <a:lstStyle/>
                    <a:p>
                      <a:r>
                        <a:rPr sz="1000" b="0">
                          <a:solidFill>
                            <a:srgbClr val="E8EAED"/>
                          </a:solidFill>
                          <a:latin typeface="Segoe UI"/>
                        </a:rPr>
                        <a:t>Attentive-net on video</a:t>
                      </a:r>
                    </a:p>
                  </a:txBody>
                  <a:tcPr anchor="t" marL="45720" marR="36576" marT="27432">
                    <a:solidFill>
                      <a:srgbClr val="121820"/>
                    </a:solidFill>
                  </a:tcPr>
                </a:tc>
                <a:tc>
                  <a:txBody>
                    <a:bodyPr wrap="square"/>
                    <a:lstStyle/>
                    <a:p>
                      <a:r>
                        <a:rPr sz="1000" b="0">
                          <a:solidFill>
                            <a:srgbClr val="E8EAED"/>
                          </a:solidFill>
                          <a:latin typeface="Segoe UI"/>
                        </a:rPr>
                        <a:t>Clips labelled as mischievous behaviour</a:t>
                      </a:r>
                    </a:p>
                  </a:txBody>
                  <a:tcPr anchor="t" marL="45720" marR="36576" marT="27432">
                    <a:solidFill>
                      <a:srgbClr val="121820"/>
                    </a:solidFill>
                  </a:tcPr>
                </a:tc>
                <a:tc>
                  <a:txBody>
                    <a:bodyPr wrap="square"/>
                    <a:lstStyle/>
                    <a:p>
                      <a:r>
                        <a:rPr sz="1000" b="0">
                          <a:solidFill>
                            <a:srgbClr val="E8EAED"/>
                          </a:solidFill>
                          <a:latin typeface="Segoe UI"/>
                        </a:rPr>
                        <a:t>Visual attention features</a:t>
                      </a:r>
                    </a:p>
                  </a:txBody>
                  <a:tcPr anchor="t" marL="45720" marR="36576" marT="27432">
                    <a:solidFill>
                      <a:srgbClr val="121820"/>
                    </a:solidFill>
                  </a:tcPr>
                </a:tc>
                <a:tc>
                  <a:txBody>
                    <a:bodyPr wrap="square"/>
                    <a:lstStyle/>
                    <a:p>
                      <a:r>
                        <a:rPr sz="1000" b="0">
                          <a:solidFill>
                            <a:srgbClr val="E8EAED"/>
                          </a:solidFill>
                          <a:latin typeface="Segoe UI"/>
                        </a:rPr>
                        <a:t>Still a visual detector</a:t>
                      </a:r>
                    </a:p>
                  </a:txBody>
                  <a:tcPr anchor="t" marL="45720" marR="36576" marT="27432">
                    <a:solidFill>
                      <a:srgbClr val="121820"/>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4"/>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256032"/>
            <a:ext cx="1920240" cy="635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73952"/>
            <a:ext cx="8595360" cy="256032"/>
          </a:xfrm>
          <a:prstGeom prst="rect">
            <a:avLst/>
          </a:prstGeom>
          <a:noFill/>
        </p:spPr>
        <p:txBody>
          <a:bodyPr wrap="square">
            <a:spAutoFit/>
          </a:bodyPr>
          <a:lstStyle/>
          <a:p>
            <a:pPr algn="l"/>
            <a:r>
              <a:rPr sz="1100" b="0">
                <a:solidFill>
                  <a:srgbClr val="8B949E"/>
                </a:solidFill>
                <a:latin typeface="Segoe UI"/>
              </a:rPr>
              <a:t>BACSE291  ·  Innovative Design Project  |  First Review  |  Fall Semester 2026</a:t>
            </a:r>
          </a:p>
        </p:txBody>
      </p:sp>
      <p:sp>
        <p:nvSpPr>
          <p:cNvPr id="5" name="TextBox 4"/>
          <p:cNvSpPr txBox="1"/>
          <p:nvPr/>
        </p:nvSpPr>
        <p:spPr>
          <a:xfrm>
            <a:off x="9326880" y="6473952"/>
            <a:ext cx="2468880" cy="256032"/>
          </a:xfrm>
          <a:prstGeom prst="rect">
            <a:avLst/>
          </a:prstGeom>
          <a:noFill/>
        </p:spPr>
        <p:txBody>
          <a:bodyPr wrap="square">
            <a:spAutoFit/>
          </a:bodyPr>
          <a:lstStyle/>
          <a:p>
            <a:pPr algn="r"/>
            <a:r>
              <a:rPr sz="1100" b="0">
                <a:solidFill>
                  <a:srgbClr val="00E5FF"/>
                </a:solidFill>
                <a:latin typeface="Cascadia Mono"/>
              </a:rPr>
              <a:t>APPENDIX   6</a:t>
            </a:r>
          </a:p>
        </p:txBody>
      </p:sp>
      <p:sp>
        <p:nvSpPr>
          <p:cNvPr id="6" name="TextBox 5"/>
          <p:cNvSpPr txBox="1"/>
          <p:nvPr/>
        </p:nvSpPr>
        <p:spPr>
          <a:xfrm>
            <a:off x="365760" y="347472"/>
            <a:ext cx="10972800" cy="256032"/>
          </a:xfrm>
          <a:prstGeom prst="rect">
            <a:avLst/>
          </a:prstGeom>
          <a:noFill/>
        </p:spPr>
        <p:txBody>
          <a:bodyPr wrap="square">
            <a:spAutoFit/>
          </a:bodyPr>
          <a:lstStyle/>
          <a:p>
            <a:pPr algn="l"/>
            <a:r>
              <a:rPr sz="1200" b="1">
                <a:solidFill>
                  <a:srgbClr val="00E5FF"/>
                </a:solidFill>
                <a:latin typeface="Cascadia Mono"/>
              </a:rPr>
              <a:t>// APPENDIX</a:t>
            </a:r>
          </a:p>
        </p:txBody>
      </p:sp>
      <p:sp>
        <p:nvSpPr>
          <p:cNvPr id="7" name="TextBox 6"/>
          <p:cNvSpPr txBox="1"/>
          <p:nvPr/>
        </p:nvSpPr>
        <p:spPr>
          <a:xfrm>
            <a:off x="365760" y="603504"/>
            <a:ext cx="11338560" cy="457200"/>
          </a:xfrm>
          <a:prstGeom prst="rect">
            <a:avLst/>
          </a:prstGeom>
          <a:noFill/>
        </p:spPr>
        <p:txBody>
          <a:bodyPr wrap="square">
            <a:spAutoFit/>
          </a:bodyPr>
          <a:lstStyle/>
          <a:p>
            <a:pPr algn="l"/>
            <a:r>
              <a:rPr sz="2800" b="1">
                <a:solidFill>
                  <a:srgbClr val="E8EAED"/>
                </a:solidFill>
                <a:latin typeface="Bahnschrift"/>
              </a:rPr>
              <a:t>A5   Privacy and ethics  (1/2)</a:t>
            </a:r>
          </a:p>
        </p:txBody>
      </p:sp>
      <p:graphicFrame>
        <p:nvGraphicFramePr>
          <p:cNvPr id="8" name="Table 7"/>
          <p:cNvGraphicFramePr>
            <a:graphicFrameLocks noGrp="1"/>
          </p:cNvGraphicFramePr>
          <p:nvPr/>
        </p:nvGraphicFramePr>
        <p:xfrm>
          <a:off x="256032" y="1188720"/>
          <a:ext cx="11430000" cy="4864608"/>
        </p:xfrm>
        <a:graphic>
          <a:graphicData uri="http://schemas.openxmlformats.org/drawingml/2006/table">
            <a:tbl>
              <a:tblPr firstRow="1" bandRow="1">
                <a:tableStyleId>{5C22544A-7EE6-4342-B048-85BDC9FD1C3A}</a:tableStyleId>
              </a:tblPr>
              <a:tblGrid>
                <a:gridCol w="2331720"/>
                <a:gridCol w="2194560"/>
                <a:gridCol w="2286000"/>
                <a:gridCol w="2286000"/>
                <a:gridCol w="2331720"/>
              </a:tblGrid>
              <a:tr h="540512">
                <a:tc>
                  <a:txBody>
                    <a:bodyPr wrap="square"/>
                    <a:lstStyle/>
                    <a:p>
                      <a:r>
                        <a:rPr sz="1000" b="1">
                          <a:solidFill>
                            <a:srgbClr val="0B0F14"/>
                          </a:solidFill>
                          <a:latin typeface="Segoe UI"/>
                        </a:rPr>
                        <a:t>Author and year</a:t>
                      </a:r>
                    </a:p>
                  </a:txBody>
                  <a:tcPr anchor="t" marL="45720" marR="36576" marT="27432">
                    <a:solidFill>
                      <a:srgbClr val="00E5FF"/>
                    </a:solidFill>
                  </a:tcPr>
                </a:tc>
                <a:tc>
                  <a:txBody>
                    <a:bodyPr wrap="square"/>
                    <a:lstStyle/>
                    <a:p>
                      <a:r>
                        <a:rPr sz="1000" b="1">
                          <a:solidFill>
                            <a:srgbClr val="0B0F14"/>
                          </a:solidFill>
                          <a:latin typeface="Segoe UI"/>
                        </a:rPr>
                        <a:t>Method</a:t>
                      </a:r>
                    </a:p>
                  </a:txBody>
                  <a:tcPr anchor="t" marL="45720" marR="36576" marT="27432">
                    <a:solidFill>
                      <a:srgbClr val="00E5FF"/>
                    </a:solidFill>
                  </a:tcPr>
                </a:tc>
                <a:tc>
                  <a:txBody>
                    <a:bodyPr wrap="square"/>
                    <a:lstStyle/>
                    <a:p>
                      <a:r>
                        <a:rPr sz="1000" b="1">
                          <a:solidFill>
                            <a:srgbClr val="0B0F14"/>
                          </a:solidFill>
                          <a:latin typeface="Segoe UI"/>
                        </a:rPr>
                        <a:t>Dataset or testbed</a:t>
                      </a:r>
                    </a:p>
                  </a:txBody>
                  <a:tcPr anchor="t" marL="45720" marR="36576" marT="27432">
                    <a:solidFill>
                      <a:srgbClr val="00E5FF"/>
                    </a:solidFill>
                  </a:tcPr>
                </a:tc>
                <a:tc>
                  <a:txBody>
                    <a:bodyPr wrap="square"/>
                    <a:lstStyle/>
                    <a:p>
                      <a:r>
                        <a:rPr sz="1000" b="1">
                          <a:solidFill>
                            <a:srgbClr val="0B0F14"/>
                          </a:solidFill>
                          <a:latin typeface="Segoe UI"/>
                        </a:rPr>
                        <a:t>Key parameters</a:t>
                      </a:r>
                    </a:p>
                  </a:txBody>
                  <a:tcPr anchor="t" marL="45720" marR="36576" marT="27432">
                    <a:solidFill>
                      <a:srgbClr val="00E5FF"/>
                    </a:solidFill>
                  </a:tcPr>
                </a:tc>
                <a:tc>
                  <a:txBody>
                    <a:bodyPr wrap="square"/>
                    <a:lstStyle/>
                    <a:p>
                      <a:r>
                        <a:rPr sz="1000" b="1">
                          <a:solidFill>
                            <a:srgbClr val="0B0F14"/>
                          </a:solidFill>
                          <a:latin typeface="Segoe UI"/>
                        </a:rPr>
                        <a:t>Limitation</a:t>
                      </a:r>
                    </a:p>
                  </a:txBody>
                  <a:tcPr anchor="t" marL="45720" marR="36576" marT="27432">
                    <a:solidFill>
                      <a:srgbClr val="00E5FF"/>
                    </a:solidFill>
                  </a:tcPr>
                </a:tc>
              </a:tr>
              <a:tr h="540512">
                <a:tc>
                  <a:txBody>
                    <a:bodyPr wrap="square"/>
                    <a:lstStyle/>
                    <a:p>
                      <a:r>
                        <a:rPr sz="1000" b="0">
                          <a:solidFill>
                            <a:srgbClr val="E8EAED"/>
                          </a:solidFill>
                          <a:latin typeface="Segoe UI"/>
                        </a:rPr>
                        <a:t>Alessio and Messinger, 2021</a:t>
                      </a:r>
                    </a:p>
                  </a:txBody>
                  <a:tcPr anchor="t" marL="45720" marR="36576" marT="27432">
                    <a:solidFill>
                      <a:srgbClr val="121820"/>
                    </a:solidFill>
                  </a:tcPr>
                </a:tc>
                <a:tc>
                  <a:txBody>
                    <a:bodyPr wrap="square"/>
                    <a:lstStyle/>
                    <a:p>
                      <a:r>
                        <a:rPr sz="1000" b="0">
                          <a:solidFill>
                            <a:srgbClr val="E8EAED"/>
                          </a:solidFill>
                          <a:latin typeface="Segoe UI"/>
                        </a:rPr>
                        <a:t>Faculty and student survey on proctoring</a:t>
                      </a:r>
                    </a:p>
                  </a:txBody>
                  <a:tcPr anchor="t" marL="45720" marR="36576" marT="27432">
                    <a:solidFill>
                      <a:srgbClr val="121820"/>
                    </a:solidFill>
                  </a:tcPr>
                </a:tc>
                <a:tc>
                  <a:txBody>
                    <a:bodyPr wrap="square"/>
                    <a:lstStyle/>
                    <a:p>
                      <a:r>
                        <a:rPr sz="1000" b="0">
                          <a:solidFill>
                            <a:srgbClr val="E8EAED"/>
                          </a:solidFill>
                          <a:latin typeface="Segoe UI"/>
                        </a:rPr>
                        <a:t>University respondents; mixed views</a:t>
                      </a:r>
                    </a:p>
                  </a:txBody>
                  <a:tcPr anchor="t" marL="45720" marR="36576" marT="27432">
                    <a:solidFill>
                      <a:srgbClr val="121820"/>
                    </a:solidFill>
                  </a:tcPr>
                </a:tc>
                <a:tc>
                  <a:txBody>
                    <a:bodyPr wrap="square"/>
                    <a:lstStyle/>
                    <a:p>
                      <a:r>
                        <a:rPr sz="1000" b="0">
                          <a:solidFill>
                            <a:srgbClr val="E8EAED"/>
                          </a:solidFill>
                          <a:latin typeface="Segoe UI"/>
                        </a:rPr>
                        <a:t>Privacy invasion: 53% faculty, 70% students</a:t>
                      </a:r>
                    </a:p>
                  </a:txBody>
                  <a:tcPr anchor="t" marL="45720" marR="36576" marT="27432">
                    <a:solidFill>
                      <a:srgbClr val="121820"/>
                    </a:solidFill>
                  </a:tcPr>
                </a:tc>
                <a:tc>
                  <a:txBody>
                    <a:bodyPr wrap="square"/>
                    <a:lstStyle/>
                    <a:p>
                      <a:r>
                        <a:rPr sz="1000" b="0">
                          <a:solidFill>
                            <a:srgbClr val="E8EAED"/>
                          </a:solidFill>
                          <a:latin typeface="Segoe UI"/>
                        </a:rPr>
                        <a:t>Documents the objection; does not design a non-biometric monitor</a:t>
                      </a:r>
                    </a:p>
                  </a:txBody>
                  <a:tcPr anchor="t" marL="45720" marR="36576" marT="27432">
                    <a:solidFill>
                      <a:srgbClr val="121820"/>
                    </a:solidFill>
                  </a:tcPr>
                </a:tc>
              </a:tr>
              <a:tr h="540512">
                <a:tc>
                  <a:txBody>
                    <a:bodyPr wrap="square"/>
                    <a:lstStyle/>
                    <a:p>
                      <a:r>
                        <a:rPr sz="1000" b="0">
                          <a:solidFill>
                            <a:srgbClr val="E8EAED"/>
                          </a:solidFill>
                          <a:latin typeface="Segoe UI"/>
                        </a:rPr>
                        <a:t>Balash, Kim, Shaibekova, Fainchtein, Sherr and Aviv, 2021</a:t>
                      </a:r>
                    </a:p>
                  </a:txBody>
                  <a:tcPr anchor="t" marL="45720" marR="36576" marT="27432">
                    <a:solidFill>
                      <a:srgbClr val="0E141C"/>
                    </a:solidFill>
                  </a:tcPr>
                </a:tc>
                <a:tc>
                  <a:txBody>
                    <a:bodyPr wrap="square"/>
                    <a:lstStyle/>
                    <a:p>
                      <a:r>
                        <a:rPr sz="1000" b="0">
                          <a:solidFill>
                            <a:srgbClr val="E8EAED"/>
                          </a:solidFill>
                          <a:latin typeface="Segoe UI"/>
                        </a:rPr>
                        <a:t>Review analysis plus student survey</a:t>
                      </a:r>
                    </a:p>
                  </a:txBody>
                  <a:tcPr anchor="t" marL="45720" marR="36576" marT="27432">
                    <a:solidFill>
                      <a:srgbClr val="0E141C"/>
                    </a:solidFill>
                  </a:tcPr>
                </a:tc>
                <a:tc>
                  <a:txBody>
                    <a:bodyPr wrap="square"/>
                    <a:lstStyle/>
                    <a:p>
                      <a:r>
                        <a:rPr sz="1000" b="0">
                          <a:solidFill>
                            <a:srgbClr val="E8EAED"/>
                          </a:solidFill>
                          <a:latin typeface="Segoe UI"/>
                        </a:rPr>
                        <a:t>Browser-extension reviews and n = 102 students</a:t>
                      </a:r>
                    </a:p>
                  </a:txBody>
                  <a:tcPr anchor="t" marL="45720" marR="36576" marT="27432">
                    <a:solidFill>
                      <a:srgbClr val="0E141C"/>
                    </a:solidFill>
                  </a:tcPr>
                </a:tc>
                <a:tc>
                  <a:txBody>
                    <a:bodyPr wrap="square"/>
                    <a:lstStyle/>
                    <a:p>
                      <a:r>
                        <a:rPr sz="1000" b="0">
                          <a:solidFill>
                            <a:srgbClr val="E8EAED"/>
                          </a:solidFill>
                          <a:latin typeface="Segoe UI"/>
                        </a:rPr>
                        <a:t>Identity checks, webcam, screen, browser history</a:t>
                      </a:r>
                    </a:p>
                  </a:txBody>
                  <a:tcPr anchor="t" marL="45720" marR="36576" marT="27432">
                    <a:solidFill>
                      <a:srgbClr val="0E141C"/>
                    </a:solidFill>
                  </a:tcPr>
                </a:tc>
                <a:tc>
                  <a:txBody>
                    <a:bodyPr wrap="square"/>
                    <a:lstStyle/>
                    <a:p>
                      <a:r>
                        <a:rPr sz="1000" b="0">
                          <a:solidFill>
                            <a:srgbClr val="E8EAED"/>
                          </a:solidFill>
                          <a:latin typeface="Segoe UI"/>
                        </a:rPr>
                        <a:t>Students feel compelled by the institution; no alternative design</a:t>
                      </a:r>
                    </a:p>
                  </a:txBody>
                  <a:tcPr anchor="t" marL="45720" marR="36576" marT="27432">
                    <a:solidFill>
                      <a:srgbClr val="0E141C"/>
                    </a:solidFill>
                  </a:tcPr>
                </a:tc>
              </a:tr>
              <a:tr h="540512">
                <a:tc>
                  <a:txBody>
                    <a:bodyPr wrap="square"/>
                    <a:lstStyle/>
                    <a:p>
                      <a:r>
                        <a:rPr sz="1000" b="0">
                          <a:solidFill>
                            <a:srgbClr val="E8EAED"/>
                          </a:solidFill>
                          <a:latin typeface="Segoe UI"/>
                        </a:rPr>
                        <a:t>Coghlan, Miller and Paterson, 2021</a:t>
                      </a:r>
                    </a:p>
                  </a:txBody>
                  <a:tcPr anchor="t" marL="45720" marR="36576" marT="27432">
                    <a:solidFill>
                      <a:srgbClr val="121820"/>
                    </a:solidFill>
                  </a:tcPr>
                </a:tc>
                <a:tc>
                  <a:txBody>
                    <a:bodyPr wrap="square"/>
                    <a:lstStyle/>
                    <a:p>
                      <a:r>
                        <a:rPr sz="1000" b="0">
                          <a:solidFill>
                            <a:srgbClr val="E8EAED"/>
                          </a:solidFill>
                          <a:latin typeface="Segoe UI"/>
                        </a:rPr>
                        <a:t>Ethical analysis of supervision technologies</a:t>
                      </a:r>
                    </a:p>
                  </a:txBody>
                  <a:tcPr anchor="t" marL="45720" marR="36576" marT="27432">
                    <a:solidFill>
                      <a:srgbClr val="121820"/>
                    </a:solidFill>
                  </a:tcPr>
                </a:tc>
                <a:tc>
                  <a:txBody>
                    <a:bodyPr wrap="square"/>
                    <a:lstStyle/>
                    <a:p>
                      <a:r>
                        <a:rPr sz="1000" b="0">
                          <a:solidFill>
                            <a:srgbClr val="E8EAED"/>
                          </a:solidFill>
                          <a:latin typeface="Segoe UI"/>
                        </a:rPr>
                        <a:t>Published systems and policy arguments</a:t>
                      </a:r>
                    </a:p>
                  </a:txBody>
                  <a:tcPr anchor="t" marL="45720" marR="36576" marT="27432">
                    <a:solidFill>
                      <a:srgbClr val="121820"/>
                    </a:solidFill>
                  </a:tcPr>
                </a:tc>
                <a:tc>
                  <a:txBody>
                    <a:bodyPr wrap="square"/>
                    <a:lstStyle/>
                    <a:p>
                      <a:r>
                        <a:rPr sz="1000" b="0">
                          <a:solidFill>
                            <a:srgbClr val="E8EAED"/>
                          </a:solidFill>
                          <a:latin typeface="Segoe UI"/>
                        </a:rPr>
                        <a:t>Consent, proportionality, surveillance</a:t>
                      </a:r>
                    </a:p>
                  </a:txBody>
                  <a:tcPr anchor="t" marL="45720" marR="36576" marT="27432">
                    <a:solidFill>
                      <a:srgbClr val="121820"/>
                    </a:solidFill>
                  </a:tcPr>
                </a:tc>
                <a:tc>
                  <a:txBody>
                    <a:bodyPr wrap="square"/>
                    <a:lstStyle/>
                    <a:p>
                      <a:r>
                        <a:rPr sz="1000" b="0">
                          <a:solidFill>
                            <a:srgbClr val="E8EAED"/>
                          </a:solidFill>
                          <a:latin typeface="Segoe UI"/>
                        </a:rPr>
                        <a:t>No system design follows the critique</a:t>
                      </a:r>
                    </a:p>
                  </a:txBody>
                  <a:tcPr anchor="t" marL="45720" marR="36576" marT="27432">
                    <a:solidFill>
                      <a:srgbClr val="121820"/>
                    </a:solidFill>
                  </a:tcPr>
                </a:tc>
              </a:tr>
              <a:tr h="540512">
                <a:tc>
                  <a:txBody>
                    <a:bodyPr wrap="square"/>
                    <a:lstStyle/>
                    <a:p>
                      <a:r>
                        <a:rPr sz="1000" b="0">
                          <a:solidFill>
                            <a:srgbClr val="E8EAED"/>
                          </a:solidFill>
                          <a:latin typeface="Segoe UI"/>
                        </a:rPr>
                        <a:t>Conijn, Kleingeld, Matzat and Snijders, 2022</a:t>
                      </a:r>
                    </a:p>
                  </a:txBody>
                  <a:tcPr anchor="t" marL="45720" marR="36576" marT="27432">
                    <a:solidFill>
                      <a:srgbClr val="0E141C"/>
                    </a:solidFill>
                  </a:tcPr>
                </a:tc>
                <a:tc>
                  <a:txBody>
                    <a:bodyPr wrap="square"/>
                    <a:lstStyle/>
                    <a:p>
                      <a:r>
                        <a:rPr sz="1000" b="0">
                          <a:solidFill>
                            <a:srgbClr val="E8EAED"/>
                          </a:solidFill>
                          <a:latin typeface="Segoe UI"/>
                        </a:rPr>
                        <a:t>Four-wave multilevel survey</a:t>
                      </a:r>
                    </a:p>
                  </a:txBody>
                  <a:tcPr anchor="t" marL="45720" marR="36576" marT="27432">
                    <a:solidFill>
                      <a:srgbClr val="0E141C"/>
                    </a:solidFill>
                  </a:tcPr>
                </a:tc>
                <a:tc>
                  <a:txBody>
                    <a:bodyPr wrap="square"/>
                    <a:lstStyle/>
                    <a:p>
                      <a:r>
                        <a:rPr sz="1000" b="0">
                          <a:solidFill>
                            <a:srgbClr val="E8EAED"/>
                          </a:solidFill>
                          <a:latin typeface="Segoe UI"/>
                        </a:rPr>
                        <a:t>1,760 students in 105 courses at one Dutch faculty</a:t>
                      </a:r>
                    </a:p>
                  </a:txBody>
                  <a:tcPr anchor="t" marL="45720" marR="36576" marT="27432">
                    <a:solidFill>
                      <a:srgbClr val="0E141C"/>
                    </a:solidFill>
                  </a:tcPr>
                </a:tc>
                <a:tc>
                  <a:txBody>
                    <a:bodyPr wrap="square"/>
                    <a:lstStyle/>
                    <a:p>
                      <a:r>
                        <a:rPr sz="1000" b="0">
                          <a:solidFill>
                            <a:srgbClr val="E8EAED"/>
                          </a:solidFill>
                          <a:latin typeface="Segoe UI"/>
                        </a:rPr>
                        <a:t>Temptation to cheat, anxiety, difficulty, grade</a:t>
                      </a:r>
                    </a:p>
                  </a:txBody>
                  <a:tcPr anchor="t" marL="45720" marR="36576" marT="27432">
                    <a:solidFill>
                      <a:srgbClr val="0E141C"/>
                    </a:solidFill>
                  </a:tcPr>
                </a:tc>
                <a:tc>
                  <a:txBody>
                    <a:bodyPr wrap="square"/>
                    <a:lstStyle/>
                    <a:p>
                      <a:r>
                        <a:rPr sz="1000" b="0">
                          <a:solidFill>
                            <a:srgbClr val="E8EAED"/>
                          </a:solidFill>
                          <a:latin typeface="Segoe UI"/>
                        </a:rPr>
                        <a:t>Proctoring raised anxiety and did not reduce temptation to cheat</a:t>
                      </a:r>
                    </a:p>
                  </a:txBody>
                  <a:tcPr anchor="t" marL="45720" marR="36576" marT="27432">
                    <a:solidFill>
                      <a:srgbClr val="0E141C"/>
                    </a:solidFill>
                  </a:tcPr>
                </a:tc>
              </a:tr>
              <a:tr h="540512">
                <a:tc>
                  <a:txBody>
                    <a:bodyPr wrap="square"/>
                    <a:lstStyle/>
                    <a:p>
                      <a:r>
                        <a:rPr sz="1000" b="0">
                          <a:solidFill>
                            <a:srgbClr val="E8EAED"/>
                          </a:solidFill>
                          <a:latin typeface="Segoe UI"/>
                        </a:rPr>
                        <a:t>Gudiño Paredes, Jasso Peña and de la Fuente Alcázar, 2021</a:t>
                      </a:r>
                    </a:p>
                  </a:txBody>
                  <a:tcPr anchor="t" marL="45720" marR="36576" marT="27432">
                    <a:solidFill>
                      <a:srgbClr val="121820"/>
                    </a:solidFill>
                  </a:tcPr>
                </a:tc>
                <a:tc>
                  <a:txBody>
                    <a:bodyPr wrap="square"/>
                    <a:lstStyle/>
                    <a:p>
                      <a:r>
                        <a:rPr sz="1000" b="0">
                          <a:solidFill>
                            <a:srgbClr val="E8EAED"/>
                          </a:solidFill>
                          <a:latin typeface="Segoe UI"/>
                        </a:rPr>
                        <a:t>Mixed-methods study of remote proctoring</a:t>
                      </a:r>
                    </a:p>
                  </a:txBody>
                  <a:tcPr anchor="t" marL="45720" marR="36576" marT="27432">
                    <a:solidFill>
                      <a:srgbClr val="121820"/>
                    </a:solidFill>
                  </a:tcPr>
                </a:tc>
                <a:tc>
                  <a:txBody>
                    <a:bodyPr wrap="square"/>
                    <a:lstStyle/>
                    <a:p>
                      <a:r>
                        <a:rPr sz="1000" b="0">
                          <a:solidFill>
                            <a:srgbClr val="E8EAED"/>
                          </a:solidFill>
                          <a:latin typeface="Segoe UI"/>
                        </a:rPr>
                        <a:t>Online graduate students</a:t>
                      </a:r>
                    </a:p>
                  </a:txBody>
                  <a:tcPr anchor="t" marL="45720" marR="36576" marT="27432">
                    <a:solidFill>
                      <a:srgbClr val="121820"/>
                    </a:solidFill>
                  </a:tcPr>
                </a:tc>
                <a:tc>
                  <a:txBody>
                    <a:bodyPr wrap="square"/>
                    <a:lstStyle/>
                    <a:p>
                      <a:r>
                        <a:rPr sz="1000" b="0">
                          <a:solidFill>
                            <a:srgbClr val="E8EAED"/>
                          </a:solidFill>
                          <a:latin typeface="Segoe UI"/>
                        </a:rPr>
                        <a:t>Honesty, privacy, anxiety, technology</a:t>
                      </a:r>
                    </a:p>
                  </a:txBody>
                  <a:tcPr anchor="t" marL="45720" marR="36576" marT="27432">
                    <a:solidFill>
                      <a:srgbClr val="121820"/>
                    </a:solidFill>
                  </a:tcPr>
                </a:tc>
                <a:tc>
                  <a:txBody>
                    <a:bodyPr wrap="square"/>
                    <a:lstStyle/>
                    <a:p>
                      <a:r>
                        <a:rPr sz="1000" b="0">
                          <a:solidFill>
                            <a:srgbClr val="E8EAED"/>
                          </a:solidFill>
                          <a:latin typeface="Segoe UI"/>
                        </a:rPr>
                        <a:t>Students felt watched; privacy and anxiety remained the concern</a:t>
                      </a:r>
                    </a:p>
                  </a:txBody>
                  <a:tcPr anchor="t" marL="45720" marR="36576" marT="27432">
                    <a:solidFill>
                      <a:srgbClr val="121820"/>
                    </a:solidFill>
                  </a:tcPr>
                </a:tc>
              </a:tr>
              <a:tr h="540512">
                <a:tc>
                  <a:txBody>
                    <a:bodyPr wrap="square"/>
                    <a:lstStyle/>
                    <a:p>
                      <a:r>
                        <a:rPr sz="1000" b="0">
                          <a:solidFill>
                            <a:srgbClr val="E8EAED"/>
                          </a:solidFill>
                          <a:latin typeface="Segoe UI"/>
                        </a:rPr>
                        <a:t>Kharbat and Abu Daabes, 2021</a:t>
                      </a:r>
                    </a:p>
                  </a:txBody>
                  <a:tcPr anchor="t" marL="45720" marR="36576" marT="27432">
                    <a:solidFill>
                      <a:srgbClr val="0E141C"/>
                    </a:solidFill>
                  </a:tcPr>
                </a:tc>
                <a:tc>
                  <a:txBody>
                    <a:bodyPr wrap="square"/>
                    <a:lstStyle/>
                    <a:p>
                      <a:r>
                        <a:rPr sz="1000" b="0">
                          <a:solidFill>
                            <a:srgbClr val="E8EAED"/>
                          </a:solidFill>
                          <a:latin typeface="Segoe UI"/>
                        </a:rPr>
                        <a:t>Mixed-methods student study</a:t>
                      </a:r>
                    </a:p>
                  </a:txBody>
                  <a:tcPr anchor="t" marL="45720" marR="36576" marT="27432">
                    <a:solidFill>
                      <a:srgbClr val="0E141C"/>
                    </a:solidFill>
                  </a:tcPr>
                </a:tc>
                <a:tc>
                  <a:txBody>
                    <a:bodyPr wrap="square"/>
                    <a:lstStyle/>
                    <a:p>
                      <a:r>
                        <a:rPr sz="1000" b="0">
                          <a:solidFill>
                            <a:srgbClr val="E8EAED"/>
                          </a:solidFill>
                          <a:latin typeface="Segoe UI"/>
                        </a:rPr>
                        <a:t>About 92–106 students, June 2020</a:t>
                      </a:r>
                    </a:p>
                  </a:txBody>
                  <a:tcPr anchor="t" marL="45720" marR="36576" marT="27432">
                    <a:solidFill>
                      <a:srgbClr val="0E141C"/>
                    </a:solidFill>
                  </a:tcPr>
                </a:tc>
                <a:tc>
                  <a:txBody>
                    <a:bodyPr wrap="square"/>
                    <a:lstStyle/>
                    <a:p>
                      <a:r>
                        <a:rPr sz="1000" b="0">
                          <a:solidFill>
                            <a:srgbClr val="E8EAED"/>
                          </a:solidFill>
                          <a:latin typeface="Segoe UI"/>
                        </a:rPr>
                        <a:t>Webcam practicality and privacy concern</a:t>
                      </a:r>
                    </a:p>
                  </a:txBody>
                  <a:tcPr anchor="t" marL="45720" marR="36576" marT="27432">
                    <a:solidFill>
                      <a:srgbClr val="0E141C"/>
                    </a:solidFill>
                  </a:tcPr>
                </a:tc>
                <a:tc>
                  <a:txBody>
                    <a:bodyPr wrap="square"/>
                    <a:lstStyle/>
                    <a:p>
                      <a:r>
                        <a:rPr sz="1000" b="0">
                          <a:solidFill>
                            <a:srgbClr val="E8EAED"/>
                          </a:solidFill>
                          <a:latin typeface="Segoe UI"/>
                        </a:rPr>
                        <a:t>Most students called the webcam a privacy breach</a:t>
                      </a:r>
                    </a:p>
                  </a:txBody>
                  <a:tcPr anchor="t" marL="45720" marR="36576" marT="27432">
                    <a:solidFill>
                      <a:srgbClr val="0E141C"/>
                    </a:solidFill>
                  </a:tcPr>
                </a:tc>
              </a:tr>
              <a:tr h="540512">
                <a:tc>
                  <a:txBody>
                    <a:bodyPr wrap="square"/>
                    <a:lstStyle/>
                    <a:p>
                      <a:r>
                        <a:rPr sz="1000" b="0">
                          <a:solidFill>
                            <a:srgbClr val="E8EAED"/>
                          </a:solidFill>
                          <a:latin typeface="Segoe UI"/>
                        </a:rPr>
                        <a:t>Lee and Fanguy, 2022</a:t>
                      </a:r>
                    </a:p>
                  </a:txBody>
                  <a:tcPr anchor="t" marL="45720" marR="36576" marT="27432">
                    <a:solidFill>
                      <a:srgbClr val="121820"/>
                    </a:solidFill>
                  </a:tcPr>
                </a:tc>
                <a:tc>
                  <a:txBody>
                    <a:bodyPr wrap="square"/>
                    <a:lstStyle/>
                    <a:p>
                      <a:r>
                        <a:rPr sz="1000" b="0">
                          <a:solidFill>
                            <a:srgbClr val="E8EAED"/>
                          </a:solidFill>
                          <a:latin typeface="Segoe UI"/>
                        </a:rPr>
                        <a:t>Qualitative case study using Foucault</a:t>
                      </a:r>
                    </a:p>
                  </a:txBody>
                  <a:tcPr anchor="t" marL="45720" marR="36576" marT="27432">
                    <a:solidFill>
                      <a:srgbClr val="121820"/>
                    </a:solidFill>
                  </a:tcPr>
                </a:tc>
                <a:tc>
                  <a:txBody>
                    <a:bodyPr wrap="square"/>
                    <a:lstStyle/>
                    <a:p>
                      <a:r>
                        <a:rPr sz="1000" b="0">
                          <a:solidFill>
                            <a:srgbClr val="E8EAED"/>
                          </a:solidFill>
                          <a:latin typeface="Segoe UI"/>
                        </a:rPr>
                        <a:t>Large South Korean university, Safe Exam Browser and Zoom, autumn 2020</a:t>
                      </a:r>
                    </a:p>
                  </a:txBody>
                  <a:tcPr anchor="t" marL="45720" marR="36576" marT="27432">
                    <a:solidFill>
                      <a:srgbClr val="121820"/>
                    </a:solidFill>
                  </a:tcPr>
                </a:tc>
                <a:tc>
                  <a:txBody>
                    <a:bodyPr wrap="square"/>
                    <a:lstStyle/>
                    <a:p>
                      <a:r>
                        <a:rPr sz="1000" b="0">
                          <a:solidFill>
                            <a:srgbClr val="E8EAED"/>
                          </a:solidFill>
                          <a:latin typeface="Segoe UI"/>
                        </a:rPr>
                        <a:t>Student subjectivity, trust, pedagogical relationship</a:t>
                      </a:r>
                    </a:p>
                  </a:txBody>
                  <a:tcPr anchor="t" marL="45720" marR="36576" marT="27432">
                    <a:solidFill>
                      <a:srgbClr val="121820"/>
                    </a:solidFill>
                  </a:tcPr>
                </a:tc>
                <a:tc>
                  <a:txBody>
                    <a:bodyPr wrap="square"/>
                    <a:lstStyle/>
                    <a:p>
                      <a:r>
                        <a:rPr sz="1000" b="0">
                          <a:solidFill>
                            <a:srgbClr val="E8EAED"/>
                          </a:solidFill>
                          <a:latin typeface="Segoe UI"/>
                        </a:rPr>
                        <a:t>Shows the harm of surveillance; does not specify a bounded monitor</a:t>
                      </a:r>
                    </a:p>
                  </a:txBody>
                  <a:tcPr anchor="t" marL="45720" marR="36576" marT="27432">
                    <a:solidFill>
                      <a:srgbClr val="121820"/>
                    </a:solidFill>
                  </a:tcPr>
                </a:tc>
              </a:tr>
              <a:tr h="540512">
                <a:tc>
                  <a:txBody>
                    <a:bodyPr wrap="square"/>
                    <a:lstStyle/>
                    <a:p>
                      <a:r>
                        <a:rPr sz="1000" b="0">
                          <a:solidFill>
                            <a:srgbClr val="E8EAED"/>
                          </a:solidFill>
                          <a:latin typeface="Segoe UI"/>
                        </a:rPr>
                        <a:t>Meulmeester, Dubois, Krommenhoek-van Es et al., 2021</a:t>
                      </a:r>
                    </a:p>
                  </a:txBody>
                  <a:tcPr anchor="t" marL="45720" marR="36576" marT="27432">
                    <a:solidFill>
                      <a:srgbClr val="0E141C"/>
                    </a:solidFill>
                  </a:tcPr>
                </a:tc>
                <a:tc>
                  <a:txBody>
                    <a:bodyPr wrap="square"/>
                    <a:lstStyle/>
                    <a:p>
                      <a:r>
                        <a:rPr sz="1000" b="0">
                          <a:solidFill>
                            <a:srgbClr val="E8EAED"/>
                          </a:solidFill>
                          <a:latin typeface="Segoe UI"/>
                        </a:rPr>
                        <a:t>Post-test questionnaire</a:t>
                      </a:r>
                    </a:p>
                  </a:txBody>
                  <a:tcPr anchor="t" marL="45720" marR="36576" marT="27432">
                    <a:solidFill>
                      <a:srgbClr val="0E141C"/>
                    </a:solidFill>
                  </a:tcPr>
                </a:tc>
                <a:tc>
                  <a:txBody>
                    <a:bodyPr wrap="square"/>
                    <a:lstStyle/>
                    <a:p>
                      <a:r>
                        <a:rPr sz="1000" b="0">
                          <a:solidFill>
                            <a:srgbClr val="E8EAED"/>
                          </a:solidFill>
                          <a:latin typeface="Segoe UI"/>
                        </a:rPr>
                        <a:t>Medical students at one Dutch school, September 2020</a:t>
                      </a:r>
                    </a:p>
                  </a:txBody>
                  <a:tcPr anchor="t" marL="45720" marR="36576" marT="27432">
                    <a:solidFill>
                      <a:srgbClr val="0E141C"/>
                    </a:solidFill>
                  </a:tcPr>
                </a:tc>
                <a:tc>
                  <a:txBody>
                    <a:bodyPr wrap="square"/>
                    <a:lstStyle/>
                    <a:p>
                      <a:r>
                        <a:rPr sz="1000" b="0">
                          <a:solidFill>
                            <a:srgbClr val="E8EAED"/>
                          </a:solidFill>
                          <a:latin typeface="Segoe UI"/>
                        </a:rPr>
                        <a:t>Invalidation from network, noise, webcam; privacy</a:t>
                      </a:r>
                    </a:p>
                  </a:txBody>
                  <a:tcPr anchor="t" marL="45720" marR="36576" marT="27432">
                    <a:solidFill>
                      <a:srgbClr val="0E141C"/>
                    </a:solidFill>
                  </a:tcPr>
                </a:tc>
                <a:tc>
                  <a:txBody>
                    <a:bodyPr wrap="square"/>
                    <a:lstStyle/>
                    <a:p>
                      <a:r>
                        <a:rPr sz="1000" b="0">
                          <a:solidFill>
                            <a:srgbClr val="E8EAED"/>
                          </a:solidFill>
                          <a:latin typeface="Segoe UI"/>
                        </a:rPr>
                        <a:t>Worry about a false flag can itself change the sitting</a:t>
                      </a:r>
                    </a:p>
                  </a:txBody>
                  <a:tcPr anchor="t" marL="45720" marR="36576" marT="27432">
                    <a:solidFill>
                      <a:srgbClr val="0E141C"/>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F14"/>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256032"/>
            <a:ext cx="1920240" cy="635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73952"/>
            <a:ext cx="8595360" cy="256032"/>
          </a:xfrm>
          <a:prstGeom prst="rect">
            <a:avLst/>
          </a:prstGeom>
          <a:noFill/>
        </p:spPr>
        <p:txBody>
          <a:bodyPr wrap="square">
            <a:spAutoFit/>
          </a:bodyPr>
          <a:lstStyle/>
          <a:p>
            <a:pPr algn="l"/>
            <a:r>
              <a:rPr sz="1100" b="0">
                <a:solidFill>
                  <a:srgbClr val="8B949E"/>
                </a:solidFill>
                <a:latin typeface="Segoe UI"/>
              </a:rPr>
              <a:t>BACSE291  ·  Innovative Design Project  |  First Review  |  Fall Semester 2026</a:t>
            </a:r>
          </a:p>
        </p:txBody>
      </p:sp>
      <p:sp>
        <p:nvSpPr>
          <p:cNvPr id="5" name="TextBox 4"/>
          <p:cNvSpPr txBox="1"/>
          <p:nvPr/>
        </p:nvSpPr>
        <p:spPr>
          <a:xfrm>
            <a:off x="9326880" y="6473952"/>
            <a:ext cx="2468880" cy="256032"/>
          </a:xfrm>
          <a:prstGeom prst="rect">
            <a:avLst/>
          </a:prstGeom>
          <a:noFill/>
        </p:spPr>
        <p:txBody>
          <a:bodyPr wrap="square">
            <a:spAutoFit/>
          </a:bodyPr>
          <a:lstStyle/>
          <a:p>
            <a:pPr algn="r"/>
            <a:r>
              <a:rPr sz="1100" b="0">
                <a:solidFill>
                  <a:srgbClr val="00E5FF"/>
                </a:solidFill>
                <a:latin typeface="Cascadia Mono"/>
              </a:rPr>
              <a:t>APPENDIX   7</a:t>
            </a:r>
          </a:p>
        </p:txBody>
      </p:sp>
      <p:sp>
        <p:nvSpPr>
          <p:cNvPr id="6" name="TextBox 5"/>
          <p:cNvSpPr txBox="1"/>
          <p:nvPr/>
        </p:nvSpPr>
        <p:spPr>
          <a:xfrm>
            <a:off x="365760" y="347472"/>
            <a:ext cx="10972800" cy="256032"/>
          </a:xfrm>
          <a:prstGeom prst="rect">
            <a:avLst/>
          </a:prstGeom>
          <a:noFill/>
        </p:spPr>
        <p:txBody>
          <a:bodyPr wrap="square">
            <a:spAutoFit/>
          </a:bodyPr>
          <a:lstStyle/>
          <a:p>
            <a:pPr algn="l"/>
            <a:r>
              <a:rPr sz="1200" b="1">
                <a:solidFill>
                  <a:srgbClr val="00E5FF"/>
                </a:solidFill>
                <a:latin typeface="Cascadia Mono"/>
              </a:rPr>
              <a:t>// APPENDIX</a:t>
            </a:r>
          </a:p>
        </p:txBody>
      </p:sp>
      <p:sp>
        <p:nvSpPr>
          <p:cNvPr id="7" name="TextBox 6"/>
          <p:cNvSpPr txBox="1"/>
          <p:nvPr/>
        </p:nvSpPr>
        <p:spPr>
          <a:xfrm>
            <a:off x="365760" y="603504"/>
            <a:ext cx="11338560" cy="457200"/>
          </a:xfrm>
          <a:prstGeom prst="rect">
            <a:avLst/>
          </a:prstGeom>
          <a:noFill/>
        </p:spPr>
        <p:txBody>
          <a:bodyPr wrap="square">
            <a:spAutoFit/>
          </a:bodyPr>
          <a:lstStyle/>
          <a:p>
            <a:pPr algn="l"/>
            <a:r>
              <a:rPr sz="2800" b="1">
                <a:solidFill>
                  <a:srgbClr val="E8EAED"/>
                </a:solidFill>
                <a:latin typeface="Bahnschrift"/>
              </a:rPr>
              <a:t>A5   Privacy and ethics  (2/2)</a:t>
            </a:r>
          </a:p>
        </p:txBody>
      </p:sp>
      <p:graphicFrame>
        <p:nvGraphicFramePr>
          <p:cNvPr id="8" name="Table 7"/>
          <p:cNvGraphicFramePr>
            <a:graphicFrameLocks noGrp="1"/>
          </p:cNvGraphicFramePr>
          <p:nvPr/>
        </p:nvGraphicFramePr>
        <p:xfrm>
          <a:off x="256032" y="1188720"/>
          <a:ext cx="11430000" cy="2029967"/>
        </p:xfrm>
        <a:graphic>
          <a:graphicData uri="http://schemas.openxmlformats.org/drawingml/2006/table">
            <a:tbl>
              <a:tblPr firstRow="1" bandRow="1">
                <a:tableStyleId>{5C22544A-7EE6-4342-B048-85BDC9FD1C3A}</a:tableStyleId>
              </a:tblPr>
              <a:tblGrid>
                <a:gridCol w="2331720"/>
                <a:gridCol w="2194560"/>
                <a:gridCol w="2286000"/>
                <a:gridCol w="2286000"/>
                <a:gridCol w="2331720"/>
              </a:tblGrid>
              <a:tr h="507491">
                <a:tc>
                  <a:txBody>
                    <a:bodyPr wrap="square"/>
                    <a:lstStyle/>
                    <a:p>
                      <a:r>
                        <a:rPr sz="1000" b="1">
                          <a:solidFill>
                            <a:srgbClr val="0B0F14"/>
                          </a:solidFill>
                          <a:latin typeface="Segoe UI"/>
                        </a:rPr>
                        <a:t>Author and year</a:t>
                      </a:r>
                    </a:p>
                  </a:txBody>
                  <a:tcPr anchor="t" marL="45720" marR="36576" marT="27432">
                    <a:solidFill>
                      <a:srgbClr val="00E5FF"/>
                    </a:solidFill>
                  </a:tcPr>
                </a:tc>
                <a:tc>
                  <a:txBody>
                    <a:bodyPr wrap="square"/>
                    <a:lstStyle/>
                    <a:p>
                      <a:r>
                        <a:rPr sz="1000" b="1">
                          <a:solidFill>
                            <a:srgbClr val="0B0F14"/>
                          </a:solidFill>
                          <a:latin typeface="Segoe UI"/>
                        </a:rPr>
                        <a:t>Method</a:t>
                      </a:r>
                    </a:p>
                  </a:txBody>
                  <a:tcPr anchor="t" marL="45720" marR="36576" marT="27432">
                    <a:solidFill>
                      <a:srgbClr val="00E5FF"/>
                    </a:solidFill>
                  </a:tcPr>
                </a:tc>
                <a:tc>
                  <a:txBody>
                    <a:bodyPr wrap="square"/>
                    <a:lstStyle/>
                    <a:p>
                      <a:r>
                        <a:rPr sz="1000" b="1">
                          <a:solidFill>
                            <a:srgbClr val="0B0F14"/>
                          </a:solidFill>
                          <a:latin typeface="Segoe UI"/>
                        </a:rPr>
                        <a:t>Dataset or testbed</a:t>
                      </a:r>
                    </a:p>
                  </a:txBody>
                  <a:tcPr anchor="t" marL="45720" marR="36576" marT="27432">
                    <a:solidFill>
                      <a:srgbClr val="00E5FF"/>
                    </a:solidFill>
                  </a:tcPr>
                </a:tc>
                <a:tc>
                  <a:txBody>
                    <a:bodyPr wrap="square"/>
                    <a:lstStyle/>
                    <a:p>
                      <a:r>
                        <a:rPr sz="1000" b="1">
                          <a:solidFill>
                            <a:srgbClr val="0B0F14"/>
                          </a:solidFill>
                          <a:latin typeface="Segoe UI"/>
                        </a:rPr>
                        <a:t>Key parameters</a:t>
                      </a:r>
                    </a:p>
                  </a:txBody>
                  <a:tcPr anchor="t" marL="45720" marR="36576" marT="27432">
                    <a:solidFill>
                      <a:srgbClr val="00E5FF"/>
                    </a:solidFill>
                  </a:tcPr>
                </a:tc>
                <a:tc>
                  <a:txBody>
                    <a:bodyPr wrap="square"/>
                    <a:lstStyle/>
                    <a:p>
                      <a:r>
                        <a:rPr sz="1000" b="1">
                          <a:solidFill>
                            <a:srgbClr val="0B0F14"/>
                          </a:solidFill>
                          <a:latin typeface="Segoe UI"/>
                        </a:rPr>
                        <a:t>Limitation</a:t>
                      </a:r>
                    </a:p>
                  </a:txBody>
                  <a:tcPr anchor="t" marL="45720" marR="36576" marT="27432">
                    <a:solidFill>
                      <a:srgbClr val="00E5FF"/>
                    </a:solidFill>
                  </a:tcPr>
                </a:tc>
              </a:tr>
              <a:tr h="507491">
                <a:tc>
                  <a:txBody>
                    <a:bodyPr wrap="square"/>
                    <a:lstStyle/>
                    <a:p>
                      <a:r>
                        <a:rPr sz="1000" b="0">
                          <a:solidFill>
                            <a:srgbClr val="E8EAED"/>
                          </a:solidFill>
                          <a:latin typeface="Segoe UI"/>
                        </a:rPr>
                        <a:t>Milone, Cortese, Balestrieri and Pittenger, 2017 · foundational</a:t>
                      </a:r>
                    </a:p>
                  </a:txBody>
                  <a:tcPr anchor="t" marL="45720" marR="36576" marT="27432">
                    <a:solidFill>
                      <a:srgbClr val="121820"/>
                    </a:solidFill>
                  </a:tcPr>
                </a:tc>
                <a:tc>
                  <a:txBody>
                    <a:bodyPr wrap="square"/>
                    <a:lstStyle/>
                    <a:p>
                      <a:r>
                        <a:rPr sz="1000" b="0">
                          <a:solidFill>
                            <a:srgbClr val="E8EAED"/>
                          </a:solidFill>
                          <a:latin typeface="Segoe UI"/>
                        </a:rPr>
                        <a:t>Student-experience study</a:t>
                      </a:r>
                    </a:p>
                  </a:txBody>
                  <a:tcPr anchor="t" marL="45720" marR="36576" marT="27432">
                    <a:solidFill>
                      <a:srgbClr val="121820"/>
                    </a:solidFill>
                  </a:tcPr>
                </a:tc>
                <a:tc>
                  <a:txBody>
                    <a:bodyPr wrap="square"/>
                    <a:lstStyle/>
                    <a:p>
                      <a:r>
                        <a:rPr sz="1000" b="0">
                          <a:solidFill>
                            <a:srgbClr val="E8EAED"/>
                          </a:solidFill>
                          <a:latin typeface="Segoe UI"/>
                        </a:rPr>
                        <a:t>Pharmacy students in proctored online exams</a:t>
                      </a:r>
                    </a:p>
                  </a:txBody>
                  <a:tcPr anchor="t" marL="45720" marR="36576" marT="27432">
                    <a:solidFill>
                      <a:srgbClr val="121820"/>
                    </a:solidFill>
                  </a:tcPr>
                </a:tc>
                <a:tc>
                  <a:txBody>
                    <a:bodyPr wrap="square"/>
                    <a:lstStyle/>
                    <a:p>
                      <a:r>
                        <a:rPr sz="1000" b="0">
                          <a:solidFill>
                            <a:srgbClr val="E8EAED"/>
                          </a:solidFill>
                          <a:latin typeface="Segoe UI"/>
                        </a:rPr>
                        <a:t>Stress, fairness, technical failure</a:t>
                      </a:r>
                    </a:p>
                  </a:txBody>
                  <a:tcPr anchor="t" marL="45720" marR="36576" marT="27432">
                    <a:solidFill>
                      <a:srgbClr val="121820"/>
                    </a:solidFill>
                  </a:tcPr>
                </a:tc>
                <a:tc>
                  <a:txBody>
                    <a:bodyPr wrap="square"/>
                    <a:lstStyle/>
                    <a:p>
                      <a:r>
                        <a:rPr sz="1000" b="0">
                          <a:solidFill>
                            <a:srgbClr val="E8EAED"/>
                          </a:solidFill>
                          <a:latin typeface="Segoe UI"/>
                        </a:rPr>
                        <a:t>Experience of surveillance, not an explainable rule</a:t>
                      </a:r>
                    </a:p>
                  </a:txBody>
                  <a:tcPr anchor="t" marL="45720" marR="36576" marT="27432">
                    <a:solidFill>
                      <a:srgbClr val="121820"/>
                    </a:solidFill>
                  </a:tcPr>
                </a:tc>
              </a:tr>
              <a:tr h="507491">
                <a:tc>
                  <a:txBody>
                    <a:bodyPr wrap="square"/>
                    <a:lstStyle/>
                    <a:p>
                      <a:r>
                        <a:rPr sz="1000" b="0">
                          <a:solidFill>
                            <a:srgbClr val="E8EAED"/>
                          </a:solidFill>
                          <a:latin typeface="Segoe UI"/>
                        </a:rPr>
                        <a:t>Mutimukwe, Viberg, McGrath and Cerratto-Pargman, 2025</a:t>
                      </a:r>
                    </a:p>
                  </a:txBody>
                  <a:tcPr anchor="t" marL="45720" marR="36576" marT="27432">
                    <a:solidFill>
                      <a:srgbClr val="0E141C"/>
                    </a:solidFill>
                  </a:tcPr>
                </a:tc>
                <a:tc>
                  <a:txBody>
                    <a:bodyPr wrap="square"/>
                    <a:lstStyle/>
                    <a:p>
                      <a:r>
                        <a:rPr sz="1000" b="0">
                          <a:solidFill>
                            <a:srgbClr val="E8EAED"/>
                          </a:solidFill>
                          <a:latin typeface="Segoe UI"/>
                        </a:rPr>
                        <a:t>Stakeholder interviews</a:t>
                      </a:r>
                    </a:p>
                  </a:txBody>
                  <a:tcPr anchor="t" marL="45720" marR="36576" marT="27432">
                    <a:solidFill>
                      <a:srgbClr val="0E141C"/>
                    </a:solidFill>
                  </a:tcPr>
                </a:tc>
                <a:tc>
                  <a:txBody>
                    <a:bodyPr wrap="square"/>
                    <a:lstStyle/>
                    <a:p>
                      <a:r>
                        <a:rPr sz="1000" b="0">
                          <a:solidFill>
                            <a:srgbClr val="E8EAED"/>
                          </a:solidFill>
                          <a:latin typeface="Segoe UI"/>
                        </a:rPr>
                        <a:t>10 interviews, Scandinavia</a:t>
                      </a:r>
                    </a:p>
                  </a:txBody>
                  <a:tcPr anchor="t" marL="45720" marR="36576" marT="27432">
                    <a:solidFill>
                      <a:srgbClr val="0E141C"/>
                    </a:solidFill>
                  </a:tcPr>
                </a:tc>
                <a:tc>
                  <a:txBody>
                    <a:bodyPr wrap="square"/>
                    <a:lstStyle/>
                    <a:p>
                      <a:r>
                        <a:rPr sz="1000" b="0">
                          <a:solidFill>
                            <a:srgbClr val="E8EAED"/>
                          </a:solidFill>
                          <a:latin typeface="Segoe UI"/>
                        </a:rPr>
                        <a:t>What is collected, who sees it, and for how long</a:t>
                      </a:r>
                    </a:p>
                  </a:txBody>
                  <a:tcPr anchor="t" marL="45720" marR="36576" marT="27432">
                    <a:solidFill>
                      <a:srgbClr val="0E141C"/>
                    </a:solidFill>
                  </a:tcPr>
                </a:tc>
                <a:tc>
                  <a:txBody>
                    <a:bodyPr wrap="square"/>
                    <a:lstStyle/>
                    <a:p>
                      <a:r>
                        <a:rPr sz="1000" b="0">
                          <a:solidFill>
                            <a:srgbClr val="E8EAED"/>
                          </a:solidFill>
                          <a:latin typeface="Segoe UI"/>
                        </a:rPr>
                        <a:t>Privacy is negotiated in talk; the systems still default to biometrics</a:t>
                      </a:r>
                    </a:p>
                  </a:txBody>
                  <a:tcPr anchor="t" marL="45720" marR="36576" marT="27432">
                    <a:solidFill>
                      <a:srgbClr val="0E141C"/>
                    </a:solidFill>
                  </a:tcPr>
                </a:tc>
              </a:tr>
              <a:tr h="507494">
                <a:tc>
                  <a:txBody>
                    <a:bodyPr wrap="square"/>
                    <a:lstStyle/>
                    <a:p>
                      <a:r>
                        <a:rPr sz="1000" b="0">
                          <a:solidFill>
                            <a:srgbClr val="E8EAED"/>
                          </a:solidFill>
                          <a:latin typeface="Segoe UI"/>
                        </a:rPr>
                        <a:t>Selwyn, O'Neill, Smith, Andrejevic and Gu, 2023</a:t>
                      </a:r>
                    </a:p>
                  </a:txBody>
                  <a:tcPr anchor="t" marL="45720" marR="36576" marT="27432">
                    <a:solidFill>
                      <a:srgbClr val="121820"/>
                    </a:solidFill>
                  </a:tcPr>
                </a:tc>
                <a:tc>
                  <a:txBody>
                    <a:bodyPr wrap="square"/>
                    <a:lstStyle/>
                    <a:p>
                      <a:r>
                        <a:rPr sz="1000" b="0">
                          <a:solidFill>
                            <a:srgbClr val="E8EAED"/>
                          </a:solidFill>
                          <a:latin typeface="Segoe UI"/>
                        </a:rPr>
                        <a:t>Domestication study of adoption</a:t>
                      </a:r>
                    </a:p>
                  </a:txBody>
                  <a:tcPr anchor="t" marL="45720" marR="36576" marT="27432">
                    <a:solidFill>
                      <a:srgbClr val="121820"/>
                    </a:solidFill>
                  </a:tcPr>
                </a:tc>
                <a:tc>
                  <a:txBody>
                    <a:bodyPr wrap="square"/>
                    <a:lstStyle/>
                    <a:p>
                      <a:r>
                        <a:rPr sz="1000" b="0">
                          <a:solidFill>
                            <a:srgbClr val="E8EAED"/>
                          </a:solidFill>
                          <a:latin typeface="Segoe UI"/>
                        </a:rPr>
                        <a:t>Interviews, documents, news, and marketing, first pandemic year</a:t>
                      </a:r>
                    </a:p>
                  </a:txBody>
                  <a:tcPr anchor="t" marL="45720" marR="36576" marT="27432">
                    <a:solidFill>
                      <a:srgbClr val="121820"/>
                    </a:solidFill>
                  </a:tcPr>
                </a:tc>
                <a:tc>
                  <a:txBody>
                    <a:bodyPr wrap="square"/>
                    <a:lstStyle/>
                    <a:p>
                      <a:r>
                        <a:rPr sz="1000" b="0">
                          <a:solidFill>
                            <a:srgbClr val="E8EAED"/>
                          </a:solidFill>
                          <a:latin typeface="Segoe UI"/>
                        </a:rPr>
                        <a:t>Who controls the system; hidden labour; student vulnerability</a:t>
                      </a:r>
                    </a:p>
                  </a:txBody>
                  <a:tcPr anchor="t" marL="45720" marR="36576" marT="27432">
                    <a:solidFill>
                      <a:srgbClr val="121820"/>
                    </a:solidFill>
                  </a:tcPr>
                </a:tc>
                <a:tc>
                  <a:txBody>
                    <a:bodyPr wrap="square"/>
                    <a:lstStyle/>
                    <a:p>
                      <a:r>
                        <a:rPr sz="1000" b="0">
                          <a:solidFill>
                            <a:srgbClr val="E8EAED"/>
                          </a:solidFill>
                          <a:latin typeface="Segoe UI"/>
                        </a:rPr>
                        <a:t>Universities surrendered control to vendors; automation still needs people</a:t>
                      </a:r>
                    </a:p>
                  </a:txBody>
                  <a:tcPr anchor="t" marL="45720" marR="36576" marT="27432">
                    <a:solidFill>
                      <a:srgbClr val="121820"/>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F14"/>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256032"/>
            <a:ext cx="1920240" cy="635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73952"/>
            <a:ext cx="8595360" cy="256032"/>
          </a:xfrm>
          <a:prstGeom prst="rect">
            <a:avLst/>
          </a:prstGeom>
          <a:noFill/>
        </p:spPr>
        <p:txBody>
          <a:bodyPr wrap="square">
            <a:spAutoFit/>
          </a:bodyPr>
          <a:lstStyle/>
          <a:p>
            <a:pPr algn="l"/>
            <a:r>
              <a:rPr sz="1100" b="0">
                <a:solidFill>
                  <a:srgbClr val="8B949E"/>
                </a:solidFill>
                <a:latin typeface="Segoe UI"/>
              </a:rPr>
              <a:t>BACSE291  ·  Innovative Design Project  |  First Review  |  Fall Semester 2026</a:t>
            </a:r>
          </a:p>
        </p:txBody>
      </p:sp>
      <p:sp>
        <p:nvSpPr>
          <p:cNvPr id="5" name="TextBox 4"/>
          <p:cNvSpPr txBox="1"/>
          <p:nvPr/>
        </p:nvSpPr>
        <p:spPr>
          <a:xfrm>
            <a:off x="9326880" y="6473952"/>
            <a:ext cx="2468880" cy="256032"/>
          </a:xfrm>
          <a:prstGeom prst="rect">
            <a:avLst/>
          </a:prstGeom>
          <a:noFill/>
        </p:spPr>
        <p:txBody>
          <a:bodyPr wrap="square">
            <a:spAutoFit/>
          </a:bodyPr>
          <a:lstStyle/>
          <a:p>
            <a:pPr algn="r"/>
            <a:r>
              <a:rPr sz="1100" b="0">
                <a:solidFill>
                  <a:srgbClr val="00E5FF"/>
                </a:solidFill>
                <a:latin typeface="Cascadia Mono"/>
              </a:rPr>
              <a:t>APPENDIX   8</a:t>
            </a:r>
          </a:p>
        </p:txBody>
      </p:sp>
      <p:sp>
        <p:nvSpPr>
          <p:cNvPr id="6" name="TextBox 5"/>
          <p:cNvSpPr txBox="1"/>
          <p:nvPr/>
        </p:nvSpPr>
        <p:spPr>
          <a:xfrm>
            <a:off x="365760" y="347472"/>
            <a:ext cx="10972800" cy="256032"/>
          </a:xfrm>
          <a:prstGeom prst="rect">
            <a:avLst/>
          </a:prstGeom>
          <a:noFill/>
        </p:spPr>
        <p:txBody>
          <a:bodyPr wrap="square">
            <a:spAutoFit/>
          </a:bodyPr>
          <a:lstStyle/>
          <a:p>
            <a:pPr algn="l"/>
            <a:r>
              <a:rPr sz="1200" b="1">
                <a:solidFill>
                  <a:srgbClr val="00E5FF"/>
                </a:solidFill>
                <a:latin typeface="Cascadia Mono"/>
              </a:rPr>
              <a:t>// APPENDIX</a:t>
            </a:r>
          </a:p>
        </p:txBody>
      </p:sp>
      <p:sp>
        <p:nvSpPr>
          <p:cNvPr id="7" name="TextBox 6"/>
          <p:cNvSpPr txBox="1"/>
          <p:nvPr/>
        </p:nvSpPr>
        <p:spPr>
          <a:xfrm>
            <a:off x="365760" y="603504"/>
            <a:ext cx="11338560" cy="457200"/>
          </a:xfrm>
          <a:prstGeom prst="rect">
            <a:avLst/>
          </a:prstGeom>
          <a:noFill/>
        </p:spPr>
        <p:txBody>
          <a:bodyPr wrap="square">
            <a:spAutoFit/>
          </a:bodyPr>
          <a:lstStyle/>
          <a:p>
            <a:pPr algn="l"/>
            <a:r>
              <a:rPr sz="2800" b="1">
                <a:solidFill>
                  <a:srgbClr val="E8EAED"/>
                </a:solidFill>
                <a:latin typeface="Bahnschrift"/>
              </a:rPr>
              <a:t>A6   Generative AI and answer patterns  (1/2)</a:t>
            </a:r>
          </a:p>
        </p:txBody>
      </p:sp>
      <p:graphicFrame>
        <p:nvGraphicFramePr>
          <p:cNvPr id="8" name="Table 7"/>
          <p:cNvGraphicFramePr>
            <a:graphicFrameLocks noGrp="1"/>
          </p:cNvGraphicFramePr>
          <p:nvPr/>
        </p:nvGraphicFramePr>
        <p:xfrm>
          <a:off x="256032" y="1188720"/>
          <a:ext cx="11430000" cy="4864608"/>
        </p:xfrm>
        <a:graphic>
          <a:graphicData uri="http://schemas.openxmlformats.org/drawingml/2006/table">
            <a:tbl>
              <a:tblPr firstRow="1" bandRow="1">
                <a:tableStyleId>{5C22544A-7EE6-4342-B048-85BDC9FD1C3A}</a:tableStyleId>
              </a:tblPr>
              <a:tblGrid>
                <a:gridCol w="2331720"/>
                <a:gridCol w="2194560"/>
                <a:gridCol w="2286000"/>
                <a:gridCol w="2286000"/>
                <a:gridCol w="2331720"/>
              </a:tblGrid>
              <a:tr h="540512">
                <a:tc>
                  <a:txBody>
                    <a:bodyPr wrap="square"/>
                    <a:lstStyle/>
                    <a:p>
                      <a:r>
                        <a:rPr sz="1000" b="1">
                          <a:solidFill>
                            <a:srgbClr val="0B0F14"/>
                          </a:solidFill>
                          <a:latin typeface="Segoe UI"/>
                        </a:rPr>
                        <a:t>Author and year</a:t>
                      </a:r>
                    </a:p>
                  </a:txBody>
                  <a:tcPr anchor="t" marL="45720" marR="36576" marT="27432">
                    <a:solidFill>
                      <a:srgbClr val="00E5FF"/>
                    </a:solidFill>
                  </a:tcPr>
                </a:tc>
                <a:tc>
                  <a:txBody>
                    <a:bodyPr wrap="square"/>
                    <a:lstStyle/>
                    <a:p>
                      <a:r>
                        <a:rPr sz="1000" b="1">
                          <a:solidFill>
                            <a:srgbClr val="0B0F14"/>
                          </a:solidFill>
                          <a:latin typeface="Segoe UI"/>
                        </a:rPr>
                        <a:t>Method</a:t>
                      </a:r>
                    </a:p>
                  </a:txBody>
                  <a:tcPr anchor="t" marL="45720" marR="36576" marT="27432">
                    <a:solidFill>
                      <a:srgbClr val="00E5FF"/>
                    </a:solidFill>
                  </a:tcPr>
                </a:tc>
                <a:tc>
                  <a:txBody>
                    <a:bodyPr wrap="square"/>
                    <a:lstStyle/>
                    <a:p>
                      <a:r>
                        <a:rPr sz="1000" b="1">
                          <a:solidFill>
                            <a:srgbClr val="0B0F14"/>
                          </a:solidFill>
                          <a:latin typeface="Segoe UI"/>
                        </a:rPr>
                        <a:t>Dataset or testbed</a:t>
                      </a:r>
                    </a:p>
                  </a:txBody>
                  <a:tcPr anchor="t" marL="45720" marR="36576" marT="27432">
                    <a:solidFill>
                      <a:srgbClr val="00E5FF"/>
                    </a:solidFill>
                  </a:tcPr>
                </a:tc>
                <a:tc>
                  <a:txBody>
                    <a:bodyPr wrap="square"/>
                    <a:lstStyle/>
                    <a:p>
                      <a:r>
                        <a:rPr sz="1000" b="1">
                          <a:solidFill>
                            <a:srgbClr val="0B0F14"/>
                          </a:solidFill>
                          <a:latin typeface="Segoe UI"/>
                        </a:rPr>
                        <a:t>Key parameters</a:t>
                      </a:r>
                    </a:p>
                  </a:txBody>
                  <a:tcPr anchor="t" marL="45720" marR="36576" marT="27432">
                    <a:solidFill>
                      <a:srgbClr val="00E5FF"/>
                    </a:solidFill>
                  </a:tcPr>
                </a:tc>
                <a:tc>
                  <a:txBody>
                    <a:bodyPr wrap="square"/>
                    <a:lstStyle/>
                    <a:p>
                      <a:r>
                        <a:rPr sz="1000" b="1">
                          <a:solidFill>
                            <a:srgbClr val="0B0F14"/>
                          </a:solidFill>
                          <a:latin typeface="Segoe UI"/>
                        </a:rPr>
                        <a:t>Limitation</a:t>
                      </a:r>
                    </a:p>
                  </a:txBody>
                  <a:tcPr anchor="t" marL="45720" marR="36576" marT="27432">
                    <a:solidFill>
                      <a:srgbClr val="00E5FF"/>
                    </a:solidFill>
                  </a:tcPr>
                </a:tc>
              </a:tr>
              <a:tr h="540512">
                <a:tc>
                  <a:txBody>
                    <a:bodyPr wrap="square"/>
                    <a:lstStyle/>
                    <a:p>
                      <a:r>
                        <a:rPr sz="1000" b="0">
                          <a:solidFill>
                            <a:srgbClr val="E8EAED"/>
                          </a:solidFill>
                          <a:latin typeface="Segoe UI"/>
                        </a:rPr>
                        <a:t>Dendir and Maxwell, 2020 · foundational</a:t>
                      </a:r>
                    </a:p>
                  </a:txBody>
                  <a:tcPr anchor="t" marL="45720" marR="36576" marT="27432">
                    <a:solidFill>
                      <a:srgbClr val="121820"/>
                    </a:solidFill>
                  </a:tcPr>
                </a:tc>
                <a:tc>
                  <a:txBody>
                    <a:bodyPr wrap="square"/>
                    <a:lstStyle/>
                    <a:p>
                      <a:r>
                        <a:rPr sz="1000" b="0">
                          <a:solidFill>
                            <a:srgbClr val="E8EAED"/>
                          </a:solidFill>
                          <a:latin typeface="Segoe UI"/>
                        </a:rPr>
                        <a:t>Score comparison under proctoring</a:t>
                      </a:r>
                    </a:p>
                  </a:txBody>
                  <a:tcPr anchor="t" marL="45720" marR="36576" marT="27432">
                    <a:solidFill>
                      <a:srgbClr val="121820"/>
                    </a:solidFill>
                  </a:tcPr>
                </a:tc>
                <a:tc>
                  <a:txBody>
                    <a:bodyPr wrap="square"/>
                    <a:lstStyle/>
                    <a:p>
                      <a:r>
                        <a:rPr sz="1000" b="0">
                          <a:solidFill>
                            <a:srgbClr val="E8EAED"/>
                          </a:solidFill>
                          <a:latin typeface="Segoe UI"/>
                        </a:rPr>
                        <a:t>Online course exams before and after proctoring</a:t>
                      </a:r>
                    </a:p>
                  </a:txBody>
                  <a:tcPr anchor="t" marL="45720" marR="36576" marT="27432">
                    <a:solidFill>
                      <a:srgbClr val="121820"/>
                    </a:solidFill>
                  </a:tcPr>
                </a:tc>
                <a:tc>
                  <a:txBody>
                    <a:bodyPr wrap="square"/>
                    <a:lstStyle/>
                    <a:p>
                      <a:r>
                        <a:rPr sz="1000" b="0">
                          <a:solidFill>
                            <a:srgbClr val="E8EAED"/>
                          </a:solidFill>
                          <a:latin typeface="Segoe UI"/>
                        </a:rPr>
                        <a:t>Score change when a proctor is added</a:t>
                      </a:r>
                    </a:p>
                  </a:txBody>
                  <a:tcPr anchor="t" marL="45720" marR="36576" marT="27432">
                    <a:solidFill>
                      <a:srgbClr val="121820"/>
                    </a:solidFill>
                  </a:tcPr>
                </a:tc>
                <a:tc>
                  <a:txBody>
                    <a:bodyPr wrap="square"/>
                    <a:lstStyle/>
                    <a:p>
                      <a:r>
                        <a:rPr sz="1000" b="0">
                          <a:solidFill>
                            <a:srgbClr val="E8EAED"/>
                          </a:solidFill>
                          <a:latin typeface="Segoe UI"/>
                        </a:rPr>
                        <a:t>Does not open the scoring black box</a:t>
                      </a:r>
                    </a:p>
                  </a:txBody>
                  <a:tcPr anchor="t" marL="45720" marR="36576" marT="27432">
                    <a:solidFill>
                      <a:srgbClr val="121820"/>
                    </a:solidFill>
                  </a:tcPr>
                </a:tc>
              </a:tr>
              <a:tr h="540512">
                <a:tc>
                  <a:txBody>
                    <a:bodyPr wrap="square"/>
                    <a:lstStyle/>
                    <a:p>
                      <a:r>
                        <a:rPr sz="1000" b="0">
                          <a:solidFill>
                            <a:srgbClr val="E8EAED"/>
                          </a:solidFill>
                          <a:latin typeface="Segoe UI"/>
                        </a:rPr>
                        <a:t>Golden and Kohlbeck, 2020 · foundational</a:t>
                      </a:r>
                    </a:p>
                  </a:txBody>
                  <a:tcPr anchor="t" marL="45720" marR="36576" marT="27432">
                    <a:solidFill>
                      <a:srgbClr val="0E141C"/>
                    </a:solidFill>
                  </a:tcPr>
                </a:tc>
                <a:tc>
                  <a:txBody>
                    <a:bodyPr wrap="square"/>
                    <a:lstStyle/>
                    <a:p>
                      <a:r>
                        <a:rPr sz="1000" b="0">
                          <a:solidFill>
                            <a:srgbClr val="E8EAED"/>
                          </a:solidFill>
                          <a:latin typeface="Segoe UI"/>
                        </a:rPr>
                        <a:t>Study of test-bank item leakage</a:t>
                      </a:r>
                    </a:p>
                  </a:txBody>
                  <a:tcPr anchor="t" marL="45720" marR="36576" marT="27432">
                    <a:solidFill>
                      <a:srgbClr val="0E141C"/>
                    </a:solidFill>
                  </a:tcPr>
                </a:tc>
                <a:tc>
                  <a:txBody>
                    <a:bodyPr wrap="square"/>
                    <a:lstStyle/>
                    <a:p>
                      <a:r>
                        <a:rPr sz="1000" b="0">
                          <a:solidFill>
                            <a:srgbClr val="E8EAED"/>
                          </a:solidFill>
                          <a:latin typeface="Segoe UI"/>
                        </a:rPr>
                        <a:t>Online accounting classes</a:t>
                      </a:r>
                    </a:p>
                  </a:txBody>
                  <a:tcPr anchor="t" marL="45720" marR="36576" marT="27432">
                    <a:solidFill>
                      <a:srgbClr val="0E141C"/>
                    </a:solidFill>
                  </a:tcPr>
                </a:tc>
                <a:tc>
                  <a:txBody>
                    <a:bodyPr wrap="square"/>
                    <a:lstStyle/>
                    <a:p>
                      <a:r>
                        <a:rPr sz="1000" b="0">
                          <a:solidFill>
                            <a:srgbClr val="E8EAED"/>
                          </a:solidFill>
                          <a:latin typeface="Segoe UI"/>
                        </a:rPr>
                        <a:t>Item exposure and score patterns</a:t>
                      </a:r>
                    </a:p>
                  </a:txBody>
                  <a:tcPr anchor="t" marL="45720" marR="36576" marT="27432">
                    <a:solidFill>
                      <a:srgbClr val="0E141C"/>
                    </a:solidFill>
                  </a:tcPr>
                </a:tc>
                <a:tc>
                  <a:txBody>
                    <a:bodyPr wrap="square"/>
                    <a:lstStyle/>
                    <a:p>
                      <a:r>
                        <a:rPr sz="1000" b="0">
                          <a:solidFill>
                            <a:srgbClr val="E8EAED"/>
                          </a:solidFill>
                          <a:latin typeface="Segoe UI"/>
                        </a:rPr>
                        <a:t>About reused items, not about what the endpoint is doing</a:t>
                      </a:r>
                    </a:p>
                  </a:txBody>
                  <a:tcPr anchor="t" marL="45720" marR="36576" marT="27432">
                    <a:solidFill>
                      <a:srgbClr val="0E141C"/>
                    </a:solidFill>
                  </a:tcPr>
                </a:tc>
              </a:tr>
              <a:tr h="540512">
                <a:tc>
                  <a:txBody>
                    <a:bodyPr wrap="square"/>
                    <a:lstStyle/>
                    <a:p>
                      <a:r>
                        <a:rPr sz="1000" b="0">
                          <a:solidFill>
                            <a:srgbClr val="E8EAED"/>
                          </a:solidFill>
                          <a:latin typeface="Segoe UI"/>
                        </a:rPr>
                        <a:t>Henderson, Chung, Awdry, Mundy, Bryant, Ashford and Ryan, 2023</a:t>
                      </a:r>
                    </a:p>
                  </a:txBody>
                  <a:tcPr anchor="t" marL="45720" marR="36576" marT="27432">
                    <a:solidFill>
                      <a:srgbClr val="121820"/>
                    </a:solidFill>
                  </a:tcPr>
                </a:tc>
                <a:tc>
                  <a:txBody>
                    <a:bodyPr wrap="square"/>
                    <a:lstStyle/>
                    <a:p>
                      <a:r>
                        <a:rPr sz="1000" b="0">
                          <a:solidFill>
                            <a:srgbClr val="E8EAED"/>
                          </a:solidFill>
                          <a:latin typeface="Segoe UI"/>
                        </a:rPr>
                        <a:t>Large post-exam self-report survey</a:t>
                      </a:r>
                    </a:p>
                  </a:txBody>
                  <a:tcPr anchor="t" marL="45720" marR="36576" marT="27432">
                    <a:solidFill>
                      <a:srgbClr val="121820"/>
                    </a:solidFill>
                  </a:tcPr>
                </a:tc>
                <a:tc>
                  <a:txBody>
                    <a:bodyPr wrap="square"/>
                    <a:lstStyle/>
                    <a:p>
                      <a:r>
                        <a:rPr sz="1000" b="0">
                          <a:solidFill>
                            <a:srgbClr val="E8EAED"/>
                          </a:solidFill>
                          <a:latin typeface="Segoe UI"/>
                        </a:rPr>
                        <a:t>7,839 students; 216 reported cheating; one Australian university, 2021</a:t>
                      </a:r>
                    </a:p>
                  </a:txBody>
                  <a:tcPr anchor="t" marL="45720" marR="36576" marT="27432">
                    <a:solidFill>
                      <a:srgbClr val="121820"/>
                    </a:solidFill>
                  </a:tcPr>
                </a:tc>
                <a:tc>
                  <a:txBody>
                    <a:bodyPr wrap="square"/>
                    <a:lstStyle/>
                    <a:p>
                      <a:r>
                        <a:rPr sz="1000" b="0">
                          <a:solidFill>
                            <a:srgbClr val="E8EAED"/>
                          </a:solidFill>
                          <a:latin typeface="Segoe UI"/>
                        </a:rPr>
                        <a:t>Security measure, design, conditions, demographics</a:t>
                      </a:r>
                    </a:p>
                  </a:txBody>
                  <a:tcPr anchor="t" marL="45720" marR="36576" marT="27432">
                    <a:solidFill>
                      <a:srgbClr val="121820"/>
                    </a:solidFill>
                  </a:tcPr>
                </a:tc>
                <a:tc>
                  <a:txBody>
                    <a:bodyPr wrap="square"/>
                    <a:lstStyle/>
                    <a:p>
                      <a:r>
                        <a:rPr sz="1000" b="0">
                          <a:solidFill>
                            <a:srgbClr val="E8EAED"/>
                          </a:solidFill>
                          <a:latin typeface="Segoe UI"/>
                        </a:rPr>
                        <a:t>Cheating occurred across security measures; proctoring was incomplete</a:t>
                      </a:r>
                    </a:p>
                  </a:txBody>
                  <a:tcPr anchor="t" marL="45720" marR="36576" marT="27432">
                    <a:solidFill>
                      <a:srgbClr val="121820"/>
                    </a:solidFill>
                  </a:tcPr>
                </a:tc>
              </a:tr>
              <a:tr h="540512">
                <a:tc>
                  <a:txBody>
                    <a:bodyPr wrap="square"/>
                    <a:lstStyle/>
                    <a:p>
                      <a:r>
                        <a:rPr sz="1000" b="0">
                          <a:solidFill>
                            <a:srgbClr val="E8EAED"/>
                          </a:solidFill>
                          <a:latin typeface="Segoe UI"/>
                        </a:rPr>
                        <a:t>Ibrahim, Liu, Asim, Battu, Benabderrahmane, Alhafni, Adnan et al., 2023</a:t>
                      </a:r>
                    </a:p>
                  </a:txBody>
                  <a:tcPr anchor="t" marL="45720" marR="36576" marT="27432">
                    <a:solidFill>
                      <a:srgbClr val="0E141C"/>
                    </a:solidFill>
                  </a:tcPr>
                </a:tc>
                <a:tc>
                  <a:txBody>
                    <a:bodyPr wrap="square"/>
                    <a:lstStyle/>
                    <a:p>
                      <a:r>
                        <a:rPr sz="1000" b="0">
                          <a:solidFill>
                            <a:srgbClr val="E8EAED"/>
                          </a:solidFill>
                          <a:latin typeface="Segoe UI"/>
                        </a:rPr>
                        <a:t>ChatGPT answers compared with student work, then run through detectors</a:t>
                      </a:r>
                    </a:p>
                  </a:txBody>
                  <a:tcPr anchor="t" marL="45720" marR="36576" marT="27432">
                    <a:solidFill>
                      <a:srgbClr val="0E141C"/>
                    </a:solidFill>
                  </a:tcPr>
                </a:tc>
                <a:tc>
                  <a:txBody>
                    <a:bodyPr wrap="square"/>
                    <a:lstStyle/>
                    <a:p>
                      <a:r>
                        <a:rPr sz="1000" b="0">
                          <a:solidFill>
                            <a:srgbClr val="E8EAED"/>
                          </a:solidFill>
                          <a:latin typeface="Segoe UI"/>
                        </a:rPr>
                        <a:t>32 courses, 8 disciplines</a:t>
                      </a:r>
                    </a:p>
                  </a:txBody>
                  <a:tcPr anchor="t" marL="45720" marR="36576" marT="27432">
                    <a:solidFill>
                      <a:srgbClr val="0E141C"/>
                    </a:solidFill>
                  </a:tcPr>
                </a:tc>
                <a:tc>
                  <a:txBody>
                    <a:bodyPr wrap="square"/>
                    <a:lstStyle/>
                    <a:p>
                      <a:r>
                        <a:rPr sz="1000" b="0">
                          <a:solidFill>
                            <a:srgbClr val="E8EAED"/>
                          </a:solidFill>
                          <a:latin typeface="Segoe UI"/>
                        </a:rPr>
                        <a:t>Detector accuracy; obfuscation</a:t>
                      </a:r>
                    </a:p>
                  </a:txBody>
                  <a:tcPr anchor="t" marL="45720" marR="36576" marT="27432">
                    <a:solidFill>
                      <a:srgbClr val="0E141C"/>
                    </a:solidFill>
                  </a:tcPr>
                </a:tc>
                <a:tc>
                  <a:txBody>
                    <a:bodyPr wrap="square"/>
                    <a:lstStyle/>
                    <a:p>
                      <a:r>
                        <a:rPr sz="1000" b="0">
                          <a:solidFill>
                            <a:srgbClr val="E8EAED"/>
                          </a:solidFill>
                          <a:latin typeface="Segoe UI"/>
                        </a:rPr>
                        <a:t>Detectors fail, and light editing evades them</a:t>
                      </a:r>
                    </a:p>
                  </a:txBody>
                  <a:tcPr anchor="t" marL="45720" marR="36576" marT="27432">
                    <a:solidFill>
                      <a:srgbClr val="0E141C"/>
                    </a:solidFill>
                  </a:tcPr>
                </a:tc>
              </a:tr>
              <a:tr h="540512">
                <a:tc>
                  <a:txBody>
                    <a:bodyPr wrap="square"/>
                    <a:lstStyle/>
                    <a:p>
                      <a:r>
                        <a:rPr sz="1000" b="0">
                          <a:solidFill>
                            <a:srgbClr val="E8EAED"/>
                          </a:solidFill>
                          <a:latin typeface="Segoe UI"/>
                        </a:rPr>
                        <a:t>Ilgaz and Afacan Adanır, 2020 · foundational</a:t>
                      </a:r>
                    </a:p>
                  </a:txBody>
                  <a:tcPr anchor="t" marL="45720" marR="36576" marT="27432">
                    <a:solidFill>
                      <a:srgbClr val="121820"/>
                    </a:solidFill>
                  </a:tcPr>
                </a:tc>
                <a:tc>
                  <a:txBody>
                    <a:bodyPr wrap="square"/>
                    <a:lstStyle/>
                    <a:p>
                      <a:r>
                        <a:rPr sz="1000" b="0">
                          <a:solidFill>
                            <a:srgbClr val="E8EAED"/>
                          </a:solidFill>
                          <a:latin typeface="Segoe UI"/>
                        </a:rPr>
                        <a:t>Learner survey on online exams</a:t>
                      </a:r>
                    </a:p>
                  </a:txBody>
                  <a:tcPr anchor="t" marL="45720" marR="36576" marT="27432">
                    <a:solidFill>
                      <a:srgbClr val="121820"/>
                    </a:solidFill>
                  </a:tcPr>
                </a:tc>
                <a:tc>
                  <a:txBody>
                    <a:bodyPr wrap="square"/>
                    <a:lstStyle/>
                    <a:p>
                      <a:r>
                        <a:rPr sz="1000" b="0">
                          <a:solidFill>
                            <a:srgbClr val="E8EAED"/>
                          </a:solidFill>
                          <a:latin typeface="Segoe UI"/>
                        </a:rPr>
                        <a:t>Online learners</a:t>
                      </a:r>
                    </a:p>
                  </a:txBody>
                  <a:tcPr anchor="t" marL="45720" marR="36576" marT="27432">
                    <a:solidFill>
                      <a:srgbClr val="121820"/>
                    </a:solidFill>
                  </a:tcPr>
                </a:tc>
                <a:tc>
                  <a:txBody>
                    <a:bodyPr wrap="square"/>
                    <a:lstStyle/>
                    <a:p>
                      <a:r>
                        <a:rPr sz="1000" b="0">
                          <a:solidFill>
                            <a:srgbClr val="E8EAED"/>
                          </a:solidFill>
                          <a:latin typeface="Segoe UI"/>
                        </a:rPr>
                        <a:t>Preference for online exams and perceived fairness</a:t>
                      </a:r>
                    </a:p>
                  </a:txBody>
                  <a:tcPr anchor="t" marL="45720" marR="36576" marT="27432">
                    <a:solidFill>
                      <a:srgbClr val="121820"/>
                    </a:solidFill>
                  </a:tcPr>
                </a:tc>
                <a:tc>
                  <a:txBody>
                    <a:bodyPr wrap="square"/>
                    <a:lstStyle/>
                    <a:p>
                      <a:r>
                        <a:rPr sz="1000" b="0">
                          <a:solidFill>
                            <a:srgbClr val="E8EAED"/>
                          </a:solidFill>
                          <a:latin typeface="Segoe UI"/>
                        </a:rPr>
                        <a:t>About whether exams matter to learners, not how to score an event</a:t>
                      </a:r>
                    </a:p>
                  </a:txBody>
                  <a:tcPr anchor="t" marL="45720" marR="36576" marT="27432">
                    <a:solidFill>
                      <a:srgbClr val="121820"/>
                    </a:solidFill>
                  </a:tcPr>
                </a:tc>
              </a:tr>
              <a:tr h="540512">
                <a:tc>
                  <a:txBody>
                    <a:bodyPr wrap="square"/>
                    <a:lstStyle/>
                    <a:p>
                      <a:r>
                        <a:rPr sz="1000" b="0">
                          <a:solidFill>
                            <a:srgbClr val="E8EAED"/>
                          </a:solidFill>
                          <a:latin typeface="Segoe UI"/>
                        </a:rPr>
                        <a:t>Kirsanov, Kushwah and Selvaretnam, 2025</a:t>
                      </a:r>
                    </a:p>
                  </a:txBody>
                  <a:tcPr anchor="t" marL="45720" marR="36576" marT="27432">
                    <a:solidFill>
                      <a:srgbClr val="0E141C"/>
                    </a:solidFill>
                  </a:tcPr>
                </a:tc>
                <a:tc>
                  <a:txBody>
                    <a:bodyPr wrap="square"/>
                    <a:lstStyle/>
                    <a:p>
                      <a:r>
                        <a:rPr sz="1000" b="0">
                          <a:solidFill>
                            <a:srgbClr val="E8EAED"/>
                          </a:solidFill>
                          <a:latin typeface="Segoe UI"/>
                        </a:rPr>
                        <a:t>Student survey on generative-AI use</a:t>
                      </a:r>
                    </a:p>
                  </a:txBody>
                  <a:tcPr anchor="t" marL="45720" marR="36576" marT="27432">
                    <a:solidFill>
                      <a:srgbClr val="0E141C"/>
                    </a:solidFill>
                  </a:tcPr>
                </a:tc>
                <a:tc>
                  <a:txBody>
                    <a:bodyPr wrap="square"/>
                    <a:lstStyle/>
                    <a:p>
                      <a:r>
                        <a:rPr sz="1000" b="0">
                          <a:solidFill>
                            <a:srgbClr val="E8EAED"/>
                          </a:solidFill>
                          <a:latin typeface="Segoe UI"/>
                        </a:rPr>
                        <a:t>31 of 174 economics undergraduates</a:t>
                      </a:r>
                    </a:p>
                  </a:txBody>
                  <a:tcPr anchor="t" marL="45720" marR="36576" marT="27432">
                    <a:solidFill>
                      <a:srgbClr val="0E141C"/>
                    </a:solidFill>
                  </a:tcPr>
                </a:tc>
                <a:tc>
                  <a:txBody>
                    <a:bodyPr wrap="square"/>
                    <a:lstStyle/>
                    <a:p>
                      <a:r>
                        <a:rPr sz="1000" b="0">
                          <a:solidFill>
                            <a:srgbClr val="E8EAED"/>
                          </a:solidFill>
                          <a:latin typeface="Segoe UI"/>
                        </a:rPr>
                        <a:t>Concealment of AI use; views on detection</a:t>
                      </a:r>
                    </a:p>
                  </a:txBody>
                  <a:tcPr anchor="t" marL="45720" marR="36576" marT="27432">
                    <a:solidFill>
                      <a:srgbClr val="0E141C"/>
                    </a:solidFill>
                  </a:tcPr>
                </a:tc>
                <a:tc>
                  <a:txBody>
                    <a:bodyPr wrap="square"/>
                    <a:lstStyle/>
                    <a:p>
                      <a:r>
                        <a:rPr sz="1000" b="0">
                          <a:solidFill>
                            <a:srgbClr val="E8EAED"/>
                          </a:solidFill>
                          <a:latin typeface="Segoe UI"/>
                        </a:rPr>
                        <a:t>Students hide AI use; detection is the wrong lever</a:t>
                      </a:r>
                    </a:p>
                  </a:txBody>
                  <a:tcPr anchor="t" marL="45720" marR="36576" marT="27432">
                    <a:solidFill>
                      <a:srgbClr val="0E141C"/>
                    </a:solidFill>
                  </a:tcPr>
                </a:tc>
              </a:tr>
              <a:tr h="540512">
                <a:tc>
                  <a:txBody>
                    <a:bodyPr wrap="square"/>
                    <a:lstStyle/>
                    <a:p>
                      <a:r>
                        <a:rPr sz="1000" b="0">
                          <a:solidFill>
                            <a:srgbClr val="E8EAED"/>
                          </a:solidFill>
                          <a:latin typeface="Segoe UI"/>
                        </a:rPr>
                        <a:t>Kofinas, Tsay and Pike, 2025</a:t>
                      </a:r>
                    </a:p>
                  </a:txBody>
                  <a:tcPr anchor="t" marL="45720" marR="36576" marT="27432">
                    <a:solidFill>
                      <a:srgbClr val="121820"/>
                    </a:solidFill>
                  </a:tcPr>
                </a:tc>
                <a:tc>
                  <a:txBody>
                    <a:bodyPr wrap="square"/>
                    <a:lstStyle/>
                    <a:p>
                      <a:r>
                        <a:rPr sz="1000" b="0">
                          <a:solidFill>
                            <a:srgbClr val="E8EAED"/>
                          </a:solidFill>
                          <a:latin typeface="Segoe UI"/>
                        </a:rPr>
                        <a:t>Exploratory experiment on authentic assessment</a:t>
                      </a:r>
                    </a:p>
                  </a:txBody>
                  <a:tcPr anchor="t" marL="45720" marR="36576" marT="27432">
                    <a:solidFill>
                      <a:srgbClr val="121820"/>
                    </a:solidFill>
                  </a:tcPr>
                </a:tc>
                <a:tc>
                  <a:txBody>
                    <a:bodyPr wrap="square"/>
                    <a:lstStyle/>
                    <a:p>
                      <a:r>
                        <a:rPr sz="1000" b="0">
                          <a:solidFill>
                            <a:srgbClr val="E8EAED"/>
                          </a:solidFill>
                          <a:latin typeface="Segoe UI"/>
                        </a:rPr>
                        <a:t>Higher-education written tasks</a:t>
                      </a:r>
                    </a:p>
                  </a:txBody>
                  <a:tcPr anchor="t" marL="45720" marR="36576" marT="27432">
                    <a:solidFill>
                      <a:srgbClr val="121820"/>
                    </a:solidFill>
                  </a:tcPr>
                </a:tc>
                <a:tc>
                  <a:txBody>
                    <a:bodyPr wrap="square"/>
                    <a:lstStyle/>
                    <a:p>
                      <a:r>
                        <a:rPr sz="1000" b="0">
                          <a:solidFill>
                            <a:srgbClr val="E8EAED"/>
                          </a:solidFill>
                          <a:latin typeface="Segoe UI"/>
                        </a:rPr>
                        <a:t>What generative AI can reproduce</a:t>
                      </a:r>
                    </a:p>
                  </a:txBody>
                  <a:tcPr anchor="t" marL="45720" marR="36576" marT="27432">
                    <a:solidFill>
                      <a:srgbClr val="121820"/>
                    </a:solidFill>
                  </a:tcPr>
                </a:tc>
                <a:tc>
                  <a:txBody>
                    <a:bodyPr wrap="square"/>
                    <a:lstStyle/>
                    <a:p>
                      <a:r>
                        <a:rPr sz="1000" b="0">
                          <a:solidFill>
                            <a:srgbClr val="E8EAED"/>
                          </a:solidFill>
                          <a:latin typeface="Segoe UI"/>
                        </a:rPr>
                        <a:t>Small sample; explicit written knowledge is easy for the model to redo</a:t>
                      </a:r>
                    </a:p>
                  </a:txBody>
                  <a:tcPr anchor="t" marL="45720" marR="36576" marT="27432">
                    <a:solidFill>
                      <a:srgbClr val="121820"/>
                    </a:solidFill>
                  </a:tcPr>
                </a:tc>
              </a:tr>
              <a:tr h="540512">
                <a:tc>
                  <a:txBody>
                    <a:bodyPr wrap="square"/>
                    <a:lstStyle/>
                    <a:p>
                      <a:r>
                        <a:rPr sz="1000" b="0">
                          <a:solidFill>
                            <a:srgbClr val="E8EAED"/>
                          </a:solidFill>
                          <a:latin typeface="Segoe UI"/>
                        </a:rPr>
                        <a:t>Lee and Vispoel, 2025</a:t>
                      </a:r>
                    </a:p>
                  </a:txBody>
                  <a:tcPr anchor="t" marL="45720" marR="36576" marT="27432">
                    <a:solidFill>
                      <a:srgbClr val="0E141C"/>
                    </a:solidFill>
                  </a:tcPr>
                </a:tc>
                <a:tc>
                  <a:txBody>
                    <a:bodyPr wrap="square"/>
                    <a:lstStyle/>
                    <a:p>
                      <a:r>
                        <a:rPr sz="1000" b="0">
                          <a:solidFill>
                            <a:srgbClr val="E8EAED"/>
                          </a:solidFill>
                          <a:latin typeface="Segoe UI"/>
                        </a:rPr>
                        <a:t>Answer-pattern biclustering</a:t>
                      </a:r>
                    </a:p>
                  </a:txBody>
                  <a:tcPr anchor="t" marL="45720" marR="36576" marT="27432">
                    <a:solidFill>
                      <a:srgbClr val="0E141C"/>
                    </a:solidFill>
                  </a:tcPr>
                </a:tc>
                <a:tc>
                  <a:txBody>
                    <a:bodyPr wrap="square"/>
                    <a:lstStyle/>
                    <a:p>
                      <a:r>
                        <a:rPr sz="1000" b="0">
                          <a:solidFill>
                            <a:srgbClr val="E8EAED"/>
                          </a:solidFill>
                          <a:latin typeface="Segoe UI"/>
                        </a:rPr>
                        <a:t>Simulation on mixed-format tests</a:t>
                      </a:r>
                    </a:p>
                  </a:txBody>
                  <a:tcPr anchor="t" marL="45720" marR="36576" marT="27432">
                    <a:solidFill>
                      <a:srgbClr val="0E141C"/>
                    </a:solidFill>
                  </a:tcPr>
                </a:tc>
                <a:tc>
                  <a:txBody>
                    <a:bodyPr wrap="square"/>
                    <a:lstStyle/>
                    <a:p>
                      <a:r>
                        <a:rPr sz="1000" b="0">
                          <a:solidFill>
                            <a:srgbClr val="E8EAED"/>
                          </a:solidFill>
                          <a:latin typeface="Segoe UI"/>
                        </a:rPr>
                        <a:t>Response similarity, not behaviour</a:t>
                      </a:r>
                    </a:p>
                  </a:txBody>
                  <a:tcPr anchor="t" marL="45720" marR="36576" marT="27432">
                    <a:solidFill>
                      <a:srgbClr val="0E141C"/>
                    </a:solidFill>
                  </a:tcPr>
                </a:tc>
                <a:tc>
                  <a:txBody>
                    <a:bodyPr wrap="square"/>
                    <a:lstStyle/>
                    <a:p>
                      <a:r>
                        <a:rPr sz="1000" b="0">
                          <a:solidFill>
                            <a:srgbClr val="E8EAED"/>
                          </a:solidFill>
                          <a:latin typeface="Segoe UI"/>
                        </a:rPr>
                        <a:t>Detects answer copying, not the other application</a:t>
                      </a:r>
                    </a:p>
                  </a:txBody>
                  <a:tcPr anchor="t" marL="45720" marR="36576" marT="27432">
                    <a:solidFill>
                      <a:srgbClr val="0E141C"/>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F14"/>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256032"/>
            <a:ext cx="1920240" cy="635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73952"/>
            <a:ext cx="8595360" cy="256032"/>
          </a:xfrm>
          <a:prstGeom prst="rect">
            <a:avLst/>
          </a:prstGeom>
          <a:noFill/>
        </p:spPr>
        <p:txBody>
          <a:bodyPr wrap="square">
            <a:spAutoFit/>
          </a:bodyPr>
          <a:lstStyle/>
          <a:p>
            <a:pPr algn="l"/>
            <a:r>
              <a:rPr sz="1100" b="0">
                <a:solidFill>
                  <a:srgbClr val="8B949E"/>
                </a:solidFill>
                <a:latin typeface="Segoe UI"/>
              </a:rPr>
              <a:t>BACSE291  ·  Innovative Design Project  |  First Review  |  Fall Semester 2026</a:t>
            </a:r>
          </a:p>
        </p:txBody>
      </p:sp>
      <p:sp>
        <p:nvSpPr>
          <p:cNvPr id="5" name="TextBox 4"/>
          <p:cNvSpPr txBox="1"/>
          <p:nvPr/>
        </p:nvSpPr>
        <p:spPr>
          <a:xfrm>
            <a:off x="9326880" y="6473952"/>
            <a:ext cx="2468880" cy="256032"/>
          </a:xfrm>
          <a:prstGeom prst="rect">
            <a:avLst/>
          </a:prstGeom>
          <a:noFill/>
        </p:spPr>
        <p:txBody>
          <a:bodyPr wrap="square">
            <a:spAutoFit/>
          </a:bodyPr>
          <a:lstStyle/>
          <a:p>
            <a:pPr algn="r"/>
            <a:r>
              <a:rPr sz="1100" b="0">
                <a:solidFill>
                  <a:srgbClr val="00E5FF"/>
                </a:solidFill>
                <a:latin typeface="Cascadia Mono"/>
              </a:rPr>
              <a:t>APPENDIX   9</a:t>
            </a:r>
          </a:p>
        </p:txBody>
      </p:sp>
      <p:sp>
        <p:nvSpPr>
          <p:cNvPr id="6" name="TextBox 5"/>
          <p:cNvSpPr txBox="1"/>
          <p:nvPr/>
        </p:nvSpPr>
        <p:spPr>
          <a:xfrm>
            <a:off x="365760" y="347472"/>
            <a:ext cx="10972800" cy="256032"/>
          </a:xfrm>
          <a:prstGeom prst="rect">
            <a:avLst/>
          </a:prstGeom>
          <a:noFill/>
        </p:spPr>
        <p:txBody>
          <a:bodyPr wrap="square">
            <a:spAutoFit/>
          </a:bodyPr>
          <a:lstStyle/>
          <a:p>
            <a:pPr algn="l"/>
            <a:r>
              <a:rPr sz="1200" b="1">
                <a:solidFill>
                  <a:srgbClr val="00E5FF"/>
                </a:solidFill>
                <a:latin typeface="Cascadia Mono"/>
              </a:rPr>
              <a:t>// APPENDIX</a:t>
            </a:r>
          </a:p>
        </p:txBody>
      </p:sp>
      <p:sp>
        <p:nvSpPr>
          <p:cNvPr id="7" name="TextBox 6"/>
          <p:cNvSpPr txBox="1"/>
          <p:nvPr/>
        </p:nvSpPr>
        <p:spPr>
          <a:xfrm>
            <a:off x="365760" y="603504"/>
            <a:ext cx="11338560" cy="457200"/>
          </a:xfrm>
          <a:prstGeom prst="rect">
            <a:avLst/>
          </a:prstGeom>
          <a:noFill/>
        </p:spPr>
        <p:txBody>
          <a:bodyPr wrap="square">
            <a:spAutoFit/>
          </a:bodyPr>
          <a:lstStyle/>
          <a:p>
            <a:pPr algn="l"/>
            <a:r>
              <a:rPr sz="2800" b="1">
                <a:solidFill>
                  <a:srgbClr val="E8EAED"/>
                </a:solidFill>
                <a:latin typeface="Bahnschrift"/>
              </a:rPr>
              <a:t>A6   Generative AI and answer patterns  (2/2)</a:t>
            </a:r>
          </a:p>
        </p:txBody>
      </p:sp>
      <p:graphicFrame>
        <p:nvGraphicFramePr>
          <p:cNvPr id="8" name="Table 7"/>
          <p:cNvGraphicFramePr>
            <a:graphicFrameLocks noGrp="1"/>
          </p:cNvGraphicFramePr>
          <p:nvPr/>
        </p:nvGraphicFramePr>
        <p:xfrm>
          <a:off x="256032" y="1188720"/>
          <a:ext cx="11430000" cy="4297680"/>
        </p:xfrm>
        <a:graphic>
          <a:graphicData uri="http://schemas.openxmlformats.org/drawingml/2006/table">
            <a:tbl>
              <a:tblPr firstRow="1" bandRow="1">
                <a:tableStyleId>{5C22544A-7EE6-4342-B048-85BDC9FD1C3A}</a:tableStyleId>
              </a:tblPr>
              <a:tblGrid>
                <a:gridCol w="2331720"/>
                <a:gridCol w="2194560"/>
                <a:gridCol w="2286000"/>
                <a:gridCol w="2286000"/>
                <a:gridCol w="2331720"/>
              </a:tblGrid>
              <a:tr h="537210">
                <a:tc>
                  <a:txBody>
                    <a:bodyPr wrap="square"/>
                    <a:lstStyle/>
                    <a:p>
                      <a:r>
                        <a:rPr sz="1000" b="1">
                          <a:solidFill>
                            <a:srgbClr val="0B0F14"/>
                          </a:solidFill>
                          <a:latin typeface="Segoe UI"/>
                        </a:rPr>
                        <a:t>Author and year</a:t>
                      </a:r>
                    </a:p>
                  </a:txBody>
                  <a:tcPr anchor="t" marL="45720" marR="36576" marT="27432">
                    <a:solidFill>
                      <a:srgbClr val="00E5FF"/>
                    </a:solidFill>
                  </a:tcPr>
                </a:tc>
                <a:tc>
                  <a:txBody>
                    <a:bodyPr wrap="square"/>
                    <a:lstStyle/>
                    <a:p>
                      <a:r>
                        <a:rPr sz="1000" b="1">
                          <a:solidFill>
                            <a:srgbClr val="0B0F14"/>
                          </a:solidFill>
                          <a:latin typeface="Segoe UI"/>
                        </a:rPr>
                        <a:t>Method</a:t>
                      </a:r>
                    </a:p>
                  </a:txBody>
                  <a:tcPr anchor="t" marL="45720" marR="36576" marT="27432">
                    <a:solidFill>
                      <a:srgbClr val="00E5FF"/>
                    </a:solidFill>
                  </a:tcPr>
                </a:tc>
                <a:tc>
                  <a:txBody>
                    <a:bodyPr wrap="square"/>
                    <a:lstStyle/>
                    <a:p>
                      <a:r>
                        <a:rPr sz="1000" b="1">
                          <a:solidFill>
                            <a:srgbClr val="0B0F14"/>
                          </a:solidFill>
                          <a:latin typeface="Segoe UI"/>
                        </a:rPr>
                        <a:t>Dataset or testbed</a:t>
                      </a:r>
                    </a:p>
                  </a:txBody>
                  <a:tcPr anchor="t" marL="45720" marR="36576" marT="27432">
                    <a:solidFill>
                      <a:srgbClr val="00E5FF"/>
                    </a:solidFill>
                  </a:tcPr>
                </a:tc>
                <a:tc>
                  <a:txBody>
                    <a:bodyPr wrap="square"/>
                    <a:lstStyle/>
                    <a:p>
                      <a:r>
                        <a:rPr sz="1000" b="1">
                          <a:solidFill>
                            <a:srgbClr val="0B0F14"/>
                          </a:solidFill>
                          <a:latin typeface="Segoe UI"/>
                        </a:rPr>
                        <a:t>Key parameters</a:t>
                      </a:r>
                    </a:p>
                  </a:txBody>
                  <a:tcPr anchor="t" marL="45720" marR="36576" marT="27432">
                    <a:solidFill>
                      <a:srgbClr val="00E5FF"/>
                    </a:solidFill>
                  </a:tcPr>
                </a:tc>
                <a:tc>
                  <a:txBody>
                    <a:bodyPr wrap="square"/>
                    <a:lstStyle/>
                    <a:p>
                      <a:r>
                        <a:rPr sz="1000" b="1">
                          <a:solidFill>
                            <a:srgbClr val="0B0F14"/>
                          </a:solidFill>
                          <a:latin typeface="Segoe UI"/>
                        </a:rPr>
                        <a:t>Limitation</a:t>
                      </a:r>
                    </a:p>
                  </a:txBody>
                  <a:tcPr anchor="t" marL="45720" marR="36576" marT="27432">
                    <a:solidFill>
                      <a:srgbClr val="00E5FF"/>
                    </a:solidFill>
                  </a:tcPr>
                </a:tc>
              </a:tr>
              <a:tr h="537210">
                <a:tc>
                  <a:txBody>
                    <a:bodyPr wrap="square"/>
                    <a:lstStyle/>
                    <a:p>
                      <a:r>
                        <a:rPr sz="1000" b="0">
                          <a:solidFill>
                            <a:srgbClr val="E8EAED"/>
                          </a:solidFill>
                          <a:latin typeface="Segoe UI"/>
                        </a:rPr>
                        <a:t>Newton and Essex, 2024</a:t>
                      </a:r>
                    </a:p>
                  </a:txBody>
                  <a:tcPr anchor="t" marL="45720" marR="36576" marT="27432">
                    <a:solidFill>
                      <a:srgbClr val="121820"/>
                    </a:solidFill>
                  </a:tcPr>
                </a:tc>
                <a:tc>
                  <a:txBody>
                    <a:bodyPr wrap="square"/>
                    <a:lstStyle/>
                    <a:p>
                      <a:r>
                        <a:rPr sz="1000" b="0">
                          <a:solidFill>
                            <a:srgbClr val="E8EAED"/>
                          </a:solidFill>
                          <a:latin typeface="Segoe UI"/>
                        </a:rPr>
                        <a:t>Systematic review of self-reported cheating</a:t>
                      </a:r>
                    </a:p>
                  </a:txBody>
                  <a:tcPr anchor="t" marL="45720" marR="36576" marT="27432">
                    <a:solidFill>
                      <a:srgbClr val="121820"/>
                    </a:solidFill>
                  </a:tcPr>
                </a:tc>
                <a:tc>
                  <a:txBody>
                    <a:bodyPr wrap="square"/>
                    <a:lstStyle/>
                    <a:p>
                      <a:r>
                        <a:rPr sz="1000" b="0">
                          <a:solidFill>
                            <a:srgbClr val="E8EAED"/>
                          </a:solidFill>
                          <a:latin typeface="Segoe UI"/>
                        </a:rPr>
                        <a:t>Studies of online-exam cheating</a:t>
                      </a:r>
                    </a:p>
                  </a:txBody>
                  <a:tcPr anchor="t" marL="45720" marR="36576" marT="27432">
                    <a:solidFill>
                      <a:srgbClr val="121820"/>
                    </a:solidFill>
                  </a:tcPr>
                </a:tc>
                <a:tc>
                  <a:txBody>
                    <a:bodyPr wrap="square"/>
                    <a:lstStyle/>
                    <a:p>
                      <a:r>
                        <a:rPr sz="1000" b="0">
                          <a:solidFill>
                            <a:srgbClr val="E8EAED"/>
                          </a:solidFill>
                          <a:latin typeface="Segoe UI"/>
                        </a:rPr>
                        <a:t>Prevalence; proctored versus unproctored comparisons</a:t>
                      </a:r>
                    </a:p>
                  </a:txBody>
                  <a:tcPr anchor="t" marL="45720" marR="36576" marT="27432">
                    <a:solidFill>
                      <a:srgbClr val="121820"/>
                    </a:solidFill>
                  </a:tcPr>
                </a:tc>
                <a:tc>
                  <a:txBody>
                    <a:bodyPr wrap="square"/>
                    <a:lstStyle/>
                    <a:p>
                      <a:r>
                        <a:rPr sz="1000" b="0">
                          <a:solidFill>
                            <a:srgbClr val="E8EAED"/>
                          </a:solidFill>
                          <a:latin typeface="Segoe UI"/>
                        </a:rPr>
                        <a:t>About 44.7% admitted cheating; the effect of proctoring is not settled</a:t>
                      </a:r>
                    </a:p>
                  </a:txBody>
                  <a:tcPr anchor="t" marL="45720" marR="36576" marT="27432">
                    <a:solidFill>
                      <a:srgbClr val="121820"/>
                    </a:solidFill>
                  </a:tcPr>
                </a:tc>
              </a:tr>
              <a:tr h="537210">
                <a:tc>
                  <a:txBody>
                    <a:bodyPr wrap="square"/>
                    <a:lstStyle/>
                    <a:p>
                      <a:r>
                        <a:rPr sz="1000" b="0">
                          <a:solidFill>
                            <a:srgbClr val="E8EAED"/>
                          </a:solidFill>
                          <a:latin typeface="Segoe UI"/>
                        </a:rPr>
                        <a:t>Ravesloot, Donkers, Meiboom, Langers, Jacobs, Tio, van der Vleuten and Bremers,…</a:t>
                      </a:r>
                    </a:p>
                  </a:txBody>
                  <a:tcPr anchor="t" marL="45720" marR="36576" marT="27432">
                    <a:solidFill>
                      <a:srgbClr val="0E141C"/>
                    </a:solidFill>
                  </a:tcPr>
                </a:tc>
                <a:tc>
                  <a:txBody>
                    <a:bodyPr wrap="square"/>
                    <a:lstStyle/>
                    <a:p>
                      <a:r>
                        <a:rPr sz="1000" b="0">
                          <a:solidFill>
                            <a:srgbClr val="E8EAED"/>
                          </a:solidFill>
                          <a:latin typeface="Segoe UI"/>
                        </a:rPr>
                        <a:t>Score comparison across test formats</a:t>
                      </a:r>
                    </a:p>
                  </a:txBody>
                  <a:tcPr anchor="t" marL="45720" marR="36576" marT="27432">
                    <a:solidFill>
                      <a:srgbClr val="0E141C"/>
                    </a:solidFill>
                  </a:tcPr>
                </a:tc>
                <a:tc>
                  <a:txBody>
                    <a:bodyPr wrap="square"/>
                    <a:lstStyle/>
                    <a:p>
                      <a:r>
                        <a:rPr sz="1000" b="0">
                          <a:solidFill>
                            <a:srgbClr val="E8EAED"/>
                          </a:solidFill>
                          <a:latin typeface="Segoe UI"/>
                        </a:rPr>
                        <a:t>Dutch progress test; more than 10,000 sittings, five schools</a:t>
                      </a:r>
                    </a:p>
                  </a:txBody>
                  <a:tcPr anchor="t" marL="45720" marR="36576" marT="27432">
                    <a:solidFill>
                      <a:srgbClr val="0E141C"/>
                    </a:solidFill>
                  </a:tcPr>
                </a:tc>
                <a:tc>
                  <a:txBody>
                    <a:bodyPr wrap="square"/>
                    <a:lstStyle/>
                    <a:p>
                      <a:r>
                        <a:rPr sz="1000" b="0">
                          <a:solidFill>
                            <a:srgbClr val="E8EAED"/>
                          </a:solidFill>
                          <a:latin typeface="Segoe UI"/>
                        </a:rPr>
                        <a:t>Paper versus computer; remote proctor versus live supervision</a:t>
                      </a:r>
                    </a:p>
                  </a:txBody>
                  <a:tcPr anchor="t" marL="45720" marR="36576" marT="27432">
                    <a:solidFill>
                      <a:srgbClr val="0E141C"/>
                    </a:solidFill>
                  </a:tcPr>
                </a:tc>
                <a:tc>
                  <a:txBody>
                    <a:bodyPr wrap="square"/>
                    <a:lstStyle/>
                    <a:p>
                      <a:r>
                        <a:rPr sz="1000" b="0">
                          <a:solidFill>
                            <a:srgbClr val="E8EAED"/>
                          </a:solidFill>
                          <a:latin typeface="Segoe UI"/>
                        </a:rPr>
                        <a:t>Authors cite Bergmans: remote proctoring may deter rather than detect</a:t>
                      </a:r>
                    </a:p>
                  </a:txBody>
                  <a:tcPr anchor="t" marL="45720" marR="36576" marT="27432">
                    <a:solidFill>
                      <a:srgbClr val="0E141C"/>
                    </a:solidFill>
                  </a:tcPr>
                </a:tc>
              </a:tr>
              <a:tr h="537210">
                <a:tc>
                  <a:txBody>
                    <a:bodyPr wrap="square"/>
                    <a:lstStyle/>
                    <a:p>
                      <a:r>
                        <a:rPr sz="1000" b="0">
                          <a:solidFill>
                            <a:srgbClr val="E8EAED"/>
                          </a:solidFill>
                          <a:latin typeface="Segoe UI"/>
                        </a:rPr>
                        <a:t>Rios and Liu, 2017 · foundational</a:t>
                      </a:r>
                    </a:p>
                  </a:txBody>
                  <a:tcPr anchor="t" marL="45720" marR="36576" marT="27432">
                    <a:solidFill>
                      <a:srgbClr val="121820"/>
                    </a:solidFill>
                  </a:tcPr>
                </a:tc>
                <a:tc>
                  <a:txBody>
                    <a:bodyPr wrap="square"/>
                    <a:lstStyle/>
                    <a:p>
                      <a:r>
                        <a:rPr sz="1000" b="0">
                          <a:solidFill>
                            <a:srgbClr val="E8EAED"/>
                          </a:solidFill>
                          <a:latin typeface="Segoe UI"/>
                        </a:rPr>
                        <a:t>Score comparison</a:t>
                      </a:r>
                    </a:p>
                  </a:txBody>
                  <a:tcPr anchor="t" marL="45720" marR="36576" marT="27432">
                    <a:solidFill>
                      <a:srgbClr val="121820"/>
                    </a:solidFill>
                  </a:tcPr>
                </a:tc>
                <a:tc>
                  <a:txBody>
                    <a:bodyPr wrap="square"/>
                    <a:lstStyle/>
                    <a:p>
                      <a:r>
                        <a:rPr sz="1000" b="0">
                          <a:solidFill>
                            <a:srgbClr val="E8EAED"/>
                          </a:solidFill>
                          <a:latin typeface="Segoe UI"/>
                        </a:rPr>
                        <a:t>Low-stakes internet tests</a:t>
                      </a:r>
                    </a:p>
                  </a:txBody>
                  <a:tcPr anchor="t" marL="45720" marR="36576" marT="27432">
                    <a:solidFill>
                      <a:srgbClr val="121820"/>
                    </a:solidFill>
                  </a:tcPr>
                </a:tc>
                <a:tc>
                  <a:txBody>
                    <a:bodyPr wrap="square"/>
                    <a:lstStyle/>
                    <a:p>
                      <a:r>
                        <a:rPr sz="1000" b="0">
                          <a:solidFill>
                            <a:srgbClr val="E8EAED"/>
                          </a:solidFill>
                          <a:latin typeface="Segoe UI"/>
                        </a:rPr>
                        <a:t>Proctored versus unproctored scores</a:t>
                      </a:r>
                    </a:p>
                  </a:txBody>
                  <a:tcPr anchor="t" marL="45720" marR="36576" marT="27432">
                    <a:solidFill>
                      <a:srgbClr val="121820"/>
                    </a:solidFill>
                  </a:tcPr>
                </a:tc>
                <a:tc>
                  <a:txBody>
                    <a:bodyPr wrap="square"/>
                    <a:lstStyle/>
                    <a:p>
                      <a:r>
                        <a:rPr sz="1000" b="0">
                          <a:solidFill>
                            <a:srgbClr val="E8EAED"/>
                          </a:solidFill>
                          <a:latin typeface="Segoe UI"/>
                        </a:rPr>
                        <a:t>Low-stakes only, and the mechanism is not opened</a:t>
                      </a:r>
                    </a:p>
                  </a:txBody>
                  <a:tcPr anchor="t" marL="45720" marR="36576" marT="27432">
                    <a:solidFill>
                      <a:srgbClr val="121820"/>
                    </a:solidFill>
                  </a:tcPr>
                </a:tc>
              </a:tr>
              <a:tr h="537210">
                <a:tc>
                  <a:txBody>
                    <a:bodyPr wrap="square"/>
                    <a:lstStyle/>
                    <a:p>
                      <a:r>
                        <a:rPr sz="1000" b="0">
                          <a:solidFill>
                            <a:srgbClr val="E8EAED"/>
                          </a:solidFill>
                          <a:latin typeface="Segoe UI"/>
                        </a:rPr>
                        <a:t>Scarfe, Watcham, Clarke and Roesch, 2024</a:t>
                      </a:r>
                    </a:p>
                  </a:txBody>
                  <a:tcPr anchor="t" marL="45720" marR="36576" marT="27432">
                    <a:solidFill>
                      <a:srgbClr val="0E141C"/>
                    </a:solidFill>
                  </a:tcPr>
                </a:tc>
                <a:tc>
                  <a:txBody>
                    <a:bodyPr wrap="square"/>
                    <a:lstStyle/>
                    <a:p>
                      <a:r>
                        <a:rPr sz="1000" b="0">
                          <a:solidFill>
                            <a:srgbClr val="E8EAED"/>
                          </a:solidFill>
                          <a:latin typeface="Segoe UI"/>
                        </a:rPr>
                        <a:t>100% AI exam scripts submitted into real modules</a:t>
                      </a:r>
                    </a:p>
                  </a:txBody>
                  <a:tcPr anchor="t" marL="45720" marR="36576" marT="27432">
                    <a:solidFill>
                      <a:srgbClr val="0E141C"/>
                    </a:solidFill>
                  </a:tcPr>
                </a:tc>
                <a:tc>
                  <a:txBody>
                    <a:bodyPr wrap="square"/>
                    <a:lstStyle/>
                    <a:p>
                      <a:r>
                        <a:rPr sz="1000" b="0">
                          <a:solidFill>
                            <a:srgbClr val="E8EAED"/>
                          </a:solidFill>
                          <a:latin typeface="Segoe UI"/>
                        </a:rPr>
                        <a:t>University of Reading psychology examinations</a:t>
                      </a:r>
                    </a:p>
                  </a:txBody>
                  <a:tcPr anchor="t" marL="45720" marR="36576" marT="27432">
                    <a:solidFill>
                      <a:srgbClr val="0E141C"/>
                    </a:solidFill>
                  </a:tcPr>
                </a:tc>
                <a:tc>
                  <a:txBody>
                    <a:bodyPr wrap="square"/>
                    <a:lstStyle/>
                    <a:p>
                      <a:r>
                        <a:rPr sz="1000" b="0">
                          <a:solidFill>
                            <a:srgbClr val="E8EAED"/>
                          </a:solidFill>
                          <a:latin typeface="Segoe UI"/>
                        </a:rPr>
                        <a:t>Detection rate and grade boundary</a:t>
                      </a:r>
                    </a:p>
                  </a:txBody>
                  <a:tcPr anchor="t" marL="45720" marR="36576" marT="27432">
                    <a:solidFill>
                      <a:srgbClr val="0E141C"/>
                    </a:solidFill>
                  </a:tcPr>
                </a:tc>
                <a:tc>
                  <a:txBody>
                    <a:bodyPr wrap="square"/>
                    <a:lstStyle/>
                    <a:p>
                      <a:r>
                        <a:rPr sz="1000" b="0">
                          <a:solidFill>
                            <a:srgbClr val="E8EAED"/>
                          </a:solidFill>
                          <a:latin typeface="Segoe UI"/>
                        </a:rPr>
                        <a:t>94% of AI scripts were undetected</a:t>
                      </a:r>
                    </a:p>
                  </a:txBody>
                  <a:tcPr anchor="t" marL="45720" marR="36576" marT="27432">
                    <a:solidFill>
                      <a:srgbClr val="0E141C"/>
                    </a:solidFill>
                  </a:tcPr>
                </a:tc>
              </a:tr>
              <a:tr h="537210">
                <a:tc>
                  <a:txBody>
                    <a:bodyPr wrap="square"/>
                    <a:lstStyle/>
                    <a:p>
                      <a:r>
                        <a:rPr sz="1000" b="0">
                          <a:solidFill>
                            <a:srgbClr val="E8EAED"/>
                          </a:solidFill>
                          <a:latin typeface="Segoe UI"/>
                        </a:rPr>
                        <a:t>Stanoyevitch, 2024</a:t>
                      </a:r>
                    </a:p>
                  </a:txBody>
                  <a:tcPr anchor="t" marL="45720" marR="36576" marT="27432">
                    <a:solidFill>
                      <a:srgbClr val="121820"/>
                    </a:solidFill>
                  </a:tcPr>
                </a:tc>
                <a:tc>
                  <a:txBody>
                    <a:bodyPr wrap="square"/>
                    <a:lstStyle/>
                    <a:p>
                      <a:r>
                        <a:rPr sz="1000" b="0">
                          <a:solidFill>
                            <a:srgbClr val="E8EAED"/>
                          </a:solidFill>
                          <a:latin typeface="Segoe UI"/>
                        </a:rPr>
                        <a:t>Observational score comparison</a:t>
                      </a:r>
                    </a:p>
                  </a:txBody>
                  <a:tcPr anchor="t" marL="45720" marR="36576" marT="27432">
                    <a:solidFill>
                      <a:srgbClr val="121820"/>
                    </a:solidFill>
                  </a:tcPr>
                </a:tc>
                <a:tc>
                  <a:txBody>
                    <a:bodyPr wrap="square"/>
                    <a:lstStyle/>
                    <a:p>
                      <a:r>
                        <a:rPr sz="1000" b="0">
                          <a:solidFill>
                            <a:srgbClr val="E8EAED"/>
                          </a:solidFill>
                          <a:latin typeface="Segoe UI"/>
                        </a:rPr>
                        <a:t>Introductory statistics, in person, online, and after ChatGPT</a:t>
                      </a:r>
                    </a:p>
                  </a:txBody>
                  <a:tcPr anchor="t" marL="45720" marR="36576" marT="27432">
                    <a:solidFill>
                      <a:srgbClr val="121820"/>
                    </a:solidFill>
                  </a:tcPr>
                </a:tc>
                <a:tc>
                  <a:txBody>
                    <a:bodyPr wrap="square"/>
                    <a:lstStyle/>
                    <a:p>
                      <a:r>
                        <a:rPr sz="1000" b="0">
                          <a:solidFill>
                            <a:srgbClr val="E8EAED"/>
                          </a:solidFill>
                          <a:latin typeface="Segoe UI"/>
                        </a:rPr>
                        <a:t>Mean score shift</a:t>
                      </a:r>
                    </a:p>
                  </a:txBody>
                  <a:tcPr anchor="t" marL="45720" marR="36576" marT="27432">
                    <a:solidFill>
                      <a:srgbClr val="121820"/>
                    </a:solidFill>
                  </a:tcPr>
                </a:tc>
                <a:tc>
                  <a:txBody>
                    <a:bodyPr wrap="square"/>
                    <a:lstStyle/>
                    <a:p>
                      <a:r>
                        <a:rPr sz="1000" b="0">
                          <a:solidFill>
                            <a:srgbClr val="E8EAED"/>
                          </a:solidFill>
                          <a:latin typeface="Segoe UI"/>
                        </a:rPr>
                        <a:t>A score jump is not evidence of who cheated</a:t>
                      </a:r>
                    </a:p>
                  </a:txBody>
                  <a:tcPr anchor="t" marL="45720" marR="36576" marT="27432">
                    <a:solidFill>
                      <a:srgbClr val="121820"/>
                    </a:solidFill>
                  </a:tcPr>
                </a:tc>
              </a:tr>
              <a:tr h="537210">
                <a:tc>
                  <a:txBody>
                    <a:bodyPr wrap="square"/>
                    <a:lstStyle/>
                    <a:p>
                      <a:r>
                        <a:rPr sz="1000" b="0">
                          <a:solidFill>
                            <a:srgbClr val="E8EAED"/>
                          </a:solidFill>
                          <a:latin typeface="Segoe UI"/>
                        </a:rPr>
                        <a:t>Vazquez, Chiang and Sarmiento-Barbieri, 2021</a:t>
                      </a:r>
                    </a:p>
                  </a:txBody>
                  <a:tcPr anchor="t" marL="45720" marR="36576" marT="27432">
                    <a:solidFill>
                      <a:srgbClr val="0E141C"/>
                    </a:solidFill>
                  </a:tcPr>
                </a:tc>
                <a:tc>
                  <a:txBody>
                    <a:bodyPr wrap="square"/>
                    <a:lstStyle/>
                    <a:p>
                      <a:r>
                        <a:rPr sz="1000" b="0">
                          <a:solidFill>
                            <a:srgbClr val="E8EAED"/>
                          </a:solidFill>
                          <a:latin typeface="Segoe UI"/>
                        </a:rPr>
                        <a:t>Two randomized field experiments</a:t>
                      </a:r>
                    </a:p>
                  </a:txBody>
                  <a:tcPr anchor="t" marL="45720" marR="36576" marT="27432">
                    <a:solidFill>
                      <a:srgbClr val="0E141C"/>
                    </a:solidFill>
                  </a:tcPr>
                </a:tc>
                <a:tc>
                  <a:txBody>
                    <a:bodyPr wrap="square"/>
                    <a:lstStyle/>
                    <a:p>
                      <a:r>
                        <a:rPr sz="1000" b="0">
                          <a:solidFill>
                            <a:srgbClr val="E8EAED"/>
                          </a:solidFill>
                          <a:latin typeface="Segoe UI"/>
                        </a:rPr>
                        <a:t>One face-to-face class and one online class</a:t>
                      </a:r>
                    </a:p>
                  </a:txBody>
                  <a:tcPr anchor="t" marL="45720" marR="36576" marT="27432">
                    <a:solidFill>
                      <a:srgbClr val="0E141C"/>
                    </a:solidFill>
                  </a:tcPr>
                </a:tc>
                <a:tc>
                  <a:txBody>
                    <a:bodyPr wrap="square"/>
                    <a:lstStyle/>
                    <a:p>
                      <a:r>
                        <a:rPr sz="1000" b="0">
                          <a:solidFill>
                            <a:srgbClr val="E8EAED"/>
                          </a:solidFill>
                          <a:latin typeface="Segoe UI"/>
                        </a:rPr>
                        <a:t>Live proctor versus web proctor; score gap</a:t>
                      </a:r>
                    </a:p>
                  </a:txBody>
                  <a:tcPr anchor="t" marL="45720" marR="36576" marT="27432">
                    <a:solidFill>
                      <a:srgbClr val="0E141C"/>
                    </a:solidFill>
                  </a:tcPr>
                </a:tc>
                <a:tc>
                  <a:txBody>
                    <a:bodyPr wrap="square"/>
                    <a:lstStyle/>
                    <a:p>
                      <a:r>
                        <a:rPr sz="1000" b="0">
                          <a:solidFill>
                            <a:srgbClr val="E8EAED"/>
                          </a:solidFill>
                          <a:latin typeface="Segoe UI"/>
                        </a:rPr>
                        <a:t>Unproctored scores were about 11% higher; the online web proctor had the smalle…</a:t>
                      </a:r>
                    </a:p>
                  </a:txBody>
                  <a:tcPr anchor="t" marL="45720" marR="36576" marT="27432">
                    <a:solidFill>
                      <a:srgbClr val="0E141C"/>
                    </a:solidFill>
                  </a:tcPr>
                </a:tc>
              </a:tr>
              <a:tr h="537210">
                <a:tc>
                  <a:txBody>
                    <a:bodyPr wrap="square"/>
                    <a:lstStyle/>
                    <a:p>
                      <a:r>
                        <a:rPr sz="1000" b="0">
                          <a:solidFill>
                            <a:srgbClr val="E8EAED"/>
                          </a:solidFill>
                          <a:latin typeface="Segoe UI"/>
                        </a:rPr>
                        <a:t>Weiner and Hurtz, 2017 · foundational</a:t>
                      </a:r>
                    </a:p>
                  </a:txBody>
                  <a:tcPr anchor="t" marL="45720" marR="36576" marT="27432">
                    <a:solidFill>
                      <a:srgbClr val="121820"/>
                    </a:solidFill>
                  </a:tcPr>
                </a:tc>
                <a:tc>
                  <a:txBody>
                    <a:bodyPr wrap="square"/>
                    <a:lstStyle/>
                    <a:p>
                      <a:r>
                        <a:rPr sz="1000" b="0">
                          <a:solidFill>
                            <a:srgbClr val="E8EAED"/>
                          </a:solidFill>
                          <a:latin typeface="Segoe UI"/>
                        </a:rPr>
                        <a:t>Quasi-experiment on score equivalence</a:t>
                      </a:r>
                    </a:p>
                  </a:txBody>
                  <a:tcPr anchor="t" marL="45720" marR="36576" marT="27432">
                    <a:solidFill>
                      <a:srgbClr val="121820"/>
                    </a:solidFill>
                  </a:tcPr>
                </a:tc>
                <a:tc>
                  <a:txBody>
                    <a:bodyPr wrap="square"/>
                    <a:lstStyle/>
                    <a:p>
                      <a:r>
                        <a:rPr sz="1000" b="0">
                          <a:solidFill>
                            <a:srgbClr val="E8EAED"/>
                          </a:solidFill>
                          <a:latin typeface="Segoe UI"/>
                        </a:rPr>
                        <a:t>Three professional licensing exams; kiosk video versus test centre</a:t>
                      </a:r>
                    </a:p>
                  </a:txBody>
                  <a:tcPr anchor="t" marL="45720" marR="36576" marT="27432">
                    <a:solidFill>
                      <a:srgbClr val="121820"/>
                    </a:solidFill>
                  </a:tcPr>
                </a:tc>
                <a:tc>
                  <a:txBody>
                    <a:bodyPr wrap="square"/>
                    <a:lstStyle/>
                    <a:p>
                      <a:r>
                        <a:rPr sz="1000" b="0">
                          <a:solidFill>
                            <a:srgbClr val="E8EAED"/>
                          </a:solidFill>
                          <a:latin typeface="Segoe UI"/>
                        </a:rPr>
                        <a:t>Reliability and measurement equivalence</a:t>
                      </a:r>
                    </a:p>
                  </a:txBody>
                  <a:tcPr anchor="t" marL="45720" marR="36576" marT="27432">
                    <a:solidFill>
                      <a:srgbClr val="121820"/>
                    </a:solidFill>
                  </a:tcPr>
                </a:tc>
                <a:tc>
                  <a:txBody>
                    <a:bodyPr wrap="square"/>
                    <a:lstStyle/>
                    <a:p>
                      <a:r>
                        <a:rPr sz="1000" b="0">
                          <a:solidFill>
                            <a:srgbClr val="E8EAED"/>
                          </a:solidFill>
                          <a:latin typeface="Segoe UI"/>
                        </a:rPr>
                        <a:t>Equivalence of video kiosks, not a reason to record the face by default</a:t>
                      </a:r>
                    </a:p>
                  </a:txBody>
                  <a:tcPr anchor="t" marL="45720" marR="36576" marT="27432">
                    <a:solidFill>
                      <a:srgbClr val="121820"/>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F14"/>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256032"/>
            <a:ext cx="1920240" cy="635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73952"/>
            <a:ext cx="8595360" cy="256032"/>
          </a:xfrm>
          <a:prstGeom prst="rect">
            <a:avLst/>
          </a:prstGeom>
          <a:noFill/>
        </p:spPr>
        <p:txBody>
          <a:bodyPr wrap="square">
            <a:spAutoFit/>
          </a:bodyPr>
          <a:lstStyle/>
          <a:p>
            <a:pPr algn="l"/>
            <a:r>
              <a:rPr sz="1100" b="0">
                <a:solidFill>
                  <a:srgbClr val="8B949E"/>
                </a:solidFill>
                <a:latin typeface="Segoe UI"/>
              </a:rPr>
              <a:t>BACSE291  ·  Innovative Design Project  |  First Review  |  Fall Semester 2026</a:t>
            </a:r>
          </a:p>
        </p:txBody>
      </p:sp>
      <p:sp>
        <p:nvSpPr>
          <p:cNvPr id="5" name="TextBox 4"/>
          <p:cNvSpPr txBox="1"/>
          <p:nvPr/>
        </p:nvSpPr>
        <p:spPr>
          <a:xfrm>
            <a:off x="9326880" y="6473952"/>
            <a:ext cx="2468880" cy="256032"/>
          </a:xfrm>
          <a:prstGeom prst="rect">
            <a:avLst/>
          </a:prstGeom>
          <a:noFill/>
        </p:spPr>
        <p:txBody>
          <a:bodyPr wrap="square">
            <a:spAutoFit/>
          </a:bodyPr>
          <a:lstStyle/>
          <a:p>
            <a:pPr algn="r"/>
            <a:r>
              <a:rPr sz="1100" b="0">
                <a:solidFill>
                  <a:srgbClr val="00E5FF"/>
                </a:solidFill>
                <a:latin typeface="Cascadia Mono"/>
              </a:rPr>
              <a:t>APA   10</a:t>
            </a:r>
          </a:p>
        </p:txBody>
      </p:sp>
      <p:sp>
        <p:nvSpPr>
          <p:cNvPr id="6" name="TextBox 5"/>
          <p:cNvSpPr txBox="1"/>
          <p:nvPr/>
        </p:nvSpPr>
        <p:spPr>
          <a:xfrm>
            <a:off x="365760" y="347472"/>
            <a:ext cx="10972800" cy="256032"/>
          </a:xfrm>
          <a:prstGeom prst="rect">
            <a:avLst/>
          </a:prstGeom>
          <a:noFill/>
        </p:spPr>
        <p:txBody>
          <a:bodyPr wrap="square">
            <a:spAutoFit/>
          </a:bodyPr>
          <a:lstStyle/>
          <a:p>
            <a:pPr algn="l"/>
            <a:r>
              <a:rPr sz="1200" b="1">
                <a:solidFill>
                  <a:srgbClr val="00E5FF"/>
                </a:solidFill>
                <a:latin typeface="Cascadia Mono"/>
              </a:rPr>
              <a:t>// A7</a:t>
            </a:r>
          </a:p>
        </p:txBody>
      </p:sp>
      <p:sp>
        <p:nvSpPr>
          <p:cNvPr id="7" name="TextBox 6"/>
          <p:cNvSpPr txBox="1"/>
          <p:nvPr/>
        </p:nvSpPr>
        <p:spPr>
          <a:xfrm>
            <a:off x="365760" y="603504"/>
            <a:ext cx="11338560" cy="457200"/>
          </a:xfrm>
          <a:prstGeom prst="rect">
            <a:avLst/>
          </a:prstGeom>
          <a:noFill/>
        </p:spPr>
        <p:txBody>
          <a:bodyPr wrap="square">
            <a:spAutoFit/>
          </a:bodyPr>
          <a:lstStyle/>
          <a:p>
            <a:pPr algn="l"/>
            <a:r>
              <a:rPr sz="2800" b="1">
                <a:solidFill>
                  <a:srgbClr val="E8EAED"/>
                </a:solidFill>
                <a:latin typeface="Bahnschrift"/>
              </a:rPr>
              <a:t>References  (1/5)</a:t>
            </a:r>
          </a:p>
        </p:txBody>
      </p:sp>
      <p:sp>
        <p:nvSpPr>
          <p:cNvPr id="8" name="TextBox 7"/>
          <p:cNvSpPr txBox="1"/>
          <p:nvPr/>
        </p:nvSpPr>
        <p:spPr>
          <a:xfrm>
            <a:off x="320040" y="1188720"/>
            <a:ext cx="5760720" cy="5029200"/>
          </a:xfrm>
          <a:prstGeom prst="rect">
            <a:avLst/>
          </a:prstGeom>
          <a:noFill/>
        </p:spPr>
        <p:txBody>
          <a:bodyPr wrap="square">
            <a:spAutoFit/>
          </a:bodyPr>
          <a:lstStyle/>
          <a:p>
            <a:pPr algn="l"/>
            <a:r>
              <a:rPr sz="1100" b="0">
                <a:solidFill>
                  <a:srgbClr val="E8EAED"/>
                </a:solidFill>
                <a:latin typeface="Segoe UI"/>
              </a:rPr>
              <a:t>Alessio and Messinger (2021). Faculty and student perceptions of academic integrity in technology-assisted learning and testing. Frontiers in Education, 6, 629220. https://doi.org/10.3389/feduc.2021.629220
Arnò, Galassi, Tommasi, Saggino and Vittorini (2021). State-of-the-art of commercial proctoring systems and their use in academic online exams. International Journal of Distance Education Technologies, 19(2), 41–62. https://doi.org/10.4018/IJDET.20210401.oa3
Atoum, Chen, Liu, Hsu and Liu (2017). Automated online exam proctoring. IEEE Transactions on Multimedia, 19(7), 1609–1624. https://doi.org/10.1109/TMM.2017.2656064  [foundational]
Balash, Kim, Shaibekova, Fainchtein, Sherr and Aviv (2021). Examining the examiners: Students' privacy and security perceptions of online proctoring services. USENIX SOUPS 2021, pp. 633–652. https://www.usenix.org/conference/soups2021/presentation/balash
Bergmans, Bouali, Luttikhuis and Rensink (2021). On the efficacy of online proctoring using Proctorio. CSEDU 2021, pp. 279–290. https://doi.org/10.5220/0010399602790290
Burgess, Ginsberg, Felten and Cohney (2022). Watching the watchers: Bias and vulnerability in remote proctoring software. USENIX Security 2022. https://www.usenix.org/conference/usenixsecurity22/presentation/burgess</a:t>
            </a:r>
          </a:p>
        </p:txBody>
      </p:sp>
      <p:sp>
        <p:nvSpPr>
          <p:cNvPr id="9" name="TextBox 8"/>
          <p:cNvSpPr txBox="1"/>
          <p:nvPr/>
        </p:nvSpPr>
        <p:spPr>
          <a:xfrm>
            <a:off x="6172200" y="1188720"/>
            <a:ext cx="5669280" cy="5029200"/>
          </a:xfrm>
          <a:prstGeom prst="rect">
            <a:avLst/>
          </a:prstGeom>
          <a:noFill/>
        </p:spPr>
        <p:txBody>
          <a:bodyPr wrap="square">
            <a:spAutoFit/>
          </a:bodyPr>
          <a:lstStyle/>
          <a:p>
            <a:pPr algn="l"/>
            <a:r>
              <a:rPr sz="1100" b="0">
                <a:solidFill>
                  <a:srgbClr val="E8EAED"/>
                </a:solidFill>
                <a:latin typeface="Segoe UI"/>
              </a:rPr>
              <a:t>Butler-Henderson and Crawford (2020). A systematic review of online examinations. Computers &amp; Education, 159, 104024. https://doi.org/10.1016/j.compedu.2020.104024  [foundational]
Coghlan, Miller and Paterson (2021). Good proctor or 'Big Brother'? Ethics of online exam supervision technologies. Philosophy &amp; Technology, 34(4), 1581–1606. https://doi.org/10.1007/s13347-021-00476-1
Conijn, Kleingeld, Matzat and Snijders (2022). The fear of big brother: The potential negative side-effects of proctored exams. Journal of Computer Assisted Learning, 38(6), 1521–1534. https://doi.org/10.1111/jcal.12651
Dendir and Maxwell (2020). Cheating in online courses: Evidence from online proctoring. Computers in Human Behavior Reports, 2, 100033. https://doi.org/10.1016/j.chbr.2020.100033  [foundational]
Diedenhofen and Musch (2016). PageFocus: Using paradata to detect and prevent cheating on online achievement tests. Behavior Research Methods. https://doi.org/10.3758/s13428-016-0800-7  [foundational]
Draaijer, Jefferies and Somers (2018). Online proctoring for remote examination: A state of play in higher education in the EU. Communications in Computer and Information Science, 829, 96–108. https://doi.org/10.1007/978-3-319-97807-9_8  [foundational]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F14"/>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256032"/>
            <a:ext cx="1920240" cy="635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73952"/>
            <a:ext cx="8595360" cy="256032"/>
          </a:xfrm>
          <a:prstGeom prst="rect">
            <a:avLst/>
          </a:prstGeom>
          <a:noFill/>
        </p:spPr>
        <p:txBody>
          <a:bodyPr wrap="square">
            <a:spAutoFit/>
          </a:bodyPr>
          <a:lstStyle/>
          <a:p>
            <a:pPr algn="l"/>
            <a:r>
              <a:rPr sz="1100" b="0">
                <a:solidFill>
                  <a:srgbClr val="8B949E"/>
                </a:solidFill>
                <a:latin typeface="Segoe UI"/>
              </a:rPr>
              <a:t>BACSE291  ·  Innovative Design Project  |  First Review  |  Fall Semester 2026</a:t>
            </a:r>
          </a:p>
        </p:txBody>
      </p:sp>
      <p:sp>
        <p:nvSpPr>
          <p:cNvPr id="5" name="TextBox 4"/>
          <p:cNvSpPr txBox="1"/>
          <p:nvPr/>
        </p:nvSpPr>
        <p:spPr>
          <a:xfrm>
            <a:off x="9326880" y="6473952"/>
            <a:ext cx="2468880" cy="256032"/>
          </a:xfrm>
          <a:prstGeom prst="rect">
            <a:avLst/>
          </a:prstGeom>
          <a:noFill/>
        </p:spPr>
        <p:txBody>
          <a:bodyPr wrap="square">
            <a:spAutoFit/>
          </a:bodyPr>
          <a:lstStyle/>
          <a:p>
            <a:pPr algn="r"/>
            <a:r>
              <a:rPr sz="1100" b="0">
                <a:solidFill>
                  <a:srgbClr val="00E5FF"/>
                </a:solidFill>
                <a:latin typeface="Cascadia Mono"/>
              </a:rPr>
              <a:t>APA   11</a:t>
            </a:r>
          </a:p>
        </p:txBody>
      </p:sp>
      <p:sp>
        <p:nvSpPr>
          <p:cNvPr id="6" name="TextBox 5"/>
          <p:cNvSpPr txBox="1"/>
          <p:nvPr/>
        </p:nvSpPr>
        <p:spPr>
          <a:xfrm>
            <a:off x="365760" y="347472"/>
            <a:ext cx="10972800" cy="256032"/>
          </a:xfrm>
          <a:prstGeom prst="rect">
            <a:avLst/>
          </a:prstGeom>
          <a:noFill/>
        </p:spPr>
        <p:txBody>
          <a:bodyPr wrap="square">
            <a:spAutoFit/>
          </a:bodyPr>
          <a:lstStyle/>
          <a:p>
            <a:pPr algn="l"/>
            <a:r>
              <a:rPr sz="1200" b="1">
                <a:solidFill>
                  <a:srgbClr val="00E5FF"/>
                </a:solidFill>
                <a:latin typeface="Cascadia Mono"/>
              </a:rPr>
              <a:t>// A7</a:t>
            </a:r>
          </a:p>
        </p:txBody>
      </p:sp>
      <p:sp>
        <p:nvSpPr>
          <p:cNvPr id="7" name="TextBox 6"/>
          <p:cNvSpPr txBox="1"/>
          <p:nvPr/>
        </p:nvSpPr>
        <p:spPr>
          <a:xfrm>
            <a:off x="365760" y="603504"/>
            <a:ext cx="11338560" cy="457200"/>
          </a:xfrm>
          <a:prstGeom prst="rect">
            <a:avLst/>
          </a:prstGeom>
          <a:noFill/>
        </p:spPr>
        <p:txBody>
          <a:bodyPr wrap="square">
            <a:spAutoFit/>
          </a:bodyPr>
          <a:lstStyle/>
          <a:p>
            <a:pPr algn="l"/>
            <a:r>
              <a:rPr sz="2800" b="1">
                <a:solidFill>
                  <a:srgbClr val="E8EAED"/>
                </a:solidFill>
                <a:latin typeface="Bahnschrift"/>
              </a:rPr>
              <a:t>References  (2/5)</a:t>
            </a:r>
          </a:p>
        </p:txBody>
      </p:sp>
      <p:sp>
        <p:nvSpPr>
          <p:cNvPr id="8" name="TextBox 7"/>
          <p:cNvSpPr txBox="1"/>
          <p:nvPr/>
        </p:nvSpPr>
        <p:spPr>
          <a:xfrm>
            <a:off x="320040" y="1188720"/>
            <a:ext cx="5760720" cy="5029200"/>
          </a:xfrm>
          <a:prstGeom prst="rect">
            <a:avLst/>
          </a:prstGeom>
          <a:noFill/>
        </p:spPr>
        <p:txBody>
          <a:bodyPr wrap="square">
            <a:spAutoFit/>
          </a:bodyPr>
          <a:lstStyle/>
          <a:p>
            <a:pPr algn="l"/>
            <a:r>
              <a:rPr sz="1100" b="0">
                <a:solidFill>
                  <a:srgbClr val="E8EAED"/>
                </a:solidFill>
                <a:latin typeface="Segoe UI"/>
              </a:rPr>
              <a:t>Erdem and Karabatak (2025). Cheating detection in online exams using deep learning and machine learning. Applied Sciences, 15, 400. Appl. Sci. 2025, 15, 400
Fidas, Belk, Constantinides, Portugal, Martins, Pietron, Pitsillides and Avouris (2023). Ensuring academic integrity and trust in online learning environments. Education Sciences, 13(6), 566. https://doi.org/10.3390/educsci13060566
Golden and Kohlbeck (2020). Addressing cheating when using test bank questions in online classes. Journal of Accounting Education, 52. https://doi.org/10.1016/j.jaccedu.2020.100671  [foundational]
Gudiño Paredes, Jasso Peña and de la Fuente Alcázar (2021). Remote proctored exams: Integrity assurance in online education?. Distance Education, 42, 200–218. Distance Education, 42, 200–218 (2021)
Han, Nikou and Ayele (2023). Digital proctoring in higher education: A systematic literature review. International Journal of Educational Management. https://doi.org/10.1108/ijem-12-2022-0522
Heinrich (2025). A systematic-narrative review of online proctoring systems and a case for open standards. Open Praxis. https://doi.org/10.55982/openpraxis.17.3.836</a:t>
            </a:r>
          </a:p>
        </p:txBody>
      </p:sp>
      <p:sp>
        <p:nvSpPr>
          <p:cNvPr id="9" name="TextBox 8"/>
          <p:cNvSpPr txBox="1"/>
          <p:nvPr/>
        </p:nvSpPr>
        <p:spPr>
          <a:xfrm>
            <a:off x="6172200" y="1188720"/>
            <a:ext cx="5669280" cy="5029200"/>
          </a:xfrm>
          <a:prstGeom prst="rect">
            <a:avLst/>
          </a:prstGeom>
          <a:noFill/>
        </p:spPr>
        <p:txBody>
          <a:bodyPr wrap="square">
            <a:spAutoFit/>
          </a:bodyPr>
          <a:lstStyle/>
          <a:p>
            <a:pPr algn="l"/>
            <a:r>
              <a:rPr sz="1100" b="0">
                <a:solidFill>
                  <a:srgbClr val="E8EAED"/>
                </a:solidFill>
                <a:latin typeface="Segoe UI"/>
              </a:rPr>
              <a:t>Henderson, Chung, Awdry, Mundy, Bryant, Ashford and Ryan (2023). Factors associated with online examination cheating. Assessment &amp; Evaluation in Higher Education, 48(7), 980–994. https://doi.org/10.1080/02602938.2022.2144802
Holden, Norris and Kuhlmeier (2021). Academic integrity in online assessment: A research review. Frontiers in Education, 6, 639814. https://doi.org/10.3389/feduc.2021.639814
Hussein, Yusuf, Deb, Fong and Naidu (2020). An evaluation of online proctoring tools. Open Praxis, 12(4), 509–525. https://doi.org/10.5944/openpraxis.12.4.1113  [foundational]
Hylton, Levy and Dringus (2016). Utilizing webcam-based proctoring to deter misconduct in online exams. Computers &amp; Education, 92–93, 53–63. https://doi.org/10.1016/j.compedu.2015.10.002  [foundational]
Ibrahim, Liu, Asim, Battu, Benabderrahmane, Alhafni, Adnan et al. (2023). Perception, performance, and detectability of conversational artificial intelligence across 32 university courses. Scientific Reports. https://doi.org/10.1038/s41598-023-38964-3
Ilgaz and Afacan Adanır (2020). Providing online exams for online learners: Does it really matter for them?. Education and Information Technologies, 25(2), 1255–1269. https://doi.org/10.1007/s10639-019-10020-6  [foundational]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0F14"/>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256032"/>
            <a:ext cx="1920240" cy="635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73952"/>
            <a:ext cx="8595360" cy="256032"/>
          </a:xfrm>
          <a:prstGeom prst="rect">
            <a:avLst/>
          </a:prstGeom>
          <a:noFill/>
        </p:spPr>
        <p:txBody>
          <a:bodyPr wrap="square">
            <a:spAutoFit/>
          </a:bodyPr>
          <a:lstStyle/>
          <a:p>
            <a:pPr algn="l"/>
            <a:r>
              <a:rPr sz="1100" b="0">
                <a:solidFill>
                  <a:srgbClr val="8B949E"/>
                </a:solidFill>
                <a:latin typeface="Segoe UI"/>
              </a:rPr>
              <a:t>BACSE291  ·  Innovative Design Project  |  First Review  |  Fall Semester 2026</a:t>
            </a:r>
          </a:p>
        </p:txBody>
      </p:sp>
      <p:sp>
        <p:nvSpPr>
          <p:cNvPr id="5" name="TextBox 4"/>
          <p:cNvSpPr txBox="1"/>
          <p:nvPr/>
        </p:nvSpPr>
        <p:spPr>
          <a:xfrm>
            <a:off x="9326880" y="6473952"/>
            <a:ext cx="2468880" cy="256032"/>
          </a:xfrm>
          <a:prstGeom prst="rect">
            <a:avLst/>
          </a:prstGeom>
          <a:noFill/>
        </p:spPr>
        <p:txBody>
          <a:bodyPr wrap="square">
            <a:spAutoFit/>
          </a:bodyPr>
          <a:lstStyle/>
          <a:p>
            <a:pPr algn="r"/>
            <a:r>
              <a:rPr sz="1100" b="0">
                <a:solidFill>
                  <a:srgbClr val="00E5FF"/>
                </a:solidFill>
                <a:latin typeface="Cascadia Mono"/>
              </a:rPr>
              <a:t>APA   12</a:t>
            </a:r>
          </a:p>
        </p:txBody>
      </p:sp>
      <p:sp>
        <p:nvSpPr>
          <p:cNvPr id="6" name="TextBox 5"/>
          <p:cNvSpPr txBox="1"/>
          <p:nvPr/>
        </p:nvSpPr>
        <p:spPr>
          <a:xfrm>
            <a:off x="365760" y="347472"/>
            <a:ext cx="10972800" cy="256032"/>
          </a:xfrm>
          <a:prstGeom prst="rect">
            <a:avLst/>
          </a:prstGeom>
          <a:noFill/>
        </p:spPr>
        <p:txBody>
          <a:bodyPr wrap="square">
            <a:spAutoFit/>
          </a:bodyPr>
          <a:lstStyle/>
          <a:p>
            <a:pPr algn="l"/>
            <a:r>
              <a:rPr sz="1200" b="1">
                <a:solidFill>
                  <a:srgbClr val="00E5FF"/>
                </a:solidFill>
                <a:latin typeface="Cascadia Mono"/>
              </a:rPr>
              <a:t>// A7</a:t>
            </a:r>
          </a:p>
        </p:txBody>
      </p:sp>
      <p:sp>
        <p:nvSpPr>
          <p:cNvPr id="7" name="TextBox 6"/>
          <p:cNvSpPr txBox="1"/>
          <p:nvPr/>
        </p:nvSpPr>
        <p:spPr>
          <a:xfrm>
            <a:off x="365760" y="603504"/>
            <a:ext cx="11338560" cy="457200"/>
          </a:xfrm>
          <a:prstGeom prst="rect">
            <a:avLst/>
          </a:prstGeom>
          <a:noFill/>
        </p:spPr>
        <p:txBody>
          <a:bodyPr wrap="square">
            <a:spAutoFit/>
          </a:bodyPr>
          <a:lstStyle/>
          <a:p>
            <a:pPr algn="l"/>
            <a:r>
              <a:rPr sz="2800" b="1">
                <a:solidFill>
                  <a:srgbClr val="E8EAED"/>
                </a:solidFill>
                <a:latin typeface="Bahnschrift"/>
              </a:rPr>
              <a:t>References  (3/5)</a:t>
            </a:r>
          </a:p>
        </p:txBody>
      </p:sp>
      <p:sp>
        <p:nvSpPr>
          <p:cNvPr id="8" name="TextBox 7"/>
          <p:cNvSpPr txBox="1"/>
          <p:nvPr/>
        </p:nvSpPr>
        <p:spPr>
          <a:xfrm>
            <a:off x="320040" y="1188720"/>
            <a:ext cx="5760720" cy="5029200"/>
          </a:xfrm>
          <a:prstGeom prst="rect">
            <a:avLst/>
          </a:prstGeom>
          <a:noFill/>
        </p:spPr>
        <p:txBody>
          <a:bodyPr wrap="square">
            <a:spAutoFit/>
          </a:bodyPr>
          <a:lstStyle/>
          <a:p>
            <a:pPr algn="l"/>
            <a:r>
              <a:rPr sz="1100" b="0">
                <a:solidFill>
                  <a:srgbClr val="E8EAED"/>
                </a:solidFill>
                <a:latin typeface="Segoe UI"/>
              </a:rPr>
              <a:t>Khalil, Prinsloo and Slade (2022). In the nexus of integrity and surveillance: Proctoring (re)considered. Journal of Computer Assisted Learning, 38(6), 1589–1602. https://doi.org/10.1111/jcal.12713
Kharbat and Abu Daabes (2021). E-proctored exams during the COVID-19 pandemic: A close understanding. Education and Information Technologies. https://doi.org/10.1007/s10639-021-10458-7
Kirsanov, Kushwah and Selvaretnam (2025). Beyond detection: How students use and hide AI in online assessments and what authentic tasks can do about it. Journal of Academic Ethics. https://doi.org/10.1007/s10805-025-09691-3
Kofinas, Tsay and Pike (2025). The impact of generative AI on academic integrity of authentic assessments. British Journal of Educational Technology, 56(6), 2522–2549. https://doi.org/10.1111/bjet.13585
Labayen, Vea, Flórez, Aginako and Sierra (2021). Online student authentication and proctoring system based on multimodal biometrics technology. IEEE Access. https://doi.org/10.1109/ACCESS.2021.3079375
Lee and Fanguy (2022). Online exam proctoring technologies: Educational innovation or deterioration?. British Journal of Educational Technology, 53(3), 475–490. https://doi.org/10.1111/bjet.13182</a:t>
            </a:r>
          </a:p>
        </p:txBody>
      </p:sp>
      <p:sp>
        <p:nvSpPr>
          <p:cNvPr id="9" name="TextBox 8"/>
          <p:cNvSpPr txBox="1"/>
          <p:nvPr/>
        </p:nvSpPr>
        <p:spPr>
          <a:xfrm>
            <a:off x="6172200" y="1188720"/>
            <a:ext cx="5669280" cy="5029200"/>
          </a:xfrm>
          <a:prstGeom prst="rect">
            <a:avLst/>
          </a:prstGeom>
          <a:noFill/>
        </p:spPr>
        <p:txBody>
          <a:bodyPr wrap="square">
            <a:spAutoFit/>
          </a:bodyPr>
          <a:lstStyle/>
          <a:p>
            <a:pPr algn="l"/>
            <a:r>
              <a:rPr sz="1100" b="0">
                <a:solidFill>
                  <a:srgbClr val="E8EAED"/>
                </a:solidFill>
                <a:latin typeface="Segoe UI"/>
              </a:rPr>
              <a:t>Lee and Vispoel (2025). A real-time biclustering method for detecting cheating in mixed-format tests. Educational and Psychological Measurement, 85(5), 956–982. https://doi.org/10.1177/00131644251333143
Li, Chang, Yuan and Hauptmann (2015). Massive open online proctor: Toward automating the detection of suspicious behaviors. ACM CSCW, pp. 1129–1137. https://doi.org/10.1145/2675133.2675245  [foundational]
Meulmeester, Dubois, Krommenhoek-van Es et al. (2021). Medical students' perspectives on online proctoring during remote digital progress test. Medical Science Educator, 31, 1773–1777. https://doi.org/10.1007/s40670-021-01420-w
Milone, Cortese, Balestrieri and Pittenger (2017). The impact of proctored online exams on the educational experience. Currents in Pharmacy Teaching and Learning, 9(1), 108–114. https://doi.org/10.1016/j.cptl.2016.08.037  [foundational]
Mohammed and Ali (2022). Cheating prevention in e-proctoring systems using secure exam browsers: A case study. JITEKI, 8(4), 634–648. https://doi.org/10.26555/jiteki.v8i4.25094
Mutimukwe, Viberg, McGrath and Cerratto-Pargman (2025). Privacy in online proctoring systems in higher education: Stakeholders' perceptions, awareness and responsibility. Journal of Computing in Higher Education. https://doi.org/10.1007/s12528-025-09461-5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0F14"/>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256032"/>
            <a:ext cx="1920240" cy="635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73952"/>
            <a:ext cx="8595360" cy="256032"/>
          </a:xfrm>
          <a:prstGeom prst="rect">
            <a:avLst/>
          </a:prstGeom>
          <a:noFill/>
        </p:spPr>
        <p:txBody>
          <a:bodyPr wrap="square">
            <a:spAutoFit/>
          </a:bodyPr>
          <a:lstStyle/>
          <a:p>
            <a:pPr algn="l"/>
            <a:r>
              <a:rPr sz="1100" b="0">
                <a:solidFill>
                  <a:srgbClr val="8B949E"/>
                </a:solidFill>
                <a:latin typeface="Segoe UI"/>
              </a:rPr>
              <a:t>BACSE291  ·  Innovative Design Project  |  First Review  |  Fall Semester 2026</a:t>
            </a:r>
          </a:p>
        </p:txBody>
      </p:sp>
      <p:sp>
        <p:nvSpPr>
          <p:cNvPr id="5" name="TextBox 4"/>
          <p:cNvSpPr txBox="1"/>
          <p:nvPr/>
        </p:nvSpPr>
        <p:spPr>
          <a:xfrm>
            <a:off x="9326880" y="6473952"/>
            <a:ext cx="2468880" cy="256032"/>
          </a:xfrm>
          <a:prstGeom prst="rect">
            <a:avLst/>
          </a:prstGeom>
          <a:noFill/>
        </p:spPr>
        <p:txBody>
          <a:bodyPr wrap="square">
            <a:spAutoFit/>
          </a:bodyPr>
          <a:lstStyle/>
          <a:p>
            <a:pPr algn="r"/>
            <a:r>
              <a:rPr sz="1100" b="0">
                <a:solidFill>
                  <a:srgbClr val="00E5FF"/>
                </a:solidFill>
                <a:latin typeface="Cascadia Mono"/>
              </a:rPr>
              <a:t>APA   13</a:t>
            </a:r>
          </a:p>
        </p:txBody>
      </p:sp>
      <p:sp>
        <p:nvSpPr>
          <p:cNvPr id="6" name="TextBox 5"/>
          <p:cNvSpPr txBox="1"/>
          <p:nvPr/>
        </p:nvSpPr>
        <p:spPr>
          <a:xfrm>
            <a:off x="365760" y="347472"/>
            <a:ext cx="10972800" cy="256032"/>
          </a:xfrm>
          <a:prstGeom prst="rect">
            <a:avLst/>
          </a:prstGeom>
          <a:noFill/>
        </p:spPr>
        <p:txBody>
          <a:bodyPr wrap="square">
            <a:spAutoFit/>
          </a:bodyPr>
          <a:lstStyle/>
          <a:p>
            <a:pPr algn="l"/>
            <a:r>
              <a:rPr sz="1200" b="1">
                <a:solidFill>
                  <a:srgbClr val="00E5FF"/>
                </a:solidFill>
                <a:latin typeface="Cascadia Mono"/>
              </a:rPr>
              <a:t>// A7</a:t>
            </a:r>
          </a:p>
        </p:txBody>
      </p:sp>
      <p:sp>
        <p:nvSpPr>
          <p:cNvPr id="7" name="TextBox 6"/>
          <p:cNvSpPr txBox="1"/>
          <p:nvPr/>
        </p:nvSpPr>
        <p:spPr>
          <a:xfrm>
            <a:off x="365760" y="603504"/>
            <a:ext cx="11338560" cy="457200"/>
          </a:xfrm>
          <a:prstGeom prst="rect">
            <a:avLst/>
          </a:prstGeom>
          <a:noFill/>
        </p:spPr>
        <p:txBody>
          <a:bodyPr wrap="square">
            <a:spAutoFit/>
          </a:bodyPr>
          <a:lstStyle/>
          <a:p>
            <a:pPr algn="l"/>
            <a:r>
              <a:rPr sz="2800" b="1">
                <a:solidFill>
                  <a:srgbClr val="E8EAED"/>
                </a:solidFill>
                <a:latin typeface="Bahnschrift"/>
              </a:rPr>
              <a:t>References  (4/5)</a:t>
            </a:r>
          </a:p>
        </p:txBody>
      </p:sp>
      <p:sp>
        <p:nvSpPr>
          <p:cNvPr id="8" name="TextBox 7"/>
          <p:cNvSpPr txBox="1"/>
          <p:nvPr/>
        </p:nvSpPr>
        <p:spPr>
          <a:xfrm>
            <a:off x="320040" y="1188720"/>
            <a:ext cx="5760720" cy="5029200"/>
          </a:xfrm>
          <a:prstGeom prst="rect">
            <a:avLst/>
          </a:prstGeom>
          <a:noFill/>
        </p:spPr>
        <p:txBody>
          <a:bodyPr wrap="square">
            <a:spAutoFit/>
          </a:bodyPr>
          <a:lstStyle/>
          <a:p>
            <a:pPr algn="l"/>
            <a:r>
              <a:rPr sz="1100" b="0">
                <a:solidFill>
                  <a:srgbClr val="E8EAED"/>
                </a:solidFill>
                <a:latin typeface="Segoe UI"/>
              </a:rPr>
              <a:t>Newton and Essex (2024). How common is cheating in online exams and did it increase during the COVID-19 pandemic? A systematic review. Journal of Academic Ethics, 22, 323–343. https://doi.org/10.1007/s10805-023-09485-5
Nigam, Pasricha, Singh and Churi (2021). A systematic review on AI-based proctoring systems: Past, present and future. Education and Information Technologies, 26, 6421–6445. https://doi.org/10.1007/s10639-021-10597-x
Noorbehbahani, Mohammadi and Aminazadeh (2022). A systematic review of research on cheating in online exams from 2010 to 2021. Education and Information Technologies, 27(6), 8413–8460. https://doi.org/10.1007/s10639-022-10927-7
Nurpeisova, Shaushenova, Mutalova, Ongarbayeva, Niyazbekova, Bekenova, Zhumaliyeva and Zhumasseitova (2023). Research on the development of a proctoring system for conducting online exams in Kazakhstan. Computation, 11(6), 120. https://doi.org/10.3390/computation11060120
Nurpeisova, Shaushenova, Mutalova, Zulpykhar, Ongarbayeva, Niyazbekova, Semenov and Maisigova (2022). The study of mathematical models and algorithms for face recognition in images using Python in a proctoring system. Computation, 10, 136. https://doi.org/10.3390/computation10080136
Potluri, Sistla and Kolli (2023). An automated online proctoring system using attentive-net. Multimedia Tools and Applications, 82, 30375–30404. https://doi.org/10.1007/s11042-023-14604-w</a:t>
            </a:r>
          </a:p>
        </p:txBody>
      </p:sp>
      <p:sp>
        <p:nvSpPr>
          <p:cNvPr id="9" name="TextBox 8"/>
          <p:cNvSpPr txBox="1"/>
          <p:nvPr/>
        </p:nvSpPr>
        <p:spPr>
          <a:xfrm>
            <a:off x="6172200" y="1188720"/>
            <a:ext cx="5669280" cy="5029200"/>
          </a:xfrm>
          <a:prstGeom prst="rect">
            <a:avLst/>
          </a:prstGeom>
          <a:noFill/>
        </p:spPr>
        <p:txBody>
          <a:bodyPr wrap="square">
            <a:spAutoFit/>
          </a:bodyPr>
          <a:lstStyle/>
          <a:p>
            <a:pPr algn="l"/>
            <a:r>
              <a:rPr sz="1100" b="0">
                <a:solidFill>
                  <a:srgbClr val="E8EAED"/>
                </a:solidFill>
                <a:latin typeface="Segoe UI"/>
              </a:rPr>
              <a:t>Ravesloot, Donkers, Meiboom, Langers, Jacobs, Tio, van der Vleuten and Bremers (2026). Computer testing, formative or summative, and proctoring: Does it matter?. Perspectives on Medical Education, 15(1), 122–133. https://doi.org/10.5334/pme.1771
Rios and Liu (2017). Online proctored versus unproctored low-stakes internet test administration. American Journal of Distance Education, 31(4), 226–241. https://doi.org/10.1080/08923647.2017.1258628  [foundational]
Scarfe, Watcham, Clarke and Roesch (2024). A real-world test of artificial intelligence infiltration of a university examinations system: A Turing Test case study. PLOS ONE. https://doi.org/10.1371/journal.pone.0305354
Selwyn, O'Neill, Smith, Andrejevic and Gu (2023). A necessary evil? The rise of online exam proctoring in Australian universities. Media International Australia, 186(1), 149–164. https://doi.org/10.1177/1329878X211005862
Slusky (2020). Cybersecurity of online proctoring systems. Journal of International Technology and Information Management, 29. Journal of International Technology and Information Management, 29 (2020)  [foundational]
Stanoyevitch (2024). Online assessment in the age of artificial intelligence. Discover Education. https://doi.org/10.1007/s44217-024-00212-9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0F14"/>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256032"/>
            <a:ext cx="1920240" cy="635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73952"/>
            <a:ext cx="8595360" cy="256032"/>
          </a:xfrm>
          <a:prstGeom prst="rect">
            <a:avLst/>
          </a:prstGeom>
          <a:noFill/>
        </p:spPr>
        <p:txBody>
          <a:bodyPr wrap="square">
            <a:spAutoFit/>
          </a:bodyPr>
          <a:lstStyle/>
          <a:p>
            <a:pPr algn="l"/>
            <a:r>
              <a:rPr sz="1100" b="0">
                <a:solidFill>
                  <a:srgbClr val="8B949E"/>
                </a:solidFill>
                <a:latin typeface="Segoe UI"/>
              </a:rPr>
              <a:t>BACSE291  ·  Innovative Design Project  |  First Review  |  Fall Semester 2026</a:t>
            </a:r>
          </a:p>
        </p:txBody>
      </p:sp>
      <p:sp>
        <p:nvSpPr>
          <p:cNvPr id="5" name="TextBox 4"/>
          <p:cNvSpPr txBox="1"/>
          <p:nvPr/>
        </p:nvSpPr>
        <p:spPr>
          <a:xfrm>
            <a:off x="9326880" y="6473952"/>
            <a:ext cx="2468880" cy="256032"/>
          </a:xfrm>
          <a:prstGeom prst="rect">
            <a:avLst/>
          </a:prstGeom>
          <a:noFill/>
        </p:spPr>
        <p:txBody>
          <a:bodyPr wrap="square">
            <a:spAutoFit/>
          </a:bodyPr>
          <a:lstStyle/>
          <a:p>
            <a:pPr algn="r"/>
            <a:r>
              <a:rPr sz="1100" b="0">
                <a:solidFill>
                  <a:srgbClr val="00E5FF"/>
                </a:solidFill>
                <a:latin typeface="Cascadia Mono"/>
              </a:rPr>
              <a:t>APA   14</a:t>
            </a:r>
          </a:p>
        </p:txBody>
      </p:sp>
      <p:sp>
        <p:nvSpPr>
          <p:cNvPr id="6" name="TextBox 5"/>
          <p:cNvSpPr txBox="1"/>
          <p:nvPr/>
        </p:nvSpPr>
        <p:spPr>
          <a:xfrm>
            <a:off x="365760" y="347472"/>
            <a:ext cx="10972800" cy="256032"/>
          </a:xfrm>
          <a:prstGeom prst="rect">
            <a:avLst/>
          </a:prstGeom>
          <a:noFill/>
        </p:spPr>
        <p:txBody>
          <a:bodyPr wrap="square">
            <a:spAutoFit/>
          </a:bodyPr>
          <a:lstStyle/>
          <a:p>
            <a:pPr algn="l"/>
            <a:r>
              <a:rPr sz="1200" b="1">
                <a:solidFill>
                  <a:srgbClr val="00E5FF"/>
                </a:solidFill>
                <a:latin typeface="Cascadia Mono"/>
              </a:rPr>
              <a:t>// A7</a:t>
            </a:r>
          </a:p>
        </p:txBody>
      </p:sp>
      <p:sp>
        <p:nvSpPr>
          <p:cNvPr id="7" name="TextBox 6"/>
          <p:cNvSpPr txBox="1"/>
          <p:nvPr/>
        </p:nvSpPr>
        <p:spPr>
          <a:xfrm>
            <a:off x="365760" y="603504"/>
            <a:ext cx="11338560" cy="457200"/>
          </a:xfrm>
          <a:prstGeom prst="rect">
            <a:avLst/>
          </a:prstGeom>
          <a:noFill/>
        </p:spPr>
        <p:txBody>
          <a:bodyPr wrap="square">
            <a:spAutoFit/>
          </a:bodyPr>
          <a:lstStyle/>
          <a:p>
            <a:pPr algn="l"/>
            <a:r>
              <a:rPr sz="2800" b="1">
                <a:solidFill>
                  <a:srgbClr val="E8EAED"/>
                </a:solidFill>
                <a:latin typeface="Bahnschrift"/>
              </a:rPr>
              <a:t>References  (5/5)</a:t>
            </a:r>
          </a:p>
        </p:txBody>
      </p:sp>
      <p:sp>
        <p:nvSpPr>
          <p:cNvPr id="8" name="TextBox 7"/>
          <p:cNvSpPr txBox="1"/>
          <p:nvPr/>
        </p:nvSpPr>
        <p:spPr>
          <a:xfrm>
            <a:off x="320040" y="1188720"/>
            <a:ext cx="5760720" cy="5029200"/>
          </a:xfrm>
          <a:prstGeom prst="rect">
            <a:avLst/>
          </a:prstGeom>
          <a:noFill/>
        </p:spPr>
        <p:txBody>
          <a:bodyPr wrap="square">
            <a:spAutoFit/>
          </a:bodyPr>
          <a:lstStyle/>
          <a:p>
            <a:pPr algn="l"/>
            <a:r>
              <a:rPr sz="1100" b="0">
                <a:solidFill>
                  <a:srgbClr val="E8EAED"/>
                </a:solidFill>
                <a:latin typeface="Segoe UI"/>
              </a:rPr>
              <a:t>Topuz, Saka, Fatsa and Kurşun (2022). Emerging trends of online assessment systems in the emergency remote teaching period. Smart Learning Environments, 9, 17. https://doi.org/10.1186/s40561-022-00199-6
Vazquez, Chiang and Sarmiento-Barbieri (2021). Can we stay one step ahead of cheaters? A field experiment in proctoring online open book exams. Journal of Behavioral and Experimental Economics, 90, 101653. https://doi.org/10.1016/j.socec.2020.101653</a:t>
            </a:r>
          </a:p>
        </p:txBody>
      </p:sp>
      <p:sp>
        <p:nvSpPr>
          <p:cNvPr id="9" name="TextBox 8"/>
          <p:cNvSpPr txBox="1"/>
          <p:nvPr/>
        </p:nvSpPr>
        <p:spPr>
          <a:xfrm>
            <a:off x="6172200" y="1188720"/>
            <a:ext cx="5669280" cy="5029200"/>
          </a:xfrm>
          <a:prstGeom prst="rect">
            <a:avLst/>
          </a:prstGeom>
          <a:noFill/>
        </p:spPr>
        <p:txBody>
          <a:bodyPr wrap="square">
            <a:spAutoFit/>
          </a:bodyPr>
          <a:lstStyle/>
          <a:p>
            <a:pPr algn="l"/>
            <a:r>
              <a:rPr sz="1100" b="0">
                <a:solidFill>
                  <a:srgbClr val="E8EAED"/>
                </a:solidFill>
                <a:latin typeface="Segoe UI"/>
              </a:rPr>
              <a:t>Weiner and Hurtz (2017). A comparative study of online remote proctored versus onsite proctored high-stakes exams. Journal of Applied Testing Technology, 18(1), 13–20. https://jattjournal.net/index.php/atp/article/view/113061  [foundational]
Özseven and Esin Özseven (2026). An explainable neuro-symbolic approach for cheating detection in online exams. Applied Sciences, 16(6), 2884. https://doi.org/10.3390/app16062884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0F14"/>
        </a:solidFill>
        <a:effectLst/>
      </p:bgPr>
    </p:bg>
    <p:spTree>
      <p:nvGrpSpPr>
        <p:cNvPr id="1" name=""/>
        <p:cNvGrpSpPr/>
        <p:nvPr/>
      </p:nvGrpSpPr>
      <p:grpSpPr/>
      <p:sp>
        <p:nvSpPr>
          <p:cNvPr id="2" name="Rectangle 1"/>
          <p:cNvSpPr/>
          <p:nvPr/>
        </p:nvSpPr>
        <p:spPr>
          <a:xfrm>
            <a:off x="0" y="0"/>
            <a:ext cx="73152" cy="685800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20040" y="256032"/>
            <a:ext cx="1920240" cy="635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73952"/>
            <a:ext cx="8595360" cy="256032"/>
          </a:xfrm>
          <a:prstGeom prst="rect">
            <a:avLst/>
          </a:prstGeom>
          <a:noFill/>
        </p:spPr>
        <p:txBody>
          <a:bodyPr wrap="square">
            <a:spAutoFit/>
          </a:bodyPr>
          <a:lstStyle/>
          <a:p>
            <a:pPr algn="l"/>
            <a:r>
              <a:rPr sz="1100" b="0">
                <a:solidFill>
                  <a:srgbClr val="8B949E"/>
                </a:solidFill>
                <a:latin typeface="Segoe UI"/>
              </a:rPr>
              <a:t>BACSE291  ·  Innovative Design Project  |  First Review  |  Fall Semester 2026</a:t>
            </a:r>
          </a:p>
        </p:txBody>
      </p:sp>
      <p:sp>
        <p:nvSpPr>
          <p:cNvPr id="5" name="TextBox 4"/>
          <p:cNvSpPr txBox="1"/>
          <p:nvPr/>
        </p:nvSpPr>
        <p:spPr>
          <a:xfrm>
            <a:off x="9326880" y="6473952"/>
            <a:ext cx="2468880" cy="256032"/>
          </a:xfrm>
          <a:prstGeom prst="rect">
            <a:avLst/>
          </a:prstGeom>
          <a:noFill/>
        </p:spPr>
        <p:txBody>
          <a:bodyPr wrap="square">
            <a:spAutoFit/>
          </a:bodyPr>
          <a:lstStyle/>
          <a:p>
            <a:pPr algn="r"/>
            <a:r>
              <a:rPr sz="1100" b="0">
                <a:solidFill>
                  <a:srgbClr val="00E5FF"/>
                </a:solidFill>
                <a:latin typeface="Cascadia Mono"/>
              </a:rPr>
              <a:t>BACKUP   15</a:t>
            </a:r>
          </a:p>
        </p:txBody>
      </p:sp>
      <p:sp>
        <p:nvSpPr>
          <p:cNvPr id="6" name="TextBox 5"/>
          <p:cNvSpPr txBox="1"/>
          <p:nvPr/>
        </p:nvSpPr>
        <p:spPr>
          <a:xfrm>
            <a:off x="365760" y="347472"/>
            <a:ext cx="10972800" cy="256032"/>
          </a:xfrm>
          <a:prstGeom prst="rect">
            <a:avLst/>
          </a:prstGeom>
          <a:noFill/>
        </p:spPr>
        <p:txBody>
          <a:bodyPr wrap="square">
            <a:spAutoFit/>
          </a:bodyPr>
          <a:lstStyle/>
          <a:p>
            <a:pPr algn="l"/>
            <a:r>
              <a:rPr sz="1200" b="1">
                <a:solidFill>
                  <a:srgbClr val="00E5FF"/>
                </a:solidFill>
                <a:latin typeface="Cascadia Mono"/>
              </a:rPr>
              <a:t>// A8</a:t>
            </a:r>
          </a:p>
        </p:txBody>
      </p:sp>
      <p:sp>
        <p:nvSpPr>
          <p:cNvPr id="7" name="TextBox 6"/>
          <p:cNvSpPr txBox="1"/>
          <p:nvPr/>
        </p:nvSpPr>
        <p:spPr>
          <a:xfrm>
            <a:off x="365760" y="603504"/>
            <a:ext cx="11338560" cy="457200"/>
          </a:xfrm>
          <a:prstGeom prst="rect">
            <a:avLst/>
          </a:prstGeom>
          <a:noFill/>
        </p:spPr>
        <p:txBody>
          <a:bodyPr wrap="square">
            <a:spAutoFit/>
          </a:bodyPr>
          <a:lstStyle/>
          <a:p>
            <a:pPr algn="l"/>
            <a:r>
              <a:rPr sz="2800" b="1">
                <a:solidFill>
                  <a:srgbClr val="E8EAED"/>
                </a:solidFill>
                <a:latin typeface="Bahnschrift"/>
              </a:rPr>
              <a:t>Backup answers</a:t>
            </a:r>
          </a:p>
        </p:txBody>
      </p:sp>
      <p:sp>
        <p:nvSpPr>
          <p:cNvPr id="8" name="Rectangle 7"/>
          <p:cNvSpPr/>
          <p:nvPr/>
        </p:nvSpPr>
        <p:spPr>
          <a:xfrm>
            <a:off x="365760" y="1234440"/>
            <a:ext cx="11430000" cy="1051560"/>
          </a:xfrm>
          <a:prstGeom prst="rect">
            <a:avLst/>
          </a:prstGeom>
          <a:solidFill>
            <a:srgbClr val="12182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25880"/>
            <a:ext cx="10972800" cy="320040"/>
          </a:xfrm>
          <a:prstGeom prst="rect">
            <a:avLst/>
          </a:prstGeom>
          <a:noFill/>
        </p:spPr>
        <p:txBody>
          <a:bodyPr wrap="square">
            <a:spAutoFit/>
          </a:bodyPr>
          <a:lstStyle/>
          <a:p>
            <a:pPr algn="l"/>
            <a:r>
              <a:rPr sz="1600" b="1">
                <a:solidFill>
                  <a:srgbClr val="00E5FF"/>
                </a:solidFill>
                <a:latin typeface="Bahnschrift"/>
              </a:rPr>
              <a:t>Can you catch a second phone?</a:t>
            </a:r>
          </a:p>
        </p:txBody>
      </p:sp>
      <p:sp>
        <p:nvSpPr>
          <p:cNvPr id="10" name="TextBox 9"/>
          <p:cNvSpPr txBox="1"/>
          <p:nvPr/>
        </p:nvSpPr>
        <p:spPr>
          <a:xfrm>
            <a:off x="548640" y="1691640"/>
            <a:ext cx="10972800" cy="457200"/>
          </a:xfrm>
          <a:prstGeom prst="rect">
            <a:avLst/>
          </a:prstGeom>
          <a:noFill/>
        </p:spPr>
        <p:txBody>
          <a:bodyPr wrap="square">
            <a:spAutoFit/>
          </a:bodyPr>
          <a:lstStyle/>
          <a:p>
            <a:pPr algn="l"/>
            <a:r>
              <a:rPr sz="1400" b="0">
                <a:solidFill>
                  <a:srgbClr val="E8EAED"/>
                </a:solidFill>
                <a:latin typeface="Segoe UI"/>
              </a:rPr>
              <a:t>No. A second phone is outside the threat model. Say so before anyone asks.</a:t>
            </a:r>
          </a:p>
        </p:txBody>
      </p:sp>
      <p:sp>
        <p:nvSpPr>
          <p:cNvPr id="11" name="Rectangle 10"/>
          <p:cNvSpPr/>
          <p:nvPr/>
        </p:nvSpPr>
        <p:spPr>
          <a:xfrm>
            <a:off x="365760" y="2423160"/>
            <a:ext cx="11430000" cy="1051560"/>
          </a:xfrm>
          <a:prstGeom prst="rect">
            <a:avLst/>
          </a:prstGeom>
          <a:solidFill>
            <a:srgbClr val="12182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514600"/>
            <a:ext cx="10972800" cy="320040"/>
          </a:xfrm>
          <a:prstGeom prst="rect">
            <a:avLst/>
          </a:prstGeom>
          <a:noFill/>
        </p:spPr>
        <p:txBody>
          <a:bodyPr wrap="square">
            <a:spAutoFit/>
          </a:bodyPr>
          <a:lstStyle/>
          <a:p>
            <a:pPr algn="l"/>
            <a:r>
              <a:rPr sz="1600" b="1">
                <a:solidFill>
                  <a:srgbClr val="00E5FF"/>
                </a:solidFill>
                <a:latin typeface="Bahnschrift"/>
              </a:rPr>
              <a:t>Is a high score guilt?</a:t>
            </a:r>
          </a:p>
        </p:txBody>
      </p:sp>
      <p:sp>
        <p:nvSpPr>
          <p:cNvPr id="13" name="TextBox 12"/>
          <p:cNvSpPr txBox="1"/>
          <p:nvPr/>
        </p:nvSpPr>
        <p:spPr>
          <a:xfrm>
            <a:off x="548640" y="2880360"/>
            <a:ext cx="10972800" cy="457200"/>
          </a:xfrm>
          <a:prstGeom prst="rect">
            <a:avLst/>
          </a:prstGeom>
          <a:noFill/>
        </p:spPr>
        <p:txBody>
          <a:bodyPr wrap="square">
            <a:spAutoFit/>
          </a:bodyPr>
          <a:lstStyle/>
          <a:p>
            <a:pPr algn="l"/>
            <a:r>
              <a:rPr sz="1400" b="0">
                <a:solidFill>
                  <a:srgbClr val="E8EAED"/>
                </a:solidFill>
                <a:latin typeface="Segoe UI"/>
              </a:rPr>
              <a:t>No. The score is a reproducible reading of the log. Flagged or Cleared is a person’s decision.</a:t>
            </a:r>
          </a:p>
        </p:txBody>
      </p:sp>
      <p:sp>
        <p:nvSpPr>
          <p:cNvPr id="14" name="Rectangle 13"/>
          <p:cNvSpPr/>
          <p:nvPr/>
        </p:nvSpPr>
        <p:spPr>
          <a:xfrm>
            <a:off x="365760" y="3611880"/>
            <a:ext cx="11430000" cy="1051560"/>
          </a:xfrm>
          <a:prstGeom prst="rect">
            <a:avLst/>
          </a:prstGeom>
          <a:solidFill>
            <a:srgbClr val="12182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703320"/>
            <a:ext cx="10972800" cy="320040"/>
          </a:xfrm>
          <a:prstGeom prst="rect">
            <a:avLst/>
          </a:prstGeom>
          <a:noFill/>
        </p:spPr>
        <p:txBody>
          <a:bodyPr wrap="square">
            <a:spAutoFit/>
          </a:bodyPr>
          <a:lstStyle/>
          <a:p>
            <a:pPr algn="l"/>
            <a:r>
              <a:rPr sz="1600" b="1">
                <a:solidFill>
                  <a:srgbClr val="00E5FF"/>
                </a:solidFill>
                <a:latin typeface="Bahnschrift"/>
              </a:rPr>
              <a:t>What already runs?</a:t>
            </a:r>
          </a:p>
        </p:txBody>
      </p:sp>
      <p:sp>
        <p:nvSpPr>
          <p:cNvPr id="16" name="TextBox 15"/>
          <p:cNvSpPr txBox="1"/>
          <p:nvPr/>
        </p:nvSpPr>
        <p:spPr>
          <a:xfrm>
            <a:off x="548640" y="4069080"/>
            <a:ext cx="10972800" cy="457200"/>
          </a:xfrm>
          <a:prstGeom prst="rect">
            <a:avLst/>
          </a:prstGeom>
          <a:noFill/>
        </p:spPr>
        <p:txBody>
          <a:bodyPr wrap="square">
            <a:spAutoFit/>
          </a:bodyPr>
          <a:lstStyle/>
          <a:p>
            <a:pPr algn="l"/>
            <a:r>
              <a:rPr sz="1400" b="0">
                <a:solidFill>
                  <a:srgbClr val="E8EAED"/>
                </a:solidFill>
                <a:latin typeface="Segoe UI"/>
              </a:rPr>
              <a:t>The prototype already ingests browser and agent events and writes a report. It is the backup, not the claim.</a:t>
            </a:r>
          </a:p>
        </p:txBody>
      </p:sp>
      <p:sp>
        <p:nvSpPr>
          <p:cNvPr id="17" name="Rectangle 16"/>
          <p:cNvSpPr/>
          <p:nvPr/>
        </p:nvSpPr>
        <p:spPr>
          <a:xfrm>
            <a:off x="365760" y="4800600"/>
            <a:ext cx="11430000" cy="1051560"/>
          </a:xfrm>
          <a:prstGeom prst="rect">
            <a:avLst/>
          </a:prstGeom>
          <a:solidFill>
            <a:srgbClr val="121820"/>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892040"/>
            <a:ext cx="10972800" cy="320040"/>
          </a:xfrm>
          <a:prstGeom prst="rect">
            <a:avLst/>
          </a:prstGeom>
          <a:noFill/>
        </p:spPr>
        <p:txBody>
          <a:bodyPr wrap="square">
            <a:spAutoFit/>
          </a:bodyPr>
          <a:lstStyle/>
          <a:p>
            <a:pPr algn="l"/>
            <a:r>
              <a:rPr sz="1600" b="1">
                <a:solidFill>
                  <a:srgbClr val="00E5FF"/>
                </a:solidFill>
                <a:latin typeface="Bahnschrift"/>
              </a:rPr>
              <a:t>What does objective 4 measure?</a:t>
            </a:r>
          </a:p>
        </p:txBody>
      </p:sp>
      <p:sp>
        <p:nvSpPr>
          <p:cNvPr id="19" name="TextBox 18"/>
          <p:cNvSpPr txBox="1"/>
          <p:nvPr/>
        </p:nvSpPr>
        <p:spPr>
          <a:xfrm>
            <a:off x="548640" y="5257800"/>
            <a:ext cx="10972800" cy="457200"/>
          </a:xfrm>
          <a:prstGeom prst="rect">
            <a:avLst/>
          </a:prstGeom>
          <a:noFill/>
        </p:spPr>
        <p:txBody>
          <a:bodyPr wrap="square">
            <a:spAutoFit/>
          </a:bodyPr>
          <a:lstStyle/>
          <a:p>
            <a:pPr algn="l"/>
            <a:r>
              <a:rPr sz="1400" b="0">
                <a:solidFill>
                  <a:srgbClr val="E8EAED"/>
                </a:solidFill>
                <a:latin typeface="Segoe UI"/>
              </a:rPr>
              <a:t>Exam publishing across devices. Two student devices and one faculty device share one exam, then a review is exported.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