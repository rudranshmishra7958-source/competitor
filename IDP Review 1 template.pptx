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4" r:id="rId3"/>
    <p:sldId id="257" r:id="rId4"/>
    <p:sldId id="258" r:id="rId5"/>
    <p:sldId id="259" r:id="rId6"/>
    <p:sldId id="260" r:id="rId7"/>
    <p:sldId id="263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0230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slide. Replace all [bracketed] text: project ID, full title, team names with register numbers, and guide details. Delete unused team rows if the team has fewer than 4 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about 1 minute. Replace the guiding questions with 2–3 concise statements per column. Not separately scored, but it sets up the domain, gap and objectives that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depth of domain knowledge: name 4–6 core techniques, algorithms, models or technologies used in your area, explain each in one line, and say how it connects to your project. Delete unused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5–8 recent, relevant papers (last 5 years preferred). The Category column carries the logical classification. Add rows if needed, but keep font size at 10pt or above; split across two slides if more than 8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gap must follow logically from the literature table. Reference the paper numbers where the limitation was observed. Aim for 3–4 clear, relevant gaps rather than a long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71F8B-3CB1-C6DA-E7B8-C081C72FD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0888BE-D470-734A-2890-AEC4FB1965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3A47D8-7C9C-687C-C2EC-79A639B45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gap must follow logically from the literature table. Reference the paper numbers where the limitation was observed. Aim for 3–4 clear, relevant gaps rather than a long list.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54EF6-DC6E-9736-A02B-18002201FB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98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numbers must match those used in the literature review table and research gaps slides. Font size can be reduced to 12pt if you have more than 8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556" y="0"/>
            <a:ext cx="2349059" cy="8296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20240" y="802685"/>
            <a:ext cx="77998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of Computer Science and Engineering</a:t>
            </a:r>
            <a:endParaRPr lang="en-US" sz="26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BACSE291 – Innovative Design Project</a:t>
            </a:r>
            <a:endParaRPr lang="en-US" sz="26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Semester 2026   |   First Review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2219571"/>
            <a:ext cx="11091672" cy="1508760"/>
          </a:xfrm>
          <a:prstGeom prst="roundRect">
            <a:avLst>
              <a:gd name="adj" fmla="val 9091"/>
            </a:avLst>
          </a:prstGeom>
          <a:solidFill>
            <a:srgbClr val="14285E"/>
          </a:solidFill>
          <a:ln w="12700">
            <a:solidFill>
              <a:srgbClr val="14285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2356731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2C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ID: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768211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Title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0868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</a:t>
            </a:r>
            <a:endParaRPr lang="en-US" sz="1400" b="1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454991"/>
              </p:ext>
            </p:extLst>
          </p:nvPr>
        </p:nvGraphicFramePr>
        <p:xfrm>
          <a:off x="548640" y="4465886"/>
          <a:ext cx="6766559" cy="2304288"/>
        </p:xfrm>
        <a:graphic>
          <a:graphicData uri="http://schemas.openxmlformats.org/drawingml/2006/table">
            <a:tbl>
              <a:tblPr/>
              <a:tblGrid>
                <a:gridCol w="55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3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4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2867">
                  <a:extLst>
                    <a:ext uri="{9D8B030D-6E8A-4147-A177-3AD203B41FA5}">
                      <a16:colId xmlns:a16="http://schemas.microsoft.com/office/drawing/2014/main" val="358334534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Number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School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975215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772400" y="4008686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DETAILS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781544" y="4465886"/>
            <a:ext cx="3867912" cy="1920240"/>
          </a:xfrm>
          <a:prstGeom prst="roundRect">
            <a:avLst>
              <a:gd name="adj" fmla="val 5714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001000" y="4465886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 Name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D24798-BBF1-0EF9-75D9-30808BEE2641}"/>
              </a:ext>
            </a:extLst>
          </p:cNvPr>
          <p:cNvSpPr txBox="1"/>
          <p:nvPr/>
        </p:nvSpPr>
        <p:spPr>
          <a:xfrm>
            <a:off x="2631440" y="360700"/>
            <a:ext cx="534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Screenshot of Guide Approval mail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433931-F807-A5A4-FA7C-08C8E13103E8}"/>
              </a:ext>
            </a:extLst>
          </p:cNvPr>
          <p:cNvSpPr txBox="1"/>
          <p:nvPr/>
        </p:nvSpPr>
        <p:spPr>
          <a:xfrm>
            <a:off x="924560" y="1371600"/>
            <a:ext cx="8950960" cy="3341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0" algn="l">
              <a:lnSpc>
                <a:spcPct val="200000"/>
              </a:lnSpc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Project ID:</a:t>
            </a:r>
            <a:endParaRPr lang="en-I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914400" indent="0" algn="l">
              <a:lnSpc>
                <a:spcPct val="200000"/>
              </a:lnSpc>
              <a:spcAft>
                <a:spcPts val="800"/>
              </a:spcAft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Project Title:</a:t>
            </a:r>
            <a:b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Title Finalized and updated on VTOP: Yes / No</a:t>
            </a:r>
            <a:b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PPT approved: Yes / No</a:t>
            </a:r>
            <a:b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Meeting with Guide Frequently: Satisfied / Not Satisfied</a:t>
            </a:r>
            <a:b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Remarks:</a:t>
            </a:r>
            <a:endParaRPr lang="en-IN" sz="1200" b="0" i="0" dirty="0">
              <a:solidFill>
                <a:srgbClr val="222222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950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 Description of the Project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11091672" cy="777240"/>
          </a:xfrm>
          <a:prstGeom prst="roundRect">
            <a:avLst>
              <a:gd name="adj" fmla="val 21818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32588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 domain]</a:t>
            </a:r>
            <a:r>
              <a:rPr lang="en-US" sz="1400" b="1" dirty="0">
                <a:solidFill>
                  <a:srgbClr val="1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Area: 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[Where the solution will be used]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3520440" cy="3794760"/>
          </a:xfrm>
          <a:prstGeom prst="roundRect">
            <a:avLst>
              <a:gd name="adj" fmla="val 311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606040"/>
            <a:ext cx="548640" cy="548640"/>
          </a:xfrm>
          <a:prstGeom prst="ellipse">
            <a:avLst/>
          </a:prstGeom>
          <a:solidFill>
            <a:srgbClr val="14285E"/>
          </a:solidFill>
          <a:ln w="12700">
            <a:solidFill>
              <a:srgbClr val="1428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606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38328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real-world problem are you addressing?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 and how severe is it?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current approaches fall short?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34256" y="2331720"/>
            <a:ext cx="3520440" cy="3794760"/>
          </a:xfrm>
          <a:prstGeom prst="roundRect">
            <a:avLst>
              <a:gd name="adj" fmla="val 311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08576" y="2606040"/>
            <a:ext cx="548640" cy="548640"/>
          </a:xfrm>
          <a:prstGeom prst="ellipse">
            <a:avLst/>
          </a:prstGeom>
          <a:solidFill>
            <a:srgbClr val="14285E"/>
          </a:solidFill>
          <a:ln w="12700">
            <a:solidFill>
              <a:srgbClr val="14285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08576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5294376" y="2606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608576" y="338328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 building or proposing?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work at a high level?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your approach different?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119872" y="2331720"/>
            <a:ext cx="3520440" cy="3794760"/>
          </a:xfrm>
          <a:prstGeom prst="roundRect">
            <a:avLst>
              <a:gd name="adj" fmla="val 311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94192" y="2606040"/>
            <a:ext cx="548640" cy="548640"/>
          </a:xfrm>
          <a:prstGeom prst="ellipse">
            <a:avLst/>
          </a:prstGeom>
          <a:solidFill>
            <a:srgbClr val="14285E"/>
          </a:solidFill>
          <a:ln w="12700">
            <a:solidFill>
              <a:srgbClr val="14285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94192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9079992" y="2606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394192" y="338328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the final system deliver?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from it?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success be measured?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BACSE291 – Innovative Design Project  |  First Review  |  Fall Semester 2026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863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Techniques in the Domain </a:t>
            </a:r>
            <a:r>
              <a:rPr lang="en-US" sz="3400" b="1" dirty="0">
                <a:solidFill>
                  <a:srgbClr val="14285E"/>
                </a:solidFill>
                <a:highlight>
                  <a:srgbClr val="FFFF00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( 2 or 3 slides)</a:t>
            </a:r>
            <a:endParaRPr lang="en-US" sz="3400" dirty="0">
              <a:highlight>
                <a:srgbClr val="FFFF00"/>
              </a:highlight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514344" cy="2011680"/>
          </a:xfrm>
          <a:prstGeom prst="roundRect">
            <a:avLst>
              <a:gd name="adj" fmla="val 5455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14285E"/>
          </a:solidFill>
          <a:ln w="12700">
            <a:solidFill>
              <a:srgbClr val="1428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82880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[Technique 1 Name]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468880"/>
            <a:ext cx="3057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b="1" dirty="0">
                <a:solidFill>
                  <a:srgbClr val="1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explanation of the concept.</a:t>
            </a:r>
          </a:p>
        </p:txBody>
      </p:sp>
      <p:sp>
        <p:nvSpPr>
          <p:cNvPr id="12" name="Shape 9"/>
          <p:cNvSpPr/>
          <p:nvPr/>
        </p:nvSpPr>
        <p:spPr>
          <a:xfrm>
            <a:off x="4337304" y="1600200"/>
            <a:ext cx="3514344" cy="2011680"/>
          </a:xfrm>
          <a:prstGeom prst="roundRect">
            <a:avLst>
              <a:gd name="adj" fmla="val 5455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65904" y="1828800"/>
            <a:ext cx="457200" cy="457200"/>
          </a:xfrm>
          <a:prstGeom prst="ellipse">
            <a:avLst/>
          </a:prstGeom>
          <a:solidFill>
            <a:srgbClr val="14285E"/>
          </a:solidFill>
          <a:ln w="12700">
            <a:solidFill>
              <a:srgbClr val="14285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65904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205984" y="182880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[Technique 2 Name]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4565904" y="2468880"/>
            <a:ext cx="3057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b="1" dirty="0">
                <a:solidFill>
                  <a:srgbClr val="1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explanation of the concept.</a:t>
            </a:r>
          </a:p>
        </p:txBody>
      </p:sp>
      <p:sp>
        <p:nvSpPr>
          <p:cNvPr id="17" name="Shape 14"/>
          <p:cNvSpPr/>
          <p:nvPr/>
        </p:nvSpPr>
        <p:spPr>
          <a:xfrm>
            <a:off x="8125968" y="1600200"/>
            <a:ext cx="3514344" cy="2011680"/>
          </a:xfrm>
          <a:prstGeom prst="roundRect">
            <a:avLst>
              <a:gd name="adj" fmla="val 5455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54568" y="1828800"/>
            <a:ext cx="457200" cy="457200"/>
          </a:xfrm>
          <a:prstGeom prst="ellipse">
            <a:avLst/>
          </a:prstGeom>
          <a:solidFill>
            <a:srgbClr val="14285E"/>
          </a:solidFill>
          <a:ln w="12700">
            <a:solidFill>
              <a:srgbClr val="14285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5456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994648" y="182880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[Technique 3 Name]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354568" y="2468880"/>
            <a:ext cx="3057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b="1" dirty="0">
                <a:solidFill>
                  <a:srgbClr val="1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explanation of the concept.</a:t>
            </a:r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514344" cy="2011680"/>
          </a:xfrm>
          <a:prstGeom prst="roundRect">
            <a:avLst>
              <a:gd name="adj" fmla="val 5455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14285E"/>
          </a:solidFill>
          <a:ln w="12700">
            <a:solidFill>
              <a:srgbClr val="14285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417320" y="411480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[Technique 4 Name]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4754880"/>
            <a:ext cx="3057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explanation of the concept.</a:t>
            </a:r>
          </a:p>
        </p:txBody>
      </p:sp>
      <p:sp>
        <p:nvSpPr>
          <p:cNvPr id="27" name="Shape 24"/>
          <p:cNvSpPr/>
          <p:nvPr/>
        </p:nvSpPr>
        <p:spPr>
          <a:xfrm>
            <a:off x="4337304" y="3886200"/>
            <a:ext cx="3514344" cy="2011680"/>
          </a:xfrm>
          <a:prstGeom prst="roundRect">
            <a:avLst>
              <a:gd name="adj" fmla="val 5455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65904" y="4114800"/>
            <a:ext cx="457200" cy="457200"/>
          </a:xfrm>
          <a:prstGeom prst="ellipse">
            <a:avLst/>
          </a:prstGeom>
          <a:solidFill>
            <a:srgbClr val="14285E"/>
          </a:solidFill>
          <a:ln w="12700">
            <a:solidFill>
              <a:srgbClr val="14285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565904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5205984" y="411480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[Technique 5 Name]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565904" y="4754880"/>
            <a:ext cx="3057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b="1" dirty="0">
                <a:solidFill>
                  <a:srgbClr val="1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explanation of the concept.</a:t>
            </a:r>
          </a:p>
        </p:txBody>
      </p:sp>
      <p:sp>
        <p:nvSpPr>
          <p:cNvPr id="32" name="Shape 29"/>
          <p:cNvSpPr/>
          <p:nvPr/>
        </p:nvSpPr>
        <p:spPr>
          <a:xfrm>
            <a:off x="8125968" y="3886200"/>
            <a:ext cx="3514344" cy="2011680"/>
          </a:xfrm>
          <a:prstGeom prst="roundRect">
            <a:avLst>
              <a:gd name="adj" fmla="val 5455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354568" y="4114800"/>
            <a:ext cx="457200" cy="457200"/>
          </a:xfrm>
          <a:prstGeom prst="ellipse">
            <a:avLst/>
          </a:prstGeom>
          <a:solidFill>
            <a:srgbClr val="14285E"/>
          </a:solidFill>
          <a:ln w="12700">
            <a:solidFill>
              <a:srgbClr val="14285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54568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8994648" y="411480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[Technique 6 Name]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8354568" y="4754880"/>
            <a:ext cx="3057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b="1" dirty="0">
                <a:solidFill>
                  <a:srgbClr val="1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explanation of the concept.</a:t>
            </a:r>
          </a:p>
        </p:txBody>
      </p:sp>
      <p:sp>
        <p:nvSpPr>
          <p:cNvPr id="37" name="Text 3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BACSE291 – Innovative Design Project  |  First Review  |  Fall Semester 2026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</a:t>
            </a:r>
            <a:r>
              <a:rPr lang="en-US" sz="3400" b="1" dirty="0">
                <a:solidFill>
                  <a:srgbClr val="14285E"/>
                </a:solidFill>
                <a:highlight>
                  <a:srgbClr val="FFFF00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( 2 or 3 slides)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086153"/>
              </p:ext>
            </p:extLst>
          </p:nvPr>
        </p:nvGraphicFramePr>
        <p:xfrm>
          <a:off x="548640" y="1600200"/>
          <a:ext cx="11091672" cy="402336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Author(s),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/ Theme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Technique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/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28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[Author et al., Year]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[Group 1 / 2 / 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[Method used]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[Data / tool]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[Main result]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[Weakness / gap]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28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[Author et al., Year]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[Group 1 / 2 / 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[Method used]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[Data / tool]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[Main result]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[Weakness / gap]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28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[Author et al., Year]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[Group 1 / 2 / 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[Method used]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[Data / tool]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[Main result]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[Weakness / gap]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28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[Author et al., Year]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[Group 1 / 2 / 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[Method used]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[Data / tool]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[Main result]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[Weakness / gap]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28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[Author et al., Year]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[Group 1 / 2 / 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[Method used]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[Data / tool]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[Main result]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[Weakness / gap]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papers under 2–3 themes (e.g., approach, technology or application) so the classification is clear.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BACSE291 – Innovative Design Project  |  First Review  |  Fall Semester 2026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9F53F738-8DE4-701D-6699-9BFCF6DC47F3}"/>
              </a:ext>
            </a:extLst>
          </p:cNvPr>
          <p:cNvSpPr txBox="1"/>
          <p:nvPr/>
        </p:nvSpPr>
        <p:spPr>
          <a:xfrm>
            <a:off x="548640" y="101590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as many slides as required</a:t>
            </a:r>
            <a:endParaRPr lang="en-US" sz="1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2767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Gaps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979098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184838"/>
            <a:ext cx="548640" cy="548640"/>
          </a:xfrm>
          <a:prstGeom prst="ellipse">
            <a:avLst/>
          </a:prstGeom>
          <a:solidFill>
            <a:srgbClr val="9B1B30"/>
          </a:solidFill>
          <a:ln w="12700">
            <a:solidFill>
              <a:srgbClr val="9B1B3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18483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1070538"/>
            <a:ext cx="99419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1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48640" y="2076378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2282118"/>
            <a:ext cx="548640" cy="548640"/>
          </a:xfrm>
          <a:prstGeom prst="ellipse">
            <a:avLst/>
          </a:prstGeom>
          <a:solidFill>
            <a:srgbClr val="9B1B30"/>
          </a:solidFill>
          <a:ln w="12700">
            <a:solidFill>
              <a:srgbClr val="9B1B3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228211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600199" y="2167818"/>
            <a:ext cx="99419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2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3173658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" y="3379398"/>
            <a:ext cx="548640" cy="548640"/>
          </a:xfrm>
          <a:prstGeom prst="ellipse">
            <a:avLst/>
          </a:prstGeom>
          <a:solidFill>
            <a:srgbClr val="9B1B30"/>
          </a:solidFill>
          <a:ln w="12700">
            <a:solidFill>
              <a:srgbClr val="9B1B3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337939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600199" y="3265098"/>
            <a:ext cx="99419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3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548640" y="4270938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" y="4476678"/>
            <a:ext cx="548640" cy="548640"/>
          </a:xfrm>
          <a:prstGeom prst="ellipse">
            <a:avLst/>
          </a:prstGeom>
          <a:solidFill>
            <a:srgbClr val="9B1B30"/>
          </a:solidFill>
          <a:ln w="12700">
            <a:solidFill>
              <a:srgbClr val="9B1B3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447667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600199" y="4362378"/>
            <a:ext cx="99419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4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BACSE291 – Innovative Design Project  |  First Review  |  Fall Semester 2026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Shape 19">
            <a:extLst>
              <a:ext uri="{FF2B5EF4-FFF2-40B4-BE49-F238E27FC236}">
                <a16:creationId xmlns:a16="http://schemas.microsoft.com/office/drawing/2014/main" id="{02ECC144-5625-5604-E978-11EB7E3EFC80}"/>
              </a:ext>
            </a:extLst>
          </p:cNvPr>
          <p:cNvSpPr/>
          <p:nvPr/>
        </p:nvSpPr>
        <p:spPr>
          <a:xfrm>
            <a:off x="535585" y="5303520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33" name="Shape 20">
            <a:extLst>
              <a:ext uri="{FF2B5EF4-FFF2-40B4-BE49-F238E27FC236}">
                <a16:creationId xmlns:a16="http://schemas.microsoft.com/office/drawing/2014/main" id="{D0FB0C59-3ACA-5A3B-417F-28A38DAEE96E}"/>
              </a:ext>
            </a:extLst>
          </p:cNvPr>
          <p:cNvSpPr/>
          <p:nvPr/>
        </p:nvSpPr>
        <p:spPr>
          <a:xfrm>
            <a:off x="809905" y="5509260"/>
            <a:ext cx="548640" cy="548640"/>
          </a:xfrm>
          <a:prstGeom prst="ellipse">
            <a:avLst/>
          </a:prstGeom>
          <a:solidFill>
            <a:srgbClr val="9B1B30"/>
          </a:solidFill>
          <a:ln w="12700">
            <a:solidFill>
              <a:srgbClr val="9B1B30"/>
            </a:solidFill>
            <a:prstDash val="solid"/>
          </a:ln>
        </p:spPr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E55DBEEF-0FA4-3775-9470-A8B92537D958}"/>
              </a:ext>
            </a:extLst>
          </p:cNvPr>
          <p:cNvSpPr txBox="1"/>
          <p:nvPr/>
        </p:nvSpPr>
        <p:spPr>
          <a:xfrm>
            <a:off x="809905" y="55092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50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7BF38115-2397-1EF2-32FD-17ADBE531B30}"/>
              </a:ext>
            </a:extLst>
          </p:cNvPr>
          <p:cNvSpPr txBox="1"/>
          <p:nvPr/>
        </p:nvSpPr>
        <p:spPr>
          <a:xfrm>
            <a:off x="1587145" y="5394960"/>
            <a:ext cx="99549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5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E618E-9E74-992D-0F3E-FC22FA297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B466F24-EE8A-DE5F-34F7-A342653EA5A3}"/>
              </a:ext>
            </a:extLst>
          </p:cNvPr>
          <p:cNvSpPr txBox="1"/>
          <p:nvPr/>
        </p:nvSpPr>
        <p:spPr>
          <a:xfrm>
            <a:off x="548640" y="142767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B6F638E-064E-B85B-CD83-6C14AEDBF61F}"/>
              </a:ext>
            </a:extLst>
          </p:cNvPr>
          <p:cNvSpPr/>
          <p:nvPr/>
        </p:nvSpPr>
        <p:spPr>
          <a:xfrm>
            <a:off x="450470" y="2167818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62C0FA2-F4AE-5FEF-430B-FCB508AD89BB}"/>
              </a:ext>
            </a:extLst>
          </p:cNvPr>
          <p:cNvSpPr/>
          <p:nvPr/>
        </p:nvSpPr>
        <p:spPr>
          <a:xfrm>
            <a:off x="724790" y="2373558"/>
            <a:ext cx="548640" cy="548640"/>
          </a:xfrm>
          <a:prstGeom prst="ellipse">
            <a:avLst/>
          </a:prstGeom>
          <a:solidFill>
            <a:srgbClr val="9B1B30"/>
          </a:solidFill>
          <a:ln w="12700">
            <a:solidFill>
              <a:srgbClr val="9B1B30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D1CB346-23BF-D90D-311C-D07FFD2DF743}"/>
              </a:ext>
            </a:extLst>
          </p:cNvPr>
          <p:cNvSpPr txBox="1"/>
          <p:nvPr/>
        </p:nvSpPr>
        <p:spPr>
          <a:xfrm>
            <a:off x="724790" y="237355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5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BE13F45-288B-3A9C-0E9F-2EC77B001708}"/>
              </a:ext>
            </a:extLst>
          </p:cNvPr>
          <p:cNvSpPr txBox="1"/>
          <p:nvPr/>
        </p:nvSpPr>
        <p:spPr>
          <a:xfrm>
            <a:off x="1502030" y="2259258"/>
            <a:ext cx="99419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1</a:t>
            </a:r>
            <a:endParaRPr lang="en-US" sz="17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10B792A6-D196-BF64-E3D0-36267B7711B3}"/>
              </a:ext>
            </a:extLst>
          </p:cNvPr>
          <p:cNvSpPr/>
          <p:nvPr/>
        </p:nvSpPr>
        <p:spPr>
          <a:xfrm>
            <a:off x="450470" y="3265098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F9A6196D-F94E-86FC-37E2-0D83BECCA86E}"/>
              </a:ext>
            </a:extLst>
          </p:cNvPr>
          <p:cNvSpPr/>
          <p:nvPr/>
        </p:nvSpPr>
        <p:spPr>
          <a:xfrm>
            <a:off x="724790" y="3470838"/>
            <a:ext cx="548640" cy="548640"/>
          </a:xfrm>
          <a:prstGeom prst="ellipse">
            <a:avLst/>
          </a:prstGeom>
          <a:solidFill>
            <a:srgbClr val="9B1B30"/>
          </a:solidFill>
          <a:ln w="12700">
            <a:solidFill>
              <a:srgbClr val="9B1B30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BA2C221-3084-8681-5A60-9ECEE93F9285}"/>
              </a:ext>
            </a:extLst>
          </p:cNvPr>
          <p:cNvSpPr txBox="1"/>
          <p:nvPr/>
        </p:nvSpPr>
        <p:spPr>
          <a:xfrm>
            <a:off x="724790" y="347083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5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BEB953D-E052-2CEF-E1C8-E2B5F66DEC9D}"/>
              </a:ext>
            </a:extLst>
          </p:cNvPr>
          <p:cNvSpPr txBox="1"/>
          <p:nvPr/>
        </p:nvSpPr>
        <p:spPr>
          <a:xfrm>
            <a:off x="1502029" y="3356538"/>
            <a:ext cx="99419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2</a:t>
            </a:r>
            <a:endParaRPr lang="en-US" sz="17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16629E03-795F-2887-5167-C9843988E138}"/>
              </a:ext>
            </a:extLst>
          </p:cNvPr>
          <p:cNvSpPr/>
          <p:nvPr/>
        </p:nvSpPr>
        <p:spPr>
          <a:xfrm>
            <a:off x="450470" y="4362378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35B7D005-A9D2-C5A4-4D91-089BA2612B2E}"/>
              </a:ext>
            </a:extLst>
          </p:cNvPr>
          <p:cNvSpPr/>
          <p:nvPr/>
        </p:nvSpPr>
        <p:spPr>
          <a:xfrm>
            <a:off x="724790" y="4568118"/>
            <a:ext cx="548640" cy="548640"/>
          </a:xfrm>
          <a:prstGeom prst="ellipse">
            <a:avLst/>
          </a:prstGeom>
          <a:solidFill>
            <a:srgbClr val="9B1B30"/>
          </a:solidFill>
          <a:ln w="12700">
            <a:solidFill>
              <a:srgbClr val="9B1B30"/>
            </a:solidFill>
            <a:prstDash val="solid"/>
          </a:ln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1F8A8706-5940-BE16-EB73-A8685B03241E}"/>
              </a:ext>
            </a:extLst>
          </p:cNvPr>
          <p:cNvSpPr txBox="1"/>
          <p:nvPr/>
        </p:nvSpPr>
        <p:spPr>
          <a:xfrm>
            <a:off x="724790" y="456811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5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81C28385-44D0-D4A5-E0B9-A325922CB7E1}"/>
              </a:ext>
            </a:extLst>
          </p:cNvPr>
          <p:cNvSpPr txBox="1"/>
          <p:nvPr/>
        </p:nvSpPr>
        <p:spPr>
          <a:xfrm>
            <a:off x="1502029" y="4453818"/>
            <a:ext cx="99419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3</a:t>
            </a:r>
            <a:endParaRPr lang="en-US" sz="17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203A6001-B32D-0692-985C-EDD2EC0E8967}"/>
              </a:ext>
            </a:extLst>
          </p:cNvPr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BACSE291 – Innovative Design Project  |  First Review  |  Fall Semester 2026</a:t>
            </a:r>
            <a:endParaRPr lang="en-US" sz="10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407488F8-4E92-2031-CB98-6697FA41A884}"/>
              </a:ext>
            </a:extLst>
          </p:cNvPr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F98A206-720C-98E9-B232-619CA4E01241}"/>
              </a:ext>
            </a:extLst>
          </p:cNvPr>
          <p:cNvSpPr/>
          <p:nvPr/>
        </p:nvSpPr>
        <p:spPr>
          <a:xfrm>
            <a:off x="450470" y="864798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4285E"/>
          </a:solidFill>
          <a:ln w="12700">
            <a:solidFill>
              <a:srgbClr val="14285E"/>
            </a:solidFill>
            <a:prstDash val="solid"/>
          </a:ln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31488074-FA35-7C6F-534E-91E6D5860F4C}"/>
              </a:ext>
            </a:extLst>
          </p:cNvPr>
          <p:cNvSpPr txBox="1"/>
          <p:nvPr/>
        </p:nvSpPr>
        <p:spPr>
          <a:xfrm>
            <a:off x="816230" y="910518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kern="0" spc="200" dirty="0">
                <a:solidFill>
                  <a:srgbClr val="F2C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[One sentence stating the overall aim of the project.]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531438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177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(in APA format) </a:t>
            </a:r>
            <a:r>
              <a:rPr lang="en-US" sz="3400" b="1" dirty="0">
                <a:solidFill>
                  <a:srgbClr val="14285E"/>
                </a:solidFill>
                <a:highlight>
                  <a:srgbClr val="FFFF00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( 2 or 3 slides)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91672" cy="4526280"/>
          </a:xfrm>
          <a:prstGeom prst="roundRect">
            <a:avLst>
              <a:gd name="adj" fmla="val 2424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101" y="1783080"/>
            <a:ext cx="10946921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BACSE291 – Innovative Design Project  |  First Review  |  Fall Semester 2026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916</Words>
  <Application>Microsoft Office PowerPoint</Application>
  <PresentationFormat>Widescreen</PresentationFormat>
  <Paragraphs>151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BACSE291 – Innovative Design Project – Review 1</dc:title>
  <dc:subject>PptxGenJS Presentation</dc:subject>
  <dc:creator>School of Computer Science and Engineering, VIT</dc:creator>
  <cp:lastModifiedBy>Rudransh Mishra</cp:lastModifiedBy>
  <cp:revision>5</cp:revision>
  <dcterms:created xsi:type="dcterms:W3CDTF">2026-09-30T09:02:27Z</dcterms:created>
  <dcterms:modified xsi:type="dcterms:W3CDTF">2026-10-05T15:16:16Z</dcterms:modified>
</cp:coreProperties>
</file>